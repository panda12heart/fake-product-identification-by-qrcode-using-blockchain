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x="18288000" cy="10287000"/>
  <p:notesSz cx="6858000" cy="9144000"/>
  <p:embeddedFontLst>
    <p:embeddedFont>
      <p:font typeface="Arimo Bold" charset="1" panose="020B0704020202020204"/>
      <p:regular r:id="rId27"/>
    </p:embeddedFont>
    <p:embeddedFont>
      <p:font typeface="Montserrat Medium" charset="1" panose="00000600000000000000"/>
      <p:regular r:id="rId28"/>
    </p:embeddedFont>
    <p:embeddedFont>
      <p:font typeface="Montserrat Bold" charset="1" panose="00000800000000000000"/>
      <p:regular r:id="rId29"/>
    </p:embeddedFont>
    <p:embeddedFont>
      <p:font typeface="Arimo" charset="1" panose="020B0604020202020204"/>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https://gamma.app/?utm_source=made-with-gamma" TargetMode="External" Type="http://schemas.openxmlformats.org/officeDocument/2006/relationships/hyperlink"/><Relationship Id="rId3" Target="../media/image1.png" Type="http://schemas.openxmlformats.org/officeDocument/2006/relationships/image"/><Relationship Id="rId4"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18.png" Type="http://schemas.openxmlformats.org/officeDocument/2006/relationships/image"/><Relationship Id="rId9" Target="../media/image19.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8.png" Type="http://schemas.openxmlformats.org/officeDocument/2006/relationships/image"/><Relationship Id="rId11" Target="../media/image29.svg" Type="http://schemas.openxmlformats.org/officeDocument/2006/relationships/image"/><Relationship Id="rId2" Target="../media/image20.png" Type="http://schemas.openxmlformats.org/officeDocument/2006/relationships/image"/><Relationship Id="rId3" Target="../media/image21.sv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 Id="rId6" Target="../media/image24.png" Type="http://schemas.openxmlformats.org/officeDocument/2006/relationships/image"/><Relationship Id="rId7" Target="../media/image25.svg" Type="http://schemas.openxmlformats.org/officeDocument/2006/relationships/image"/><Relationship Id="rId8" Target="../media/image26.png" Type="http://schemas.openxmlformats.org/officeDocument/2006/relationships/image"/><Relationship Id="rId9" Target="../media/image27.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 Id="rId3" Target="../media/image31.png" Type="http://schemas.openxmlformats.org/officeDocument/2006/relationships/image"/><Relationship Id="rId4" Target="../media/image32.png" Type="http://schemas.openxmlformats.org/officeDocument/2006/relationships/image"/><Relationship Id="rId5" Target="../media/image33.png" Type="http://schemas.openxmlformats.org/officeDocument/2006/relationships/image"/><Relationship Id="rId6" Target="../media/image34.png" Type="http://schemas.openxmlformats.org/officeDocument/2006/relationships/image"/><Relationship Id="rId7" Target="../media/image35.png" Type="http://schemas.openxmlformats.org/officeDocument/2006/relationships/image"/><Relationship Id="rId8" Target="../media/image36.png" Type="http://schemas.openxmlformats.org/officeDocument/2006/relationships/image"/><Relationship Id="rId9" Target="../media/image3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0.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1.png" Type="http://schemas.openxmlformats.org/officeDocument/2006/relationships/image"/><Relationship Id="rId3" Target="../media/image42.png" Type="http://schemas.openxmlformats.org/officeDocument/2006/relationships/image"/><Relationship Id="rId4" Target="../media/image43.png" Type="http://schemas.openxmlformats.org/officeDocument/2006/relationships/image"/><Relationship Id="rId5" Target="../media/image44.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5.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https://gamma.app/?utm_source=made-with-gamma" TargetMode="External" Type="http://schemas.openxmlformats.org/officeDocument/2006/relationships/hyperlink"/><Relationship Id="rId3" Target="../media/image1.png" Type="http://schemas.openxmlformats.org/officeDocument/2006/relationships/image"/><Relationship Id="rId4" Target="../media/image46.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7.png" Type="http://schemas.openxmlformats.org/officeDocument/2006/relationships/image"/><Relationship Id="rId3" Target="../media/image48.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9.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0.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421424"/>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5C2438"/>
            </a:solidFill>
            <a:ln w="12700">
              <a:solidFill>
                <a:srgbClr val="000000"/>
              </a:solidFill>
            </a:ln>
          </p:spPr>
        </p:sp>
      </p:grpSp>
      <p:sp>
        <p:nvSpPr>
          <p:cNvPr name="TextBox 6" id="6"/>
          <p:cNvSpPr txBox="true"/>
          <p:nvPr/>
        </p:nvSpPr>
        <p:spPr>
          <a:xfrm rot="0">
            <a:off x="936575" y="1486197"/>
            <a:ext cx="8538568" cy="751731"/>
          </a:xfrm>
          <a:prstGeom prst="rect">
            <a:avLst/>
          </a:prstGeom>
        </p:spPr>
        <p:txBody>
          <a:bodyPr anchor="t" rtlCol="false" tIns="0" lIns="0" bIns="0" rIns="0">
            <a:spAutoFit/>
          </a:bodyPr>
          <a:lstStyle/>
          <a:p>
            <a:pPr algn="l">
              <a:lnSpc>
                <a:spcPts val="5562"/>
              </a:lnSpc>
            </a:pPr>
            <a:r>
              <a:rPr lang="en-US" sz="4437" b="true">
                <a:solidFill>
                  <a:srgbClr val="FFB393"/>
                </a:solidFill>
                <a:latin typeface="Arimo Bold"/>
                <a:ea typeface="Arimo Bold"/>
                <a:cs typeface="Arimo Bold"/>
                <a:sym typeface="Arimo Bold"/>
              </a:rPr>
              <a:t>The Growing Counterfeit Crisis</a:t>
            </a:r>
          </a:p>
        </p:txBody>
      </p:sp>
      <p:sp>
        <p:nvSpPr>
          <p:cNvPr name="TextBox 7" id="7"/>
          <p:cNvSpPr txBox="true"/>
          <p:nvPr/>
        </p:nvSpPr>
        <p:spPr>
          <a:xfrm rot="0">
            <a:off x="936575" y="2794397"/>
            <a:ext cx="9587805" cy="1797844"/>
          </a:xfrm>
          <a:prstGeom prst="rect">
            <a:avLst/>
          </a:prstGeom>
        </p:spPr>
        <p:txBody>
          <a:bodyPr anchor="t" rtlCol="false" tIns="0" lIns="0" bIns="0" rIns="0">
            <a:spAutoFit/>
          </a:bodyPr>
          <a:lstStyle/>
          <a:p>
            <a:pPr algn="l">
              <a:lnSpc>
                <a:spcPts val="3312"/>
              </a:lnSpc>
            </a:pPr>
            <a:r>
              <a:rPr lang="en-US" sz="2062" b="true">
                <a:solidFill>
                  <a:srgbClr val="F4CAB8"/>
                </a:solidFill>
                <a:latin typeface="Montserrat Medium"/>
                <a:ea typeface="Montserrat Medium"/>
                <a:cs typeface="Montserrat Medium"/>
                <a:sym typeface="Montserrat Medium"/>
              </a:rPr>
              <a:t>Counterfeit goods are flooding markets worldwide, threatening consumer safety and brand integrity across critical sectors. From fashion and cosmetics to food and pharmaceuticals, fake products are becoming increasingly difficult to detect.</a:t>
            </a:r>
          </a:p>
        </p:txBody>
      </p:sp>
      <p:sp>
        <p:nvSpPr>
          <p:cNvPr name="TextBox 8" id="8"/>
          <p:cNvSpPr txBox="true"/>
          <p:nvPr/>
        </p:nvSpPr>
        <p:spPr>
          <a:xfrm rot="0">
            <a:off x="936575" y="4747320"/>
            <a:ext cx="9587805" cy="1797844"/>
          </a:xfrm>
          <a:prstGeom prst="rect">
            <a:avLst/>
          </a:prstGeom>
        </p:spPr>
        <p:txBody>
          <a:bodyPr anchor="t" rtlCol="false" tIns="0" lIns="0" bIns="0" rIns="0">
            <a:spAutoFit/>
          </a:bodyPr>
          <a:lstStyle/>
          <a:p>
            <a:pPr algn="l">
              <a:lnSpc>
                <a:spcPts val="3312"/>
              </a:lnSpc>
            </a:pPr>
            <a:r>
              <a:rPr lang="en-US" sz="2062" b="true">
                <a:solidFill>
                  <a:srgbClr val="F4CAB8"/>
                </a:solidFill>
                <a:latin typeface="Montserrat Medium"/>
                <a:ea typeface="Montserrat Medium"/>
                <a:cs typeface="Montserrat Medium"/>
                <a:sym typeface="Montserrat Medium"/>
              </a:rPr>
              <a:t>Countries like Bangladesh face particularly severe challenges, where counterfeit medicines and consumer goods put lives at risk. Traditional authentication methods are failing, and consumers deserve better protection.</a:t>
            </a:r>
          </a:p>
        </p:txBody>
      </p:sp>
      <p:sp>
        <p:nvSpPr>
          <p:cNvPr name="TextBox 9" id="9"/>
          <p:cNvSpPr txBox="true"/>
          <p:nvPr/>
        </p:nvSpPr>
        <p:spPr>
          <a:xfrm rot="0">
            <a:off x="936575" y="6700242"/>
            <a:ext cx="9587805" cy="1369814"/>
          </a:xfrm>
          <a:prstGeom prst="rect">
            <a:avLst/>
          </a:prstGeom>
        </p:spPr>
        <p:txBody>
          <a:bodyPr anchor="t" rtlCol="false" tIns="0" lIns="0" bIns="0" rIns="0">
            <a:spAutoFit/>
          </a:bodyPr>
          <a:lstStyle/>
          <a:p>
            <a:pPr algn="l">
              <a:lnSpc>
                <a:spcPts val="3312"/>
              </a:lnSpc>
            </a:pPr>
            <a:r>
              <a:rPr lang="en-US" sz="2062" b="true">
                <a:solidFill>
                  <a:srgbClr val="F4CAB8"/>
                </a:solidFill>
                <a:latin typeface="Montserrat Bold"/>
                <a:ea typeface="Montserrat Bold"/>
                <a:cs typeface="Montserrat Bold"/>
                <a:sym typeface="Montserrat Bold"/>
              </a:rPr>
              <a:t>The solution? Blockchain technology offers an immutable, transparent way to verify authenticity and track products throughout the supply chain.</a:t>
            </a:r>
          </a:p>
        </p:txBody>
      </p:sp>
      <p:sp>
        <p:nvSpPr>
          <p:cNvPr name="TextBox 10" id="10"/>
          <p:cNvSpPr txBox="true"/>
          <p:nvPr/>
        </p:nvSpPr>
        <p:spPr>
          <a:xfrm rot="0">
            <a:off x="11186666" y="3169444"/>
            <a:ext cx="6174284" cy="787896"/>
          </a:xfrm>
          <a:prstGeom prst="rect">
            <a:avLst/>
          </a:prstGeom>
        </p:spPr>
        <p:txBody>
          <a:bodyPr anchor="t" rtlCol="false" tIns="0" lIns="0" bIns="0" rIns="0">
            <a:spAutoFit/>
          </a:bodyPr>
          <a:lstStyle/>
          <a:p>
            <a:pPr algn="ctr">
              <a:lnSpc>
                <a:spcPts val="6937"/>
              </a:lnSpc>
            </a:pPr>
            <a:r>
              <a:rPr lang="en-US" sz="6937" b="true">
                <a:solidFill>
                  <a:srgbClr val="F4CAB8"/>
                </a:solidFill>
                <a:latin typeface="Arimo Bold"/>
                <a:ea typeface="Arimo Bold"/>
                <a:cs typeface="Arimo Bold"/>
                <a:sym typeface="Arimo Bold"/>
              </a:rPr>
              <a:t>4</a:t>
            </a:r>
          </a:p>
        </p:txBody>
      </p:sp>
      <p:sp>
        <p:nvSpPr>
          <p:cNvPr name="TextBox 11" id="11"/>
          <p:cNvSpPr txBox="true"/>
          <p:nvPr/>
        </p:nvSpPr>
        <p:spPr>
          <a:xfrm rot="0">
            <a:off x="12362557" y="4244131"/>
            <a:ext cx="3822501" cy="493662"/>
          </a:xfrm>
          <a:prstGeom prst="rect">
            <a:avLst/>
          </a:prstGeom>
        </p:spPr>
        <p:txBody>
          <a:bodyPr anchor="t" rtlCol="false" tIns="0" lIns="0" bIns="0" rIns="0">
            <a:spAutoFit/>
          </a:bodyPr>
          <a:lstStyle/>
          <a:p>
            <a:pPr algn="ctr">
              <a:lnSpc>
                <a:spcPts val="3500"/>
              </a:lnSpc>
            </a:pPr>
            <a:r>
              <a:rPr lang="en-US" sz="2750" b="true">
                <a:solidFill>
                  <a:srgbClr val="F4CAB8"/>
                </a:solidFill>
                <a:latin typeface="Arimo Bold"/>
                <a:ea typeface="Arimo Bold"/>
                <a:cs typeface="Arimo Bold"/>
                <a:sym typeface="Arimo Bold"/>
              </a:rPr>
              <a:t>Major sectors affected</a:t>
            </a:r>
          </a:p>
        </p:txBody>
      </p:sp>
      <p:sp>
        <p:nvSpPr>
          <p:cNvPr name="TextBox 12" id="12"/>
          <p:cNvSpPr txBox="true"/>
          <p:nvPr/>
        </p:nvSpPr>
        <p:spPr>
          <a:xfrm rot="0">
            <a:off x="11186666" y="4919663"/>
            <a:ext cx="6174284" cy="513755"/>
          </a:xfrm>
          <a:prstGeom prst="rect">
            <a:avLst/>
          </a:prstGeom>
        </p:spPr>
        <p:txBody>
          <a:bodyPr anchor="t" rtlCol="false" tIns="0" lIns="0" bIns="0" rIns="0">
            <a:spAutoFit/>
          </a:bodyPr>
          <a:lstStyle/>
          <a:p>
            <a:pPr algn="ctr">
              <a:lnSpc>
                <a:spcPts val="3312"/>
              </a:lnSpc>
            </a:pPr>
            <a:r>
              <a:rPr lang="en-US" sz="2062" b="true">
                <a:solidFill>
                  <a:srgbClr val="F4CAB8"/>
                </a:solidFill>
                <a:latin typeface="Montserrat Medium"/>
                <a:ea typeface="Montserrat Medium"/>
                <a:cs typeface="Montserrat Medium"/>
                <a:sym typeface="Montserrat Medium"/>
              </a:rPr>
              <a:t>Clothing, cosmetics, food, medicine</a:t>
            </a:r>
          </a:p>
        </p:txBody>
      </p:sp>
      <p:sp>
        <p:nvSpPr>
          <p:cNvPr name="TextBox 13" id="13"/>
          <p:cNvSpPr txBox="true"/>
          <p:nvPr/>
        </p:nvSpPr>
        <p:spPr>
          <a:xfrm rot="0">
            <a:off x="11186666" y="6197650"/>
            <a:ext cx="6174284" cy="787896"/>
          </a:xfrm>
          <a:prstGeom prst="rect">
            <a:avLst/>
          </a:prstGeom>
        </p:spPr>
        <p:txBody>
          <a:bodyPr anchor="t" rtlCol="false" tIns="0" lIns="0" bIns="0" rIns="0">
            <a:spAutoFit/>
          </a:bodyPr>
          <a:lstStyle/>
          <a:p>
            <a:pPr algn="ctr">
              <a:lnSpc>
                <a:spcPts val="6937"/>
              </a:lnSpc>
            </a:pPr>
            <a:r>
              <a:rPr lang="en-US" sz="6937" b="true">
                <a:solidFill>
                  <a:srgbClr val="F4CAB8"/>
                </a:solidFill>
                <a:latin typeface="Arimo Bold"/>
                <a:ea typeface="Arimo Bold"/>
                <a:cs typeface="Arimo Bold"/>
                <a:sym typeface="Arimo Bold"/>
              </a:rPr>
              <a:t>100%</a:t>
            </a:r>
          </a:p>
        </p:txBody>
      </p:sp>
      <p:sp>
        <p:nvSpPr>
          <p:cNvPr name="TextBox 14" id="14"/>
          <p:cNvSpPr txBox="true"/>
          <p:nvPr/>
        </p:nvSpPr>
        <p:spPr>
          <a:xfrm rot="0">
            <a:off x="12260461" y="7272337"/>
            <a:ext cx="4026545" cy="493663"/>
          </a:xfrm>
          <a:prstGeom prst="rect">
            <a:avLst/>
          </a:prstGeom>
        </p:spPr>
        <p:txBody>
          <a:bodyPr anchor="t" rtlCol="false" tIns="0" lIns="0" bIns="0" rIns="0">
            <a:spAutoFit/>
          </a:bodyPr>
          <a:lstStyle/>
          <a:p>
            <a:pPr algn="ctr">
              <a:lnSpc>
                <a:spcPts val="3500"/>
              </a:lnSpc>
            </a:pPr>
            <a:r>
              <a:rPr lang="en-US" sz="2750" b="true">
                <a:solidFill>
                  <a:srgbClr val="F4CAB8"/>
                </a:solidFill>
                <a:latin typeface="Arimo Bold"/>
                <a:ea typeface="Arimo Bold"/>
                <a:cs typeface="Arimo Bold"/>
                <a:sym typeface="Arimo Bold"/>
              </a:rPr>
              <a:t>Verification confidence</a:t>
            </a:r>
          </a:p>
        </p:txBody>
      </p:sp>
      <p:sp>
        <p:nvSpPr>
          <p:cNvPr name="TextBox 15" id="15"/>
          <p:cNvSpPr txBox="true"/>
          <p:nvPr/>
        </p:nvSpPr>
        <p:spPr>
          <a:xfrm rot="0">
            <a:off x="11186666" y="7947869"/>
            <a:ext cx="6174284" cy="513755"/>
          </a:xfrm>
          <a:prstGeom prst="rect">
            <a:avLst/>
          </a:prstGeom>
        </p:spPr>
        <p:txBody>
          <a:bodyPr anchor="t" rtlCol="false" tIns="0" lIns="0" bIns="0" rIns="0">
            <a:spAutoFit/>
          </a:bodyPr>
          <a:lstStyle/>
          <a:p>
            <a:pPr algn="ctr">
              <a:lnSpc>
                <a:spcPts val="3312"/>
              </a:lnSpc>
            </a:pPr>
            <a:r>
              <a:rPr lang="en-US" sz="2062" b="true">
                <a:solidFill>
                  <a:srgbClr val="F4CAB8"/>
                </a:solidFill>
                <a:latin typeface="Montserrat Medium"/>
                <a:ea typeface="Montserrat Medium"/>
                <a:cs typeface="Montserrat Medium"/>
                <a:sym typeface="Montserrat Medium"/>
              </a:rPr>
              <a:t>With blockchain authentication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421424"/>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5C2438"/>
            </a:solidFill>
            <a:ln w="12700">
              <a:solidFill>
                <a:srgbClr val="000000"/>
              </a:solidFill>
            </a:ln>
          </p:spPr>
        </p:sp>
      </p:grpSp>
      <p:grpSp>
        <p:nvGrpSpPr>
          <p:cNvPr name="Group 6" id="6"/>
          <p:cNvGrpSpPr/>
          <p:nvPr/>
        </p:nvGrpSpPr>
        <p:grpSpPr>
          <a:xfrm rot="0">
            <a:off x="16049019" y="9686925"/>
            <a:ext cx="2153256" cy="514350"/>
            <a:chOff x="0" y="0"/>
            <a:chExt cx="2871008" cy="685800"/>
          </a:xfrm>
        </p:grpSpPr>
        <p:sp>
          <p:nvSpPr>
            <p:cNvPr name="Freeform 7" id="7" descr="preencoded.png">
              <a:hlinkClick r:id="rId2"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3"/>
              <a:stretch>
                <a:fillRect l="0" t="0" r="-1" b="0"/>
              </a:stretch>
            </a:blipFill>
          </p:spPr>
        </p:sp>
      </p:grpSp>
      <p:grpSp>
        <p:nvGrpSpPr>
          <p:cNvPr name="Group 8" id="8"/>
          <p:cNvGrpSpPr/>
          <p:nvPr/>
        </p:nvGrpSpPr>
        <p:grpSpPr>
          <a:xfrm rot="0">
            <a:off x="11430000" y="0"/>
            <a:ext cx="6858000" cy="10287000"/>
            <a:chOff x="0" y="0"/>
            <a:chExt cx="9144000" cy="13716000"/>
          </a:xfrm>
        </p:grpSpPr>
        <p:sp>
          <p:nvSpPr>
            <p:cNvPr name="Freeform 9" id="9"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4"/>
              <a:stretch>
                <a:fillRect l="0" t="0" r="0" b="0"/>
              </a:stretch>
            </a:blipFill>
          </p:spPr>
        </p:sp>
      </p:grpSp>
      <p:sp>
        <p:nvSpPr>
          <p:cNvPr name="TextBox 10" id="10"/>
          <p:cNvSpPr txBox="true"/>
          <p:nvPr/>
        </p:nvSpPr>
        <p:spPr>
          <a:xfrm rot="0">
            <a:off x="727322" y="806797"/>
            <a:ext cx="9377511" cy="592187"/>
          </a:xfrm>
          <a:prstGeom prst="rect">
            <a:avLst/>
          </a:prstGeom>
        </p:spPr>
        <p:txBody>
          <a:bodyPr anchor="t" rtlCol="false" tIns="0" lIns="0" bIns="0" rIns="0">
            <a:spAutoFit/>
          </a:bodyPr>
          <a:lstStyle/>
          <a:p>
            <a:pPr algn="l">
              <a:lnSpc>
                <a:spcPts val="4312"/>
              </a:lnSpc>
            </a:pPr>
            <a:r>
              <a:rPr lang="en-US" sz="3437" b="true">
                <a:solidFill>
                  <a:srgbClr val="FFB393"/>
                </a:solidFill>
                <a:latin typeface="Arimo Bold"/>
                <a:ea typeface="Arimo Bold"/>
                <a:cs typeface="Arimo Bold"/>
                <a:sym typeface="Arimo Bold"/>
              </a:rPr>
              <a:t>How Blockchain Transforms Authentication</a:t>
            </a:r>
          </a:p>
        </p:txBody>
      </p:sp>
      <p:sp>
        <p:nvSpPr>
          <p:cNvPr name="TextBox 11" id="11"/>
          <p:cNvSpPr txBox="true"/>
          <p:nvPr/>
        </p:nvSpPr>
        <p:spPr>
          <a:xfrm rot="0">
            <a:off x="727322" y="1634430"/>
            <a:ext cx="207764" cy="335905"/>
          </a:xfrm>
          <a:prstGeom prst="rect">
            <a:avLst/>
          </a:prstGeom>
        </p:spPr>
        <p:txBody>
          <a:bodyPr anchor="t" rtlCol="false" tIns="0" lIns="0" bIns="0" rIns="0">
            <a:spAutoFit/>
          </a:bodyPr>
          <a:lstStyle/>
          <a:p>
            <a:pPr algn="l">
              <a:lnSpc>
                <a:spcPts val="2562"/>
              </a:lnSpc>
            </a:pPr>
            <a:r>
              <a:rPr lang="en-US" sz="1625">
                <a:solidFill>
                  <a:srgbClr val="F4CAB8"/>
                </a:solidFill>
                <a:latin typeface="Arimo"/>
                <a:ea typeface="Arimo"/>
                <a:cs typeface="Arimo"/>
                <a:sym typeface="Arimo"/>
              </a:rPr>
              <a:t>01</a:t>
            </a:r>
          </a:p>
        </p:txBody>
      </p:sp>
      <p:grpSp>
        <p:nvGrpSpPr>
          <p:cNvPr name="Group 12" id="12"/>
          <p:cNvGrpSpPr/>
          <p:nvPr/>
        </p:nvGrpSpPr>
        <p:grpSpPr>
          <a:xfrm rot="0">
            <a:off x="727322" y="2035225"/>
            <a:ext cx="9975354" cy="28575"/>
            <a:chOff x="0" y="0"/>
            <a:chExt cx="13300472" cy="38100"/>
          </a:xfrm>
        </p:grpSpPr>
        <p:sp>
          <p:nvSpPr>
            <p:cNvPr name="Freeform 13" id="13"/>
            <p:cNvSpPr/>
            <p:nvPr/>
          </p:nvSpPr>
          <p:spPr>
            <a:xfrm flipH="false" flipV="false" rot="0">
              <a:off x="0" y="0"/>
              <a:ext cx="13300456" cy="38100"/>
            </a:xfrm>
            <a:custGeom>
              <a:avLst/>
              <a:gdLst/>
              <a:ahLst/>
              <a:cxnLst/>
              <a:rect r="r" b="b" t="t" l="l"/>
              <a:pathLst>
                <a:path h="38100" w="13300456">
                  <a:moveTo>
                    <a:pt x="0" y="0"/>
                  </a:moveTo>
                  <a:lnTo>
                    <a:pt x="13300456" y="0"/>
                  </a:lnTo>
                  <a:lnTo>
                    <a:pt x="13300456" y="38100"/>
                  </a:lnTo>
                  <a:lnTo>
                    <a:pt x="0" y="38100"/>
                  </a:lnTo>
                  <a:close/>
                </a:path>
              </a:pathLst>
            </a:custGeom>
            <a:solidFill>
              <a:srgbClr val="FFB393"/>
            </a:solidFill>
            <a:ln w="12700">
              <a:solidFill>
                <a:srgbClr val="000000"/>
              </a:solidFill>
            </a:ln>
          </p:spPr>
        </p:sp>
      </p:grpSp>
      <p:sp>
        <p:nvSpPr>
          <p:cNvPr name="TextBox 14" id="14"/>
          <p:cNvSpPr txBox="true"/>
          <p:nvPr/>
        </p:nvSpPr>
        <p:spPr>
          <a:xfrm rot="0">
            <a:off x="727322" y="2177206"/>
            <a:ext cx="3690045" cy="365373"/>
          </a:xfrm>
          <a:prstGeom prst="rect">
            <a:avLst/>
          </a:prstGeom>
        </p:spPr>
        <p:txBody>
          <a:bodyPr anchor="t" rtlCol="false" tIns="0" lIns="0" bIns="0" rIns="0">
            <a:spAutoFit/>
          </a:bodyPr>
          <a:lstStyle/>
          <a:p>
            <a:pPr algn="l">
              <a:lnSpc>
                <a:spcPts val="2687"/>
              </a:lnSpc>
            </a:pPr>
            <a:r>
              <a:rPr lang="en-US" sz="2125" b="true">
                <a:solidFill>
                  <a:srgbClr val="F4CAB8"/>
                </a:solidFill>
                <a:latin typeface="Arimo Bold"/>
                <a:ea typeface="Arimo Bold"/>
                <a:cs typeface="Arimo Bold"/>
                <a:sym typeface="Arimo Bold"/>
              </a:rPr>
              <a:t>Secure QR Code Generation</a:t>
            </a:r>
          </a:p>
        </p:txBody>
      </p:sp>
      <p:sp>
        <p:nvSpPr>
          <p:cNvPr name="TextBox 15" id="15"/>
          <p:cNvSpPr txBox="true"/>
          <p:nvPr/>
        </p:nvSpPr>
        <p:spPr>
          <a:xfrm rot="0">
            <a:off x="727322" y="2609999"/>
            <a:ext cx="9975354" cy="721816"/>
          </a:xfrm>
          <a:prstGeom prst="rect">
            <a:avLst/>
          </a:prstGeom>
        </p:spPr>
        <p:txBody>
          <a:bodyPr anchor="t" rtlCol="false" tIns="0" lIns="0" bIns="0" rIns="0">
            <a:spAutoFit/>
          </a:bodyPr>
          <a:lstStyle/>
          <a:p>
            <a:pPr algn="l">
              <a:lnSpc>
                <a:spcPts val="2562"/>
              </a:lnSpc>
            </a:pPr>
            <a:r>
              <a:rPr lang="en-US" sz="1625" b="true">
                <a:solidFill>
                  <a:srgbClr val="F4CAB8"/>
                </a:solidFill>
                <a:latin typeface="Montserrat Medium"/>
                <a:ea typeface="Montserrat Medium"/>
                <a:cs typeface="Montserrat Medium"/>
                <a:sym typeface="Montserrat Medium"/>
              </a:rPr>
              <a:t>Each product receives a unique blockchain-based QR code that cannot be duplicated or tampered with</a:t>
            </a:r>
          </a:p>
        </p:txBody>
      </p:sp>
      <p:sp>
        <p:nvSpPr>
          <p:cNvPr name="TextBox 16" id="16"/>
          <p:cNvSpPr txBox="true"/>
          <p:nvPr/>
        </p:nvSpPr>
        <p:spPr>
          <a:xfrm rot="0">
            <a:off x="727322" y="3619202"/>
            <a:ext cx="207764" cy="335905"/>
          </a:xfrm>
          <a:prstGeom prst="rect">
            <a:avLst/>
          </a:prstGeom>
        </p:spPr>
        <p:txBody>
          <a:bodyPr anchor="t" rtlCol="false" tIns="0" lIns="0" bIns="0" rIns="0">
            <a:spAutoFit/>
          </a:bodyPr>
          <a:lstStyle/>
          <a:p>
            <a:pPr algn="l">
              <a:lnSpc>
                <a:spcPts val="2562"/>
              </a:lnSpc>
            </a:pPr>
            <a:r>
              <a:rPr lang="en-US" sz="1625">
                <a:solidFill>
                  <a:srgbClr val="F4CAB8"/>
                </a:solidFill>
                <a:latin typeface="Arimo"/>
                <a:ea typeface="Arimo"/>
                <a:cs typeface="Arimo"/>
                <a:sym typeface="Arimo"/>
              </a:rPr>
              <a:t>02</a:t>
            </a:r>
          </a:p>
        </p:txBody>
      </p:sp>
      <p:grpSp>
        <p:nvGrpSpPr>
          <p:cNvPr name="Group 17" id="17"/>
          <p:cNvGrpSpPr/>
          <p:nvPr/>
        </p:nvGrpSpPr>
        <p:grpSpPr>
          <a:xfrm rot="0">
            <a:off x="727322" y="4019996"/>
            <a:ext cx="9975354" cy="28575"/>
            <a:chOff x="0" y="0"/>
            <a:chExt cx="13300472" cy="38100"/>
          </a:xfrm>
        </p:grpSpPr>
        <p:sp>
          <p:nvSpPr>
            <p:cNvPr name="Freeform 18" id="18"/>
            <p:cNvSpPr/>
            <p:nvPr/>
          </p:nvSpPr>
          <p:spPr>
            <a:xfrm flipH="false" flipV="false" rot="0">
              <a:off x="0" y="0"/>
              <a:ext cx="13300456" cy="38100"/>
            </a:xfrm>
            <a:custGeom>
              <a:avLst/>
              <a:gdLst/>
              <a:ahLst/>
              <a:cxnLst/>
              <a:rect r="r" b="b" t="t" l="l"/>
              <a:pathLst>
                <a:path h="38100" w="13300456">
                  <a:moveTo>
                    <a:pt x="0" y="0"/>
                  </a:moveTo>
                  <a:lnTo>
                    <a:pt x="13300456" y="0"/>
                  </a:lnTo>
                  <a:lnTo>
                    <a:pt x="13300456" y="38100"/>
                  </a:lnTo>
                  <a:lnTo>
                    <a:pt x="0" y="38100"/>
                  </a:lnTo>
                  <a:close/>
                </a:path>
              </a:pathLst>
            </a:custGeom>
            <a:solidFill>
              <a:srgbClr val="FFB393"/>
            </a:solidFill>
            <a:ln w="12700">
              <a:solidFill>
                <a:srgbClr val="000000"/>
              </a:solidFill>
            </a:ln>
          </p:spPr>
        </p:sp>
      </p:grpSp>
      <p:sp>
        <p:nvSpPr>
          <p:cNvPr name="TextBox 19" id="19"/>
          <p:cNvSpPr txBox="true"/>
          <p:nvPr/>
        </p:nvSpPr>
        <p:spPr>
          <a:xfrm rot="0">
            <a:off x="727322" y="4161979"/>
            <a:ext cx="3728591" cy="365372"/>
          </a:xfrm>
          <a:prstGeom prst="rect">
            <a:avLst/>
          </a:prstGeom>
        </p:spPr>
        <p:txBody>
          <a:bodyPr anchor="t" rtlCol="false" tIns="0" lIns="0" bIns="0" rIns="0">
            <a:spAutoFit/>
          </a:bodyPr>
          <a:lstStyle/>
          <a:p>
            <a:pPr algn="l">
              <a:lnSpc>
                <a:spcPts val="2687"/>
              </a:lnSpc>
            </a:pPr>
            <a:r>
              <a:rPr lang="en-US" sz="2125" b="true">
                <a:solidFill>
                  <a:srgbClr val="F4CAB8"/>
                </a:solidFill>
                <a:latin typeface="Arimo Bold"/>
                <a:ea typeface="Arimo Bold"/>
                <a:cs typeface="Arimo Bold"/>
                <a:sym typeface="Arimo Bold"/>
              </a:rPr>
              <a:t>Immutable Record Creation</a:t>
            </a:r>
          </a:p>
        </p:txBody>
      </p:sp>
      <p:sp>
        <p:nvSpPr>
          <p:cNvPr name="TextBox 20" id="20"/>
          <p:cNvSpPr txBox="true"/>
          <p:nvPr/>
        </p:nvSpPr>
        <p:spPr>
          <a:xfrm rot="0">
            <a:off x="727322" y="4594771"/>
            <a:ext cx="9975354" cy="721816"/>
          </a:xfrm>
          <a:prstGeom prst="rect">
            <a:avLst/>
          </a:prstGeom>
        </p:spPr>
        <p:txBody>
          <a:bodyPr anchor="t" rtlCol="false" tIns="0" lIns="0" bIns="0" rIns="0">
            <a:spAutoFit/>
          </a:bodyPr>
          <a:lstStyle/>
          <a:p>
            <a:pPr algn="l">
              <a:lnSpc>
                <a:spcPts val="2562"/>
              </a:lnSpc>
            </a:pPr>
            <a:r>
              <a:rPr lang="en-US" sz="1625" b="true">
                <a:solidFill>
                  <a:srgbClr val="F4CAB8"/>
                </a:solidFill>
                <a:latin typeface="Montserrat Medium"/>
                <a:ea typeface="Montserrat Medium"/>
                <a:cs typeface="Montserrat Medium"/>
                <a:sym typeface="Montserrat Medium"/>
              </a:rPr>
              <a:t>Product information is permanently recorded on the blockchain, creating an unchangeable authenticity trail</a:t>
            </a:r>
          </a:p>
        </p:txBody>
      </p:sp>
      <p:sp>
        <p:nvSpPr>
          <p:cNvPr name="TextBox 21" id="21"/>
          <p:cNvSpPr txBox="true"/>
          <p:nvPr/>
        </p:nvSpPr>
        <p:spPr>
          <a:xfrm rot="0">
            <a:off x="727322" y="5603974"/>
            <a:ext cx="207764" cy="335905"/>
          </a:xfrm>
          <a:prstGeom prst="rect">
            <a:avLst/>
          </a:prstGeom>
        </p:spPr>
        <p:txBody>
          <a:bodyPr anchor="t" rtlCol="false" tIns="0" lIns="0" bIns="0" rIns="0">
            <a:spAutoFit/>
          </a:bodyPr>
          <a:lstStyle/>
          <a:p>
            <a:pPr algn="l">
              <a:lnSpc>
                <a:spcPts val="2562"/>
              </a:lnSpc>
            </a:pPr>
            <a:r>
              <a:rPr lang="en-US" sz="1625">
                <a:solidFill>
                  <a:srgbClr val="F4CAB8"/>
                </a:solidFill>
                <a:latin typeface="Arimo"/>
                <a:ea typeface="Arimo"/>
                <a:cs typeface="Arimo"/>
                <a:sym typeface="Arimo"/>
              </a:rPr>
              <a:t>03</a:t>
            </a:r>
          </a:p>
        </p:txBody>
      </p:sp>
      <p:grpSp>
        <p:nvGrpSpPr>
          <p:cNvPr name="Group 22" id="22"/>
          <p:cNvGrpSpPr/>
          <p:nvPr/>
        </p:nvGrpSpPr>
        <p:grpSpPr>
          <a:xfrm rot="0">
            <a:off x="727322" y="6004769"/>
            <a:ext cx="9975354" cy="28575"/>
            <a:chOff x="0" y="0"/>
            <a:chExt cx="13300472" cy="38100"/>
          </a:xfrm>
        </p:grpSpPr>
        <p:sp>
          <p:nvSpPr>
            <p:cNvPr name="Freeform 23" id="23"/>
            <p:cNvSpPr/>
            <p:nvPr/>
          </p:nvSpPr>
          <p:spPr>
            <a:xfrm flipH="false" flipV="false" rot="0">
              <a:off x="0" y="0"/>
              <a:ext cx="13300456" cy="38100"/>
            </a:xfrm>
            <a:custGeom>
              <a:avLst/>
              <a:gdLst/>
              <a:ahLst/>
              <a:cxnLst/>
              <a:rect r="r" b="b" t="t" l="l"/>
              <a:pathLst>
                <a:path h="38100" w="13300456">
                  <a:moveTo>
                    <a:pt x="0" y="0"/>
                  </a:moveTo>
                  <a:lnTo>
                    <a:pt x="13300456" y="0"/>
                  </a:lnTo>
                  <a:lnTo>
                    <a:pt x="13300456" y="38100"/>
                  </a:lnTo>
                  <a:lnTo>
                    <a:pt x="0" y="38100"/>
                  </a:lnTo>
                  <a:close/>
                </a:path>
              </a:pathLst>
            </a:custGeom>
            <a:solidFill>
              <a:srgbClr val="FFB393"/>
            </a:solidFill>
            <a:ln w="12700">
              <a:solidFill>
                <a:srgbClr val="000000"/>
              </a:solidFill>
            </a:ln>
          </p:spPr>
        </p:sp>
      </p:grpSp>
      <p:sp>
        <p:nvSpPr>
          <p:cNvPr name="TextBox 24" id="24"/>
          <p:cNvSpPr txBox="true"/>
          <p:nvPr/>
        </p:nvSpPr>
        <p:spPr>
          <a:xfrm rot="0">
            <a:off x="727322" y="6146750"/>
            <a:ext cx="2770882" cy="365372"/>
          </a:xfrm>
          <a:prstGeom prst="rect">
            <a:avLst/>
          </a:prstGeom>
        </p:spPr>
        <p:txBody>
          <a:bodyPr anchor="t" rtlCol="false" tIns="0" lIns="0" bIns="0" rIns="0">
            <a:spAutoFit/>
          </a:bodyPr>
          <a:lstStyle/>
          <a:p>
            <a:pPr algn="l">
              <a:lnSpc>
                <a:spcPts val="2687"/>
              </a:lnSpc>
            </a:pPr>
            <a:r>
              <a:rPr lang="en-US" sz="2125" b="true">
                <a:solidFill>
                  <a:srgbClr val="F4CAB8"/>
                </a:solidFill>
                <a:latin typeface="Arimo Bold"/>
                <a:ea typeface="Arimo Bold"/>
                <a:cs typeface="Arimo Bold"/>
                <a:sym typeface="Arimo Bold"/>
              </a:rPr>
              <a:t>Instant Verification</a:t>
            </a:r>
          </a:p>
        </p:txBody>
      </p:sp>
      <p:sp>
        <p:nvSpPr>
          <p:cNvPr name="TextBox 25" id="25"/>
          <p:cNvSpPr txBox="true"/>
          <p:nvPr/>
        </p:nvSpPr>
        <p:spPr>
          <a:xfrm rot="0">
            <a:off x="727322" y="6579542"/>
            <a:ext cx="9975354" cy="721816"/>
          </a:xfrm>
          <a:prstGeom prst="rect">
            <a:avLst/>
          </a:prstGeom>
        </p:spPr>
        <p:txBody>
          <a:bodyPr anchor="t" rtlCol="false" tIns="0" lIns="0" bIns="0" rIns="0">
            <a:spAutoFit/>
          </a:bodyPr>
          <a:lstStyle/>
          <a:p>
            <a:pPr algn="l">
              <a:lnSpc>
                <a:spcPts val="2562"/>
              </a:lnSpc>
            </a:pPr>
            <a:r>
              <a:rPr lang="en-US" sz="1625" b="true">
                <a:solidFill>
                  <a:srgbClr val="F4CAB8"/>
                </a:solidFill>
                <a:latin typeface="Montserrat Medium"/>
                <a:ea typeface="Montserrat Medium"/>
                <a:cs typeface="Montserrat Medium"/>
                <a:sym typeface="Montserrat Medium"/>
              </a:rPr>
              <a:t>Consumers scan the QR code to instantly verify authenticity and view complete ownership history</a:t>
            </a:r>
          </a:p>
        </p:txBody>
      </p:sp>
      <p:sp>
        <p:nvSpPr>
          <p:cNvPr name="TextBox 26" id="26"/>
          <p:cNvSpPr txBox="true"/>
          <p:nvPr/>
        </p:nvSpPr>
        <p:spPr>
          <a:xfrm rot="0">
            <a:off x="727322" y="7588746"/>
            <a:ext cx="207764" cy="335905"/>
          </a:xfrm>
          <a:prstGeom prst="rect">
            <a:avLst/>
          </a:prstGeom>
        </p:spPr>
        <p:txBody>
          <a:bodyPr anchor="t" rtlCol="false" tIns="0" lIns="0" bIns="0" rIns="0">
            <a:spAutoFit/>
          </a:bodyPr>
          <a:lstStyle/>
          <a:p>
            <a:pPr algn="l">
              <a:lnSpc>
                <a:spcPts val="2562"/>
              </a:lnSpc>
            </a:pPr>
            <a:r>
              <a:rPr lang="en-US" sz="1625">
                <a:solidFill>
                  <a:srgbClr val="F4CAB8"/>
                </a:solidFill>
                <a:latin typeface="Arimo"/>
                <a:ea typeface="Arimo"/>
                <a:cs typeface="Arimo"/>
                <a:sym typeface="Arimo"/>
              </a:rPr>
              <a:t>04</a:t>
            </a:r>
          </a:p>
        </p:txBody>
      </p:sp>
      <p:grpSp>
        <p:nvGrpSpPr>
          <p:cNvPr name="Group 27" id="27"/>
          <p:cNvGrpSpPr/>
          <p:nvPr/>
        </p:nvGrpSpPr>
        <p:grpSpPr>
          <a:xfrm rot="0">
            <a:off x="727322" y="7989540"/>
            <a:ext cx="9975354" cy="28575"/>
            <a:chOff x="0" y="0"/>
            <a:chExt cx="13300472" cy="38100"/>
          </a:xfrm>
        </p:grpSpPr>
        <p:sp>
          <p:nvSpPr>
            <p:cNvPr name="Freeform 28" id="28"/>
            <p:cNvSpPr/>
            <p:nvPr/>
          </p:nvSpPr>
          <p:spPr>
            <a:xfrm flipH="false" flipV="false" rot="0">
              <a:off x="0" y="0"/>
              <a:ext cx="13300456" cy="38100"/>
            </a:xfrm>
            <a:custGeom>
              <a:avLst/>
              <a:gdLst/>
              <a:ahLst/>
              <a:cxnLst/>
              <a:rect r="r" b="b" t="t" l="l"/>
              <a:pathLst>
                <a:path h="38100" w="13300456">
                  <a:moveTo>
                    <a:pt x="0" y="0"/>
                  </a:moveTo>
                  <a:lnTo>
                    <a:pt x="13300456" y="0"/>
                  </a:lnTo>
                  <a:lnTo>
                    <a:pt x="13300456" y="38100"/>
                  </a:lnTo>
                  <a:lnTo>
                    <a:pt x="0" y="38100"/>
                  </a:lnTo>
                  <a:close/>
                </a:path>
              </a:pathLst>
            </a:custGeom>
            <a:solidFill>
              <a:srgbClr val="FFB393"/>
            </a:solidFill>
            <a:ln w="12700">
              <a:solidFill>
                <a:srgbClr val="000000"/>
              </a:solidFill>
            </a:ln>
          </p:spPr>
        </p:sp>
      </p:grpSp>
      <p:sp>
        <p:nvSpPr>
          <p:cNvPr name="TextBox 29" id="29"/>
          <p:cNvSpPr txBox="true"/>
          <p:nvPr/>
        </p:nvSpPr>
        <p:spPr>
          <a:xfrm rot="0">
            <a:off x="727322" y="8131522"/>
            <a:ext cx="3686770" cy="365372"/>
          </a:xfrm>
          <a:prstGeom prst="rect">
            <a:avLst/>
          </a:prstGeom>
        </p:spPr>
        <p:txBody>
          <a:bodyPr anchor="t" rtlCol="false" tIns="0" lIns="0" bIns="0" rIns="0">
            <a:spAutoFit/>
          </a:bodyPr>
          <a:lstStyle/>
          <a:p>
            <a:pPr algn="l">
              <a:lnSpc>
                <a:spcPts val="2687"/>
              </a:lnSpc>
            </a:pPr>
            <a:r>
              <a:rPr lang="en-US" sz="2125" b="true">
                <a:solidFill>
                  <a:srgbClr val="F4CAB8"/>
                </a:solidFill>
                <a:latin typeface="Arimo Bold"/>
                <a:ea typeface="Arimo Bold"/>
                <a:cs typeface="Arimo Bold"/>
                <a:sym typeface="Arimo Bold"/>
              </a:rPr>
              <a:t>Supply Chain Transparency</a:t>
            </a:r>
          </a:p>
        </p:txBody>
      </p:sp>
      <p:sp>
        <p:nvSpPr>
          <p:cNvPr name="TextBox 30" id="30"/>
          <p:cNvSpPr txBox="true"/>
          <p:nvPr/>
        </p:nvSpPr>
        <p:spPr>
          <a:xfrm rot="0">
            <a:off x="727322" y="8564315"/>
            <a:ext cx="9975354" cy="721816"/>
          </a:xfrm>
          <a:prstGeom prst="rect">
            <a:avLst/>
          </a:prstGeom>
        </p:spPr>
        <p:txBody>
          <a:bodyPr anchor="t" rtlCol="false" tIns="0" lIns="0" bIns="0" rIns="0">
            <a:spAutoFit/>
          </a:bodyPr>
          <a:lstStyle/>
          <a:p>
            <a:pPr algn="l">
              <a:lnSpc>
                <a:spcPts val="2562"/>
              </a:lnSpc>
            </a:pPr>
            <a:r>
              <a:rPr lang="en-US" sz="1625" b="true">
                <a:solidFill>
                  <a:srgbClr val="F4CAB8"/>
                </a:solidFill>
                <a:latin typeface="Montserrat Medium"/>
                <a:ea typeface="Montserrat Medium"/>
                <a:cs typeface="Montserrat Medium"/>
                <a:sym typeface="Montserrat Medium"/>
              </a:rPr>
              <a:t>Every transaction and transfer is tracked, providing end-to-end visibility from manufacturer to consumer</a:t>
            </a:r>
          </a:p>
        </p:txBody>
      </p:sp>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421424"/>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5C2438"/>
            </a:solidFill>
            <a:ln w="12700">
              <a:solidFill>
                <a:srgbClr val="000000"/>
              </a:solidFill>
            </a:ln>
          </p:spPr>
        </p:sp>
      </p:grpSp>
      <p:sp>
        <p:nvSpPr>
          <p:cNvPr name="TextBox 6" id="6"/>
          <p:cNvSpPr txBox="true"/>
          <p:nvPr/>
        </p:nvSpPr>
        <p:spPr>
          <a:xfrm rot="0">
            <a:off x="870496" y="645914"/>
            <a:ext cx="5306466" cy="701428"/>
          </a:xfrm>
          <a:prstGeom prst="rect">
            <a:avLst/>
          </a:prstGeom>
        </p:spPr>
        <p:txBody>
          <a:bodyPr anchor="t" rtlCol="false" tIns="0" lIns="0" bIns="0" rIns="0">
            <a:spAutoFit/>
          </a:bodyPr>
          <a:lstStyle/>
          <a:p>
            <a:pPr algn="l">
              <a:lnSpc>
                <a:spcPts val="5187"/>
              </a:lnSpc>
            </a:pPr>
            <a:r>
              <a:rPr lang="en-US" sz="4124" b="true">
                <a:solidFill>
                  <a:srgbClr val="FFB393"/>
                </a:solidFill>
                <a:latin typeface="Arimo Bold"/>
                <a:ea typeface="Arimo Bold"/>
                <a:cs typeface="Arimo Bold"/>
                <a:sym typeface="Arimo Bold"/>
              </a:rPr>
              <a:t>Existing System</a:t>
            </a:r>
          </a:p>
        </p:txBody>
      </p:sp>
      <p:grpSp>
        <p:nvGrpSpPr>
          <p:cNvPr name="Group 7" id="7"/>
          <p:cNvGrpSpPr/>
          <p:nvPr/>
        </p:nvGrpSpPr>
        <p:grpSpPr>
          <a:xfrm rot="0">
            <a:off x="870496" y="2000250"/>
            <a:ext cx="7970044" cy="7970044"/>
            <a:chOff x="0" y="0"/>
            <a:chExt cx="10626725" cy="10626725"/>
          </a:xfrm>
        </p:grpSpPr>
        <p:sp>
          <p:nvSpPr>
            <p:cNvPr name="Freeform 8" id="8" descr="preencoded.png"/>
            <p:cNvSpPr/>
            <p:nvPr/>
          </p:nvSpPr>
          <p:spPr>
            <a:xfrm flipH="false" flipV="false" rot="0">
              <a:off x="0" y="0"/>
              <a:ext cx="10626725" cy="10626725"/>
            </a:xfrm>
            <a:custGeom>
              <a:avLst/>
              <a:gdLst/>
              <a:ahLst/>
              <a:cxnLst/>
              <a:rect r="r" b="b" t="t" l="l"/>
              <a:pathLst>
                <a:path h="10626725" w="10626725">
                  <a:moveTo>
                    <a:pt x="0" y="0"/>
                  </a:moveTo>
                  <a:lnTo>
                    <a:pt x="10626725" y="0"/>
                  </a:lnTo>
                  <a:lnTo>
                    <a:pt x="10626725" y="10626725"/>
                  </a:lnTo>
                  <a:lnTo>
                    <a:pt x="0" y="10626725"/>
                  </a:lnTo>
                  <a:lnTo>
                    <a:pt x="0" y="0"/>
                  </a:lnTo>
                  <a:close/>
                </a:path>
              </a:pathLst>
            </a:custGeom>
            <a:blipFill>
              <a:blip r:embed="rId2"/>
              <a:stretch>
                <a:fillRect l="0" t="0" r="0" b="0"/>
              </a:stretch>
            </a:blipFill>
          </p:spPr>
        </p:sp>
      </p:grpSp>
      <p:sp>
        <p:nvSpPr>
          <p:cNvPr name="TextBox 9" id="9"/>
          <p:cNvSpPr txBox="true"/>
          <p:nvPr/>
        </p:nvSpPr>
        <p:spPr>
          <a:xfrm rot="0">
            <a:off x="9456985" y="1940570"/>
            <a:ext cx="6469707" cy="525959"/>
          </a:xfrm>
          <a:prstGeom prst="rect">
            <a:avLst/>
          </a:prstGeom>
        </p:spPr>
        <p:txBody>
          <a:bodyPr anchor="t" rtlCol="false" tIns="0" lIns="0" bIns="0" rIns="0">
            <a:spAutoFit/>
          </a:bodyPr>
          <a:lstStyle/>
          <a:p>
            <a:pPr algn="l">
              <a:lnSpc>
                <a:spcPts val="3875"/>
              </a:lnSpc>
            </a:pPr>
            <a:r>
              <a:rPr lang="en-US" sz="3125" b="true">
                <a:solidFill>
                  <a:srgbClr val="FFB393"/>
                </a:solidFill>
                <a:latin typeface="Arimo Bold"/>
                <a:ea typeface="Arimo Bold"/>
                <a:cs typeface="Arimo Bold"/>
                <a:sym typeface="Arimo Bold"/>
              </a:rPr>
              <a:t>Conventional Methods Are Failing</a:t>
            </a:r>
          </a:p>
        </p:txBody>
      </p:sp>
      <p:sp>
        <p:nvSpPr>
          <p:cNvPr name="TextBox 10" id="10"/>
          <p:cNvSpPr txBox="true"/>
          <p:nvPr/>
        </p:nvSpPr>
        <p:spPr>
          <a:xfrm rot="0">
            <a:off x="9456985" y="2629495"/>
            <a:ext cx="7970044" cy="1676995"/>
          </a:xfrm>
          <a:prstGeom prst="rect">
            <a:avLst/>
          </a:prstGeom>
        </p:spPr>
        <p:txBody>
          <a:bodyPr anchor="t" rtlCol="false" tIns="0" lIns="0" bIns="0" rIns="0">
            <a:spAutoFit/>
          </a:bodyPr>
          <a:lstStyle/>
          <a:p>
            <a:pPr algn="l">
              <a:lnSpc>
                <a:spcPts val="3125"/>
              </a:lnSpc>
            </a:pPr>
            <a:r>
              <a:rPr lang="en-US" sz="1937" b="true">
                <a:solidFill>
                  <a:srgbClr val="F4CAB8"/>
                </a:solidFill>
                <a:latin typeface="Montserrat Medium"/>
                <a:ea typeface="Montserrat Medium"/>
                <a:cs typeface="Montserrat Medium"/>
                <a:sym typeface="Montserrat Medium"/>
              </a:rPr>
              <a:t>Traditional anti-counterfeit measures rely on physical features like holograms, serial numbers, and security labels. These methods seemed promising decades ago, but counterfeiters have evolved.</a:t>
            </a:r>
          </a:p>
        </p:txBody>
      </p:sp>
      <p:sp>
        <p:nvSpPr>
          <p:cNvPr name="TextBox 11" id="11"/>
          <p:cNvSpPr txBox="true"/>
          <p:nvPr/>
        </p:nvSpPr>
        <p:spPr>
          <a:xfrm rot="0">
            <a:off x="9456985" y="4444604"/>
            <a:ext cx="7970044" cy="1676995"/>
          </a:xfrm>
          <a:prstGeom prst="rect">
            <a:avLst/>
          </a:prstGeom>
        </p:spPr>
        <p:txBody>
          <a:bodyPr anchor="t" rtlCol="false" tIns="0" lIns="0" bIns="0" rIns="0">
            <a:spAutoFit/>
          </a:bodyPr>
          <a:lstStyle/>
          <a:p>
            <a:pPr algn="l">
              <a:lnSpc>
                <a:spcPts val="3125"/>
              </a:lnSpc>
            </a:pPr>
            <a:r>
              <a:rPr lang="en-US" sz="1937" b="true">
                <a:solidFill>
                  <a:srgbClr val="F4CAB8"/>
                </a:solidFill>
                <a:latin typeface="Montserrat Medium"/>
                <a:ea typeface="Montserrat Medium"/>
                <a:cs typeface="Montserrat Medium"/>
                <a:sym typeface="Montserrat Medium"/>
              </a:rPr>
              <a:t>Today's sophisticated criminals can replicate nearly any physical security feature. Consumers are left manually checking features they don't fully understand, leading to uncertainty and mistakes.</a:t>
            </a:r>
          </a:p>
        </p:txBody>
      </p:sp>
      <p:sp>
        <p:nvSpPr>
          <p:cNvPr name="TextBox 12" id="12"/>
          <p:cNvSpPr txBox="true"/>
          <p:nvPr/>
        </p:nvSpPr>
        <p:spPr>
          <a:xfrm rot="0">
            <a:off x="9456985" y="6259711"/>
            <a:ext cx="7970044" cy="881360"/>
          </a:xfrm>
          <a:prstGeom prst="rect">
            <a:avLst/>
          </a:prstGeom>
        </p:spPr>
        <p:txBody>
          <a:bodyPr anchor="t" rtlCol="false" tIns="0" lIns="0" bIns="0" rIns="0">
            <a:spAutoFit/>
          </a:bodyPr>
          <a:lstStyle/>
          <a:p>
            <a:pPr algn="l">
              <a:lnSpc>
                <a:spcPts val="3125"/>
              </a:lnSpc>
            </a:pPr>
            <a:r>
              <a:rPr lang="en-US" sz="1937" b="true">
                <a:solidFill>
                  <a:srgbClr val="F4CAB8"/>
                </a:solidFill>
                <a:latin typeface="Montserrat Medium"/>
                <a:ea typeface="Montserrat Medium"/>
                <a:cs typeface="Montserrat Medium"/>
                <a:sym typeface="Montserrat Medium"/>
              </a:rPr>
              <a:t>The fundamental problem: physical authentication can always be physically copied.</a:t>
            </a:r>
          </a:p>
        </p:txBody>
      </p:sp>
    </p:spTree>
  </p:cSld>
  <p:clrMapOvr>
    <a:masterClrMapping/>
  </p:clrMapOvr>
  <p:transition spd="fast">
    <p:fade/>
  </p:transition>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421424"/>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5C2438"/>
            </a:solidFill>
            <a:ln w="12700">
              <a:solidFill>
                <a:srgbClr val="000000"/>
              </a:solidFill>
            </a:ln>
          </p:spPr>
        </p:sp>
      </p:grpSp>
      <p:sp>
        <p:nvSpPr>
          <p:cNvPr name="TextBox 6" id="6"/>
          <p:cNvSpPr txBox="true"/>
          <p:nvPr/>
        </p:nvSpPr>
        <p:spPr>
          <a:xfrm rot="0">
            <a:off x="936575" y="1747391"/>
            <a:ext cx="9192220" cy="751731"/>
          </a:xfrm>
          <a:prstGeom prst="rect">
            <a:avLst/>
          </a:prstGeom>
        </p:spPr>
        <p:txBody>
          <a:bodyPr anchor="t" rtlCol="false" tIns="0" lIns="0" bIns="0" rIns="0">
            <a:spAutoFit/>
          </a:bodyPr>
          <a:lstStyle/>
          <a:p>
            <a:pPr algn="l">
              <a:lnSpc>
                <a:spcPts val="5562"/>
              </a:lnSpc>
            </a:pPr>
            <a:r>
              <a:rPr lang="en-US" sz="4437" b="true">
                <a:solidFill>
                  <a:srgbClr val="FFB393"/>
                </a:solidFill>
                <a:latin typeface="Arimo Bold"/>
                <a:ea typeface="Arimo Bold"/>
                <a:cs typeface="Arimo Bold"/>
                <a:sym typeface="Arimo Bold"/>
              </a:rPr>
              <a:t>Disadvantage of Existing Systems</a:t>
            </a:r>
          </a:p>
        </p:txBody>
      </p:sp>
      <p:sp>
        <p:nvSpPr>
          <p:cNvPr name="Freeform 7" id="7" descr="preencoded.png"/>
          <p:cNvSpPr/>
          <p:nvPr/>
        </p:nvSpPr>
        <p:spPr>
          <a:xfrm flipH="false" flipV="false" rot="0">
            <a:off x="936575" y="3034308"/>
            <a:ext cx="668983" cy="668982"/>
          </a:xfrm>
          <a:custGeom>
            <a:avLst/>
            <a:gdLst/>
            <a:ahLst/>
            <a:cxnLst/>
            <a:rect r="r" b="b" t="t" l="l"/>
            <a:pathLst>
              <a:path h="668982" w="668983">
                <a:moveTo>
                  <a:pt x="0" y="0"/>
                </a:moveTo>
                <a:lnTo>
                  <a:pt x="668983" y="0"/>
                </a:lnTo>
                <a:lnTo>
                  <a:pt x="668983" y="668982"/>
                </a:lnTo>
                <a:lnTo>
                  <a:pt x="0" y="668982"/>
                </a:lnTo>
                <a:lnTo>
                  <a:pt x="0" y="0"/>
                </a:lnTo>
                <a:close/>
              </a:path>
            </a:pathLst>
          </a:custGeom>
          <a:blipFill>
            <a:blip r:embed="rId2">
              <a:extLst>
                <a:ext uri="{96DAC541-7B7A-43D3-8B79-37D633B846F1}">
                  <asvg:svgBlip xmlns:asvg="http://schemas.microsoft.com/office/drawing/2016/SVG/main" r:embed="rId3"/>
                </a:ext>
              </a:extLst>
            </a:blip>
            <a:stretch>
              <a:fillRect l="-18309" t="0" r="-18309" b="0"/>
            </a:stretch>
          </a:blipFill>
        </p:spPr>
      </p:sp>
      <p:sp>
        <p:nvSpPr>
          <p:cNvPr name="TextBox 8" id="8"/>
          <p:cNvSpPr txBox="true"/>
          <p:nvPr/>
        </p:nvSpPr>
        <p:spPr>
          <a:xfrm rot="0">
            <a:off x="936575" y="3990082"/>
            <a:ext cx="3690194" cy="493662"/>
          </a:xfrm>
          <a:prstGeom prst="rect">
            <a:avLst/>
          </a:prstGeom>
        </p:spPr>
        <p:txBody>
          <a:bodyPr anchor="t" rtlCol="false" tIns="0" lIns="0" bIns="0" rIns="0">
            <a:spAutoFit/>
          </a:bodyPr>
          <a:lstStyle/>
          <a:p>
            <a:pPr algn="l">
              <a:lnSpc>
                <a:spcPts val="3500"/>
              </a:lnSpc>
            </a:pPr>
            <a:r>
              <a:rPr lang="en-US" sz="2750" b="true">
                <a:solidFill>
                  <a:srgbClr val="F4CAB8"/>
                </a:solidFill>
                <a:latin typeface="Arimo Bold"/>
                <a:ea typeface="Arimo Bold"/>
                <a:cs typeface="Arimo Bold"/>
                <a:sym typeface="Arimo Bold"/>
              </a:rPr>
              <a:t>Lack of Transparency</a:t>
            </a:r>
          </a:p>
        </p:txBody>
      </p:sp>
      <p:sp>
        <p:nvSpPr>
          <p:cNvPr name="TextBox 9" id="9"/>
          <p:cNvSpPr txBox="true"/>
          <p:nvPr/>
        </p:nvSpPr>
        <p:spPr>
          <a:xfrm rot="0">
            <a:off x="936575" y="4558456"/>
            <a:ext cx="8040141" cy="941785"/>
          </a:xfrm>
          <a:prstGeom prst="rect">
            <a:avLst/>
          </a:prstGeom>
        </p:spPr>
        <p:txBody>
          <a:bodyPr anchor="t" rtlCol="false" tIns="0" lIns="0" bIns="0" rIns="0">
            <a:spAutoFit/>
          </a:bodyPr>
          <a:lstStyle/>
          <a:p>
            <a:pPr algn="l">
              <a:lnSpc>
                <a:spcPts val="3312"/>
              </a:lnSpc>
            </a:pPr>
            <a:r>
              <a:rPr lang="en-US" sz="2062" b="true">
                <a:solidFill>
                  <a:srgbClr val="F4CAB8"/>
                </a:solidFill>
                <a:latin typeface="Montserrat Medium"/>
                <a:ea typeface="Montserrat Medium"/>
                <a:cs typeface="Montserrat Medium"/>
                <a:sym typeface="Montserrat Medium"/>
              </a:rPr>
              <a:t>Supply chains operate as black boxes, enabling counterfeits.</a:t>
            </a:r>
          </a:p>
        </p:txBody>
      </p:sp>
      <p:sp>
        <p:nvSpPr>
          <p:cNvPr name="Freeform 10" id="10" descr="preencoded.png"/>
          <p:cNvSpPr/>
          <p:nvPr/>
        </p:nvSpPr>
        <p:spPr>
          <a:xfrm flipH="false" flipV="false" rot="0">
            <a:off x="9311134" y="3034308"/>
            <a:ext cx="668983" cy="668982"/>
          </a:xfrm>
          <a:custGeom>
            <a:avLst/>
            <a:gdLst/>
            <a:ahLst/>
            <a:cxnLst/>
            <a:rect r="r" b="b" t="t" l="l"/>
            <a:pathLst>
              <a:path h="668982" w="668983">
                <a:moveTo>
                  <a:pt x="0" y="0"/>
                </a:moveTo>
                <a:lnTo>
                  <a:pt x="668982" y="0"/>
                </a:lnTo>
                <a:lnTo>
                  <a:pt x="668982" y="668982"/>
                </a:lnTo>
                <a:lnTo>
                  <a:pt x="0" y="668982"/>
                </a:lnTo>
                <a:lnTo>
                  <a:pt x="0" y="0"/>
                </a:lnTo>
                <a:close/>
              </a:path>
            </a:pathLst>
          </a:custGeom>
          <a:blipFill>
            <a:blip r:embed="rId4">
              <a:extLst>
                <a:ext uri="{96DAC541-7B7A-43D3-8B79-37D633B846F1}">
                  <asvg:svgBlip xmlns:asvg="http://schemas.microsoft.com/office/drawing/2016/SVG/main" r:embed="rId5"/>
                </a:ext>
              </a:extLst>
            </a:blip>
            <a:stretch>
              <a:fillRect l="-7042" t="0" r="-7042" b="0"/>
            </a:stretch>
          </a:blipFill>
        </p:spPr>
      </p:sp>
      <p:sp>
        <p:nvSpPr>
          <p:cNvPr name="TextBox 11" id="11"/>
          <p:cNvSpPr txBox="true"/>
          <p:nvPr/>
        </p:nvSpPr>
        <p:spPr>
          <a:xfrm rot="0">
            <a:off x="9311134" y="3990082"/>
            <a:ext cx="3568304" cy="493662"/>
          </a:xfrm>
          <a:prstGeom prst="rect">
            <a:avLst/>
          </a:prstGeom>
        </p:spPr>
        <p:txBody>
          <a:bodyPr anchor="t" rtlCol="false" tIns="0" lIns="0" bIns="0" rIns="0">
            <a:spAutoFit/>
          </a:bodyPr>
          <a:lstStyle/>
          <a:p>
            <a:pPr algn="l">
              <a:lnSpc>
                <a:spcPts val="3500"/>
              </a:lnSpc>
            </a:pPr>
            <a:r>
              <a:rPr lang="en-US" sz="2750" b="true">
                <a:solidFill>
                  <a:srgbClr val="F4CAB8"/>
                </a:solidFill>
                <a:latin typeface="Arimo Bold"/>
                <a:ea typeface="Arimo Bold"/>
                <a:cs typeface="Arimo Bold"/>
                <a:sym typeface="Arimo Bold"/>
              </a:rPr>
              <a:t>Data Tampering</a:t>
            </a:r>
          </a:p>
        </p:txBody>
      </p:sp>
      <p:sp>
        <p:nvSpPr>
          <p:cNvPr name="TextBox 12" id="12"/>
          <p:cNvSpPr txBox="true"/>
          <p:nvPr/>
        </p:nvSpPr>
        <p:spPr>
          <a:xfrm rot="0">
            <a:off x="9311134" y="4558456"/>
            <a:ext cx="8040291" cy="941785"/>
          </a:xfrm>
          <a:prstGeom prst="rect">
            <a:avLst/>
          </a:prstGeom>
        </p:spPr>
        <p:txBody>
          <a:bodyPr anchor="t" rtlCol="false" tIns="0" lIns="0" bIns="0" rIns="0">
            <a:spAutoFit/>
          </a:bodyPr>
          <a:lstStyle/>
          <a:p>
            <a:pPr algn="l">
              <a:lnSpc>
                <a:spcPts val="3312"/>
              </a:lnSpc>
            </a:pPr>
            <a:r>
              <a:rPr lang="en-US" sz="2062" b="true">
                <a:solidFill>
                  <a:srgbClr val="F4CAB8"/>
                </a:solidFill>
                <a:latin typeface="Montserrat Medium"/>
                <a:ea typeface="Montserrat Medium"/>
                <a:cs typeface="Montserrat Medium"/>
                <a:sym typeface="Montserrat Medium"/>
              </a:rPr>
              <a:t>Centralized data is vulnerable to hacking and manipulation.</a:t>
            </a:r>
          </a:p>
        </p:txBody>
      </p:sp>
      <p:sp>
        <p:nvSpPr>
          <p:cNvPr name="Freeform 13" id="13" descr="preencoded.png"/>
          <p:cNvSpPr/>
          <p:nvPr/>
        </p:nvSpPr>
        <p:spPr>
          <a:xfrm flipH="false" flipV="false" rot="0">
            <a:off x="936575" y="6035427"/>
            <a:ext cx="668983" cy="668982"/>
          </a:xfrm>
          <a:custGeom>
            <a:avLst/>
            <a:gdLst/>
            <a:ahLst/>
            <a:cxnLst/>
            <a:rect r="r" b="b" t="t" l="l"/>
            <a:pathLst>
              <a:path h="668982" w="668983">
                <a:moveTo>
                  <a:pt x="0" y="0"/>
                </a:moveTo>
                <a:lnTo>
                  <a:pt x="668983" y="0"/>
                </a:lnTo>
                <a:lnTo>
                  <a:pt x="668983" y="668983"/>
                </a:lnTo>
                <a:lnTo>
                  <a:pt x="0" y="668983"/>
                </a:lnTo>
                <a:lnTo>
                  <a:pt x="0" y="0"/>
                </a:lnTo>
                <a:close/>
              </a:path>
            </a:pathLst>
          </a:custGeom>
          <a:blipFill>
            <a:blip r:embed="rId6">
              <a:extLst>
                <a:ext uri="{96DAC541-7B7A-43D3-8B79-37D633B846F1}">
                  <asvg:svgBlip xmlns:asvg="http://schemas.microsoft.com/office/drawing/2016/SVG/main" r:embed="rId7"/>
                </a:ext>
              </a:extLst>
            </a:blip>
            <a:stretch>
              <a:fillRect l="0" t="-2112" r="0" b="-2112"/>
            </a:stretch>
          </a:blipFill>
        </p:spPr>
      </p:sp>
      <p:sp>
        <p:nvSpPr>
          <p:cNvPr name="TextBox 14" id="14"/>
          <p:cNvSpPr txBox="true"/>
          <p:nvPr/>
        </p:nvSpPr>
        <p:spPr>
          <a:xfrm rot="0">
            <a:off x="936575" y="6991201"/>
            <a:ext cx="3568304" cy="493663"/>
          </a:xfrm>
          <a:prstGeom prst="rect">
            <a:avLst/>
          </a:prstGeom>
        </p:spPr>
        <p:txBody>
          <a:bodyPr anchor="t" rtlCol="false" tIns="0" lIns="0" bIns="0" rIns="0">
            <a:spAutoFit/>
          </a:bodyPr>
          <a:lstStyle/>
          <a:p>
            <a:pPr algn="l">
              <a:lnSpc>
                <a:spcPts val="3500"/>
              </a:lnSpc>
            </a:pPr>
            <a:r>
              <a:rPr lang="en-US" sz="2750" b="true">
                <a:solidFill>
                  <a:srgbClr val="F4CAB8"/>
                </a:solidFill>
                <a:latin typeface="Arimo Bold"/>
                <a:ea typeface="Arimo Bold"/>
                <a:cs typeface="Arimo Bold"/>
                <a:sym typeface="Arimo Bold"/>
              </a:rPr>
              <a:t>Inefficient Tracking</a:t>
            </a:r>
          </a:p>
        </p:txBody>
      </p:sp>
      <p:sp>
        <p:nvSpPr>
          <p:cNvPr name="TextBox 15" id="15"/>
          <p:cNvSpPr txBox="true"/>
          <p:nvPr/>
        </p:nvSpPr>
        <p:spPr>
          <a:xfrm rot="0">
            <a:off x="936575" y="7559576"/>
            <a:ext cx="8040141" cy="513755"/>
          </a:xfrm>
          <a:prstGeom prst="rect">
            <a:avLst/>
          </a:prstGeom>
        </p:spPr>
        <p:txBody>
          <a:bodyPr anchor="t" rtlCol="false" tIns="0" lIns="0" bIns="0" rIns="0">
            <a:spAutoFit/>
          </a:bodyPr>
          <a:lstStyle/>
          <a:p>
            <a:pPr algn="l">
              <a:lnSpc>
                <a:spcPts val="3312"/>
              </a:lnSpc>
            </a:pPr>
            <a:r>
              <a:rPr lang="en-US" sz="2062" b="true">
                <a:solidFill>
                  <a:srgbClr val="F4CAB8"/>
                </a:solidFill>
                <a:latin typeface="Montserrat Medium"/>
                <a:ea typeface="Montserrat Medium"/>
                <a:cs typeface="Montserrat Medium"/>
                <a:sym typeface="Montserrat Medium"/>
              </a:rPr>
              <a:t>Manual tracking leads to delays, errors, and lost traceability.</a:t>
            </a:r>
          </a:p>
        </p:txBody>
      </p:sp>
      <p:sp>
        <p:nvSpPr>
          <p:cNvPr name="Freeform 16" id="16" descr="preencoded.png"/>
          <p:cNvSpPr/>
          <p:nvPr/>
        </p:nvSpPr>
        <p:spPr>
          <a:xfrm flipH="false" flipV="false" rot="0">
            <a:off x="9311134" y="6035427"/>
            <a:ext cx="668983" cy="668982"/>
          </a:xfrm>
          <a:custGeom>
            <a:avLst/>
            <a:gdLst/>
            <a:ahLst/>
            <a:cxnLst/>
            <a:rect r="r" b="b" t="t" l="l"/>
            <a:pathLst>
              <a:path h="668982" w="668983">
                <a:moveTo>
                  <a:pt x="0" y="0"/>
                </a:moveTo>
                <a:lnTo>
                  <a:pt x="668982" y="0"/>
                </a:lnTo>
                <a:lnTo>
                  <a:pt x="668982" y="668983"/>
                </a:lnTo>
                <a:lnTo>
                  <a:pt x="0" y="668983"/>
                </a:lnTo>
                <a:lnTo>
                  <a:pt x="0" y="0"/>
                </a:lnTo>
                <a:close/>
              </a:path>
            </a:pathLst>
          </a:custGeom>
          <a:blipFill>
            <a:blip r:embed="rId8">
              <a:extLst>
                <a:ext uri="{96DAC541-7B7A-43D3-8B79-37D633B846F1}">
                  <asvg:svgBlip xmlns:asvg="http://schemas.microsoft.com/office/drawing/2016/SVG/main" r:embed="rId9"/>
                </a:ext>
              </a:extLst>
            </a:blip>
            <a:stretch>
              <a:fillRect l="0" t="-9154" r="0" b="-9154"/>
            </a:stretch>
          </a:blipFill>
        </p:spPr>
      </p:sp>
      <p:sp>
        <p:nvSpPr>
          <p:cNvPr name="TextBox 17" id="17"/>
          <p:cNvSpPr txBox="true"/>
          <p:nvPr/>
        </p:nvSpPr>
        <p:spPr>
          <a:xfrm rot="0">
            <a:off x="9311134" y="6991201"/>
            <a:ext cx="3568304" cy="493663"/>
          </a:xfrm>
          <a:prstGeom prst="rect">
            <a:avLst/>
          </a:prstGeom>
        </p:spPr>
        <p:txBody>
          <a:bodyPr anchor="t" rtlCol="false" tIns="0" lIns="0" bIns="0" rIns="0">
            <a:spAutoFit/>
          </a:bodyPr>
          <a:lstStyle/>
          <a:p>
            <a:pPr algn="l">
              <a:lnSpc>
                <a:spcPts val="3500"/>
              </a:lnSpc>
            </a:pPr>
            <a:r>
              <a:rPr lang="en-US" sz="2750" b="true">
                <a:solidFill>
                  <a:srgbClr val="F4CAB8"/>
                </a:solidFill>
                <a:latin typeface="Arimo Bold"/>
                <a:ea typeface="Arimo Bold"/>
                <a:cs typeface="Arimo Bold"/>
                <a:sym typeface="Arimo Bold"/>
              </a:rPr>
              <a:t>Limited Visibility</a:t>
            </a:r>
          </a:p>
        </p:txBody>
      </p:sp>
      <p:sp>
        <p:nvSpPr>
          <p:cNvPr name="TextBox 18" id="18"/>
          <p:cNvSpPr txBox="true"/>
          <p:nvPr/>
        </p:nvSpPr>
        <p:spPr>
          <a:xfrm rot="0">
            <a:off x="9311134" y="7559576"/>
            <a:ext cx="8040291" cy="941785"/>
          </a:xfrm>
          <a:prstGeom prst="rect">
            <a:avLst/>
          </a:prstGeom>
        </p:spPr>
        <p:txBody>
          <a:bodyPr anchor="t" rtlCol="false" tIns="0" lIns="0" bIns="0" rIns="0">
            <a:spAutoFit/>
          </a:bodyPr>
          <a:lstStyle/>
          <a:p>
            <a:pPr algn="l">
              <a:lnSpc>
                <a:spcPts val="3312"/>
              </a:lnSpc>
            </a:pPr>
            <a:r>
              <a:rPr lang="en-US" sz="2062" b="true">
                <a:solidFill>
                  <a:srgbClr val="F4CAB8"/>
                </a:solidFill>
                <a:latin typeface="Montserrat Medium"/>
                <a:ea typeface="Montserrat Medium"/>
                <a:cs typeface="Montserrat Medium"/>
                <a:sym typeface="Montserrat Medium"/>
              </a:rPr>
              <a:t>Incomplete information makes tracing counterfeit origins impossible.</a:t>
            </a:r>
          </a:p>
        </p:txBody>
      </p:sp>
    </p:spTree>
  </p:cSld>
  <p:clrMapOvr>
    <a:masterClrMapping/>
  </p:clrMapOvr>
  <p:transition spd="fast">
    <p:fade/>
  </p:transition>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421424"/>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5C2438"/>
            </a:solidFill>
            <a:ln w="12700">
              <a:solidFill>
                <a:srgbClr val="000000"/>
              </a:solidFill>
            </a:ln>
          </p:spPr>
        </p:sp>
      </p:grpSp>
      <p:sp>
        <p:nvSpPr>
          <p:cNvPr name="TextBox 6" id="6"/>
          <p:cNvSpPr txBox="true"/>
          <p:nvPr/>
        </p:nvSpPr>
        <p:spPr>
          <a:xfrm rot="0">
            <a:off x="936575" y="1709737"/>
            <a:ext cx="10968484" cy="958603"/>
          </a:xfrm>
          <a:prstGeom prst="rect">
            <a:avLst/>
          </a:prstGeom>
        </p:spPr>
        <p:txBody>
          <a:bodyPr anchor="t" rtlCol="false" tIns="0" lIns="0" bIns="0" rIns="0">
            <a:spAutoFit/>
          </a:bodyPr>
          <a:lstStyle/>
          <a:p>
            <a:pPr algn="l">
              <a:lnSpc>
                <a:spcPts val="7000"/>
              </a:lnSpc>
            </a:pPr>
            <a:r>
              <a:rPr lang="en-US" sz="5562" b="true">
                <a:solidFill>
                  <a:srgbClr val="FFB393"/>
                </a:solidFill>
                <a:latin typeface="Arimo Bold"/>
                <a:ea typeface="Arimo Bold"/>
                <a:cs typeface="Arimo Bold"/>
                <a:sym typeface="Arimo Bold"/>
              </a:rPr>
              <a:t>Literature Survey: Key Research</a:t>
            </a:r>
          </a:p>
        </p:txBody>
      </p:sp>
      <p:sp>
        <p:nvSpPr>
          <p:cNvPr name="TextBox 7" id="7"/>
          <p:cNvSpPr txBox="true"/>
          <p:nvPr/>
        </p:nvSpPr>
        <p:spPr>
          <a:xfrm rot="0">
            <a:off x="936575" y="3289696"/>
            <a:ext cx="4979491" cy="2277815"/>
          </a:xfrm>
          <a:prstGeom prst="rect">
            <a:avLst/>
          </a:prstGeom>
        </p:spPr>
        <p:txBody>
          <a:bodyPr anchor="t" rtlCol="false" tIns="0" lIns="0" bIns="0" rIns="0">
            <a:spAutoFit/>
          </a:bodyPr>
          <a:lstStyle/>
          <a:p>
            <a:pPr algn="l">
              <a:lnSpc>
                <a:spcPts val="3500"/>
              </a:lnSpc>
            </a:pPr>
            <a:r>
              <a:rPr lang="en-US" sz="2750" b="true">
                <a:solidFill>
                  <a:srgbClr val="FFB393"/>
                </a:solidFill>
                <a:latin typeface="Arimo Bold"/>
                <a:ea typeface="Arimo Bold"/>
                <a:cs typeface="Arimo Bold"/>
                <a:sym typeface="Arimo Bold"/>
              </a:rPr>
              <a:t>“A comparative study: Blockchain technology utilization benefits, challenges, and functionalities”</a:t>
            </a:r>
          </a:p>
        </p:txBody>
      </p:sp>
      <p:sp>
        <p:nvSpPr>
          <p:cNvPr name="TextBox 8" id="8"/>
          <p:cNvSpPr txBox="true"/>
          <p:nvPr/>
        </p:nvSpPr>
        <p:spPr>
          <a:xfrm rot="0">
            <a:off x="936575" y="5749379"/>
            <a:ext cx="4979491" cy="513755"/>
          </a:xfrm>
          <a:prstGeom prst="rect">
            <a:avLst/>
          </a:prstGeom>
        </p:spPr>
        <p:txBody>
          <a:bodyPr anchor="t" rtlCol="false" tIns="0" lIns="0" bIns="0" rIns="0">
            <a:spAutoFit/>
          </a:bodyPr>
          <a:lstStyle/>
          <a:p>
            <a:pPr algn="l">
              <a:lnSpc>
                <a:spcPts val="3312"/>
              </a:lnSpc>
            </a:pPr>
            <a:r>
              <a:rPr lang="en-US" sz="2062" b="true">
                <a:solidFill>
                  <a:srgbClr val="F4CAB8"/>
                </a:solidFill>
                <a:latin typeface="Montserrat Bold"/>
                <a:ea typeface="Montserrat Bold"/>
                <a:cs typeface="Montserrat Bold"/>
                <a:sym typeface="Montserrat Bold"/>
              </a:rPr>
              <a:t>Author:</a:t>
            </a:r>
            <a:r>
              <a:rPr lang="en-US" sz="2062" b="true">
                <a:solidFill>
                  <a:srgbClr val="F4CAB8"/>
                </a:solidFill>
                <a:latin typeface="Montserrat Medium"/>
                <a:ea typeface="Montserrat Medium"/>
                <a:cs typeface="Montserrat Medium"/>
                <a:sym typeface="Montserrat Medium"/>
              </a:rPr>
              <a:t> Ali, Omar, et al</a:t>
            </a:r>
          </a:p>
        </p:txBody>
      </p:sp>
      <p:sp>
        <p:nvSpPr>
          <p:cNvPr name="TextBox 9" id="9"/>
          <p:cNvSpPr txBox="true"/>
          <p:nvPr/>
        </p:nvSpPr>
        <p:spPr>
          <a:xfrm rot="0">
            <a:off x="936575" y="6418212"/>
            <a:ext cx="4979491" cy="513755"/>
          </a:xfrm>
          <a:prstGeom prst="rect">
            <a:avLst/>
          </a:prstGeom>
        </p:spPr>
        <p:txBody>
          <a:bodyPr anchor="t" rtlCol="false" tIns="0" lIns="0" bIns="0" rIns="0">
            <a:spAutoFit/>
          </a:bodyPr>
          <a:lstStyle/>
          <a:p>
            <a:pPr algn="l">
              <a:lnSpc>
                <a:spcPts val="3312"/>
              </a:lnSpc>
            </a:pPr>
            <a:r>
              <a:rPr lang="en-US" sz="2062" b="true">
                <a:solidFill>
                  <a:srgbClr val="F4CAB8"/>
                </a:solidFill>
                <a:latin typeface="Montserrat Bold"/>
                <a:ea typeface="Montserrat Bold"/>
                <a:cs typeface="Montserrat Bold"/>
                <a:sym typeface="Montserrat Bold"/>
              </a:rPr>
              <a:t>Year:</a:t>
            </a:r>
            <a:r>
              <a:rPr lang="en-US" sz="2062" b="true">
                <a:solidFill>
                  <a:srgbClr val="F4CAB8"/>
                </a:solidFill>
                <a:latin typeface="Montserrat Medium"/>
                <a:ea typeface="Montserrat Medium"/>
                <a:cs typeface="Montserrat Medium"/>
                <a:sym typeface="Montserrat Medium"/>
              </a:rPr>
              <a:t> 2021</a:t>
            </a:r>
          </a:p>
        </p:txBody>
      </p:sp>
      <p:sp>
        <p:nvSpPr>
          <p:cNvPr name="TextBox 10" id="10"/>
          <p:cNvSpPr txBox="true"/>
          <p:nvPr/>
        </p:nvSpPr>
        <p:spPr>
          <a:xfrm rot="0">
            <a:off x="936575" y="7087046"/>
            <a:ext cx="4979491" cy="513755"/>
          </a:xfrm>
          <a:prstGeom prst="rect">
            <a:avLst/>
          </a:prstGeom>
        </p:spPr>
        <p:txBody>
          <a:bodyPr anchor="t" rtlCol="false" tIns="0" lIns="0" bIns="0" rIns="0">
            <a:spAutoFit/>
          </a:bodyPr>
          <a:lstStyle/>
          <a:p>
            <a:pPr algn="l">
              <a:lnSpc>
                <a:spcPts val="3312"/>
              </a:lnSpc>
            </a:pPr>
            <a:r>
              <a:rPr lang="en-US" sz="2062" b="true">
                <a:solidFill>
                  <a:srgbClr val="F4CAB8"/>
                </a:solidFill>
                <a:latin typeface="Montserrat Bold"/>
                <a:ea typeface="Montserrat Bold"/>
                <a:cs typeface="Montserrat Bold"/>
                <a:sym typeface="Montserrat Bold"/>
              </a:rPr>
              <a:t>Publisher:</a:t>
            </a:r>
            <a:r>
              <a:rPr lang="en-US" sz="2062" b="true">
                <a:solidFill>
                  <a:srgbClr val="F4CAB8"/>
                </a:solidFill>
                <a:latin typeface="Montserrat Medium"/>
                <a:ea typeface="Montserrat Medium"/>
                <a:cs typeface="Montserrat Medium"/>
                <a:sym typeface="Montserrat Medium"/>
              </a:rPr>
              <a:t> IEEE Access 9</a:t>
            </a:r>
          </a:p>
        </p:txBody>
      </p:sp>
      <p:sp>
        <p:nvSpPr>
          <p:cNvPr name="TextBox 11" id="11"/>
          <p:cNvSpPr txBox="true"/>
          <p:nvPr/>
        </p:nvSpPr>
        <p:spPr>
          <a:xfrm rot="0">
            <a:off x="6578352" y="3289696"/>
            <a:ext cx="5150197" cy="1385739"/>
          </a:xfrm>
          <a:prstGeom prst="rect">
            <a:avLst/>
          </a:prstGeom>
        </p:spPr>
        <p:txBody>
          <a:bodyPr anchor="t" rtlCol="false" tIns="0" lIns="0" bIns="0" rIns="0">
            <a:spAutoFit/>
          </a:bodyPr>
          <a:lstStyle/>
          <a:p>
            <a:pPr algn="l">
              <a:lnSpc>
                <a:spcPts val="3500"/>
              </a:lnSpc>
            </a:pPr>
            <a:r>
              <a:rPr lang="en-US" sz="2750" b="true">
                <a:solidFill>
                  <a:srgbClr val="FFB393"/>
                </a:solidFill>
                <a:latin typeface="Arimo Bold"/>
                <a:ea typeface="Arimo Bold"/>
                <a:cs typeface="Arimo Bold"/>
                <a:sym typeface="Arimo Bold"/>
              </a:rPr>
              <a:t>“Identifying Fake Product Through a QR Code Based Blockchain System”</a:t>
            </a:r>
          </a:p>
        </p:txBody>
      </p:sp>
      <p:sp>
        <p:nvSpPr>
          <p:cNvPr name="TextBox 12" id="12"/>
          <p:cNvSpPr txBox="true"/>
          <p:nvPr/>
        </p:nvSpPr>
        <p:spPr>
          <a:xfrm rot="0">
            <a:off x="6578352" y="4857304"/>
            <a:ext cx="5150197" cy="1369814"/>
          </a:xfrm>
          <a:prstGeom prst="rect">
            <a:avLst/>
          </a:prstGeom>
        </p:spPr>
        <p:txBody>
          <a:bodyPr anchor="t" rtlCol="false" tIns="0" lIns="0" bIns="0" rIns="0">
            <a:spAutoFit/>
          </a:bodyPr>
          <a:lstStyle/>
          <a:p>
            <a:pPr algn="l">
              <a:lnSpc>
                <a:spcPts val="3312"/>
              </a:lnSpc>
            </a:pPr>
            <a:r>
              <a:rPr lang="en-US" sz="2062" b="true">
                <a:solidFill>
                  <a:srgbClr val="F4CAB8"/>
                </a:solidFill>
                <a:latin typeface="Montserrat Bold"/>
                <a:ea typeface="Montserrat Bold"/>
                <a:cs typeface="Montserrat Bold"/>
                <a:sym typeface="Montserrat Bold"/>
              </a:rPr>
              <a:t>Author:</a:t>
            </a:r>
            <a:r>
              <a:rPr lang="en-US" sz="2062" b="true">
                <a:solidFill>
                  <a:srgbClr val="F4CAB8"/>
                </a:solidFill>
                <a:latin typeface="Montserrat Medium"/>
                <a:ea typeface="Montserrat Medium"/>
                <a:cs typeface="Montserrat Medium"/>
                <a:sym typeface="Montserrat Medium"/>
              </a:rPr>
              <a:t> P.LokeshReddy, A.MuniKarthik, M.Pavitra, Mrs.M.S.Soundarya,M.E.,</a:t>
            </a:r>
          </a:p>
        </p:txBody>
      </p:sp>
      <p:sp>
        <p:nvSpPr>
          <p:cNvPr name="TextBox 13" id="13"/>
          <p:cNvSpPr txBox="true"/>
          <p:nvPr/>
        </p:nvSpPr>
        <p:spPr>
          <a:xfrm rot="0">
            <a:off x="6578352" y="6382196"/>
            <a:ext cx="5150197" cy="513755"/>
          </a:xfrm>
          <a:prstGeom prst="rect">
            <a:avLst/>
          </a:prstGeom>
        </p:spPr>
        <p:txBody>
          <a:bodyPr anchor="t" rtlCol="false" tIns="0" lIns="0" bIns="0" rIns="0">
            <a:spAutoFit/>
          </a:bodyPr>
          <a:lstStyle/>
          <a:p>
            <a:pPr algn="l">
              <a:lnSpc>
                <a:spcPts val="3312"/>
              </a:lnSpc>
            </a:pPr>
            <a:r>
              <a:rPr lang="en-US" sz="2062" b="true">
                <a:solidFill>
                  <a:srgbClr val="F4CAB8"/>
                </a:solidFill>
                <a:latin typeface="Montserrat Bold"/>
                <a:ea typeface="Montserrat Bold"/>
                <a:cs typeface="Montserrat Bold"/>
                <a:sym typeface="Montserrat Bold"/>
              </a:rPr>
              <a:t>Year:</a:t>
            </a:r>
            <a:r>
              <a:rPr lang="en-US" sz="2062" b="true">
                <a:solidFill>
                  <a:srgbClr val="F4CAB8"/>
                </a:solidFill>
                <a:latin typeface="Montserrat Medium"/>
                <a:ea typeface="Montserrat Medium"/>
                <a:cs typeface="Montserrat Medium"/>
                <a:sym typeface="Montserrat Medium"/>
              </a:rPr>
              <a:t> 2022</a:t>
            </a:r>
          </a:p>
        </p:txBody>
      </p:sp>
      <p:sp>
        <p:nvSpPr>
          <p:cNvPr name="TextBox 14" id="14"/>
          <p:cNvSpPr txBox="true"/>
          <p:nvPr/>
        </p:nvSpPr>
        <p:spPr>
          <a:xfrm rot="0">
            <a:off x="6578352" y="7051030"/>
            <a:ext cx="5150197" cy="513755"/>
          </a:xfrm>
          <a:prstGeom prst="rect">
            <a:avLst/>
          </a:prstGeom>
        </p:spPr>
        <p:txBody>
          <a:bodyPr anchor="t" rtlCol="false" tIns="0" lIns="0" bIns="0" rIns="0">
            <a:spAutoFit/>
          </a:bodyPr>
          <a:lstStyle/>
          <a:p>
            <a:pPr algn="l">
              <a:lnSpc>
                <a:spcPts val="3312"/>
              </a:lnSpc>
            </a:pPr>
            <a:r>
              <a:rPr lang="en-US" sz="2062" b="true">
                <a:solidFill>
                  <a:srgbClr val="F4CAB8"/>
                </a:solidFill>
                <a:latin typeface="Montserrat Bold"/>
                <a:ea typeface="Montserrat Bold"/>
                <a:cs typeface="Montserrat Bold"/>
                <a:sym typeface="Montserrat Bold"/>
              </a:rPr>
              <a:t>Publisher:</a:t>
            </a:r>
            <a:r>
              <a:rPr lang="en-US" sz="2062" b="true">
                <a:solidFill>
                  <a:srgbClr val="F4CAB8"/>
                </a:solidFill>
                <a:latin typeface="Montserrat Medium"/>
                <a:ea typeface="Montserrat Medium"/>
                <a:cs typeface="Montserrat Medium"/>
                <a:sym typeface="Montserrat Medium"/>
              </a:rPr>
              <a:t> IRJET</a:t>
            </a:r>
          </a:p>
        </p:txBody>
      </p:sp>
      <p:sp>
        <p:nvSpPr>
          <p:cNvPr name="TextBox 15" id="15"/>
          <p:cNvSpPr txBox="true"/>
          <p:nvPr/>
        </p:nvSpPr>
        <p:spPr>
          <a:xfrm rot="0">
            <a:off x="12390835" y="3289696"/>
            <a:ext cx="4979491" cy="939701"/>
          </a:xfrm>
          <a:prstGeom prst="rect">
            <a:avLst/>
          </a:prstGeom>
        </p:spPr>
        <p:txBody>
          <a:bodyPr anchor="t" rtlCol="false" tIns="0" lIns="0" bIns="0" rIns="0">
            <a:spAutoFit/>
          </a:bodyPr>
          <a:lstStyle/>
          <a:p>
            <a:pPr algn="l">
              <a:lnSpc>
                <a:spcPts val="3500"/>
              </a:lnSpc>
            </a:pPr>
            <a:r>
              <a:rPr lang="en-US" sz="2750" b="true">
                <a:solidFill>
                  <a:srgbClr val="FFB393"/>
                </a:solidFill>
                <a:latin typeface="Arimo Bold"/>
                <a:ea typeface="Arimo Bold"/>
                <a:cs typeface="Arimo Bold"/>
                <a:sym typeface="Arimo Bold"/>
              </a:rPr>
              <a:t>“QR based Fake Product Detection using Blockchain”</a:t>
            </a:r>
          </a:p>
        </p:txBody>
      </p:sp>
      <p:sp>
        <p:nvSpPr>
          <p:cNvPr name="TextBox 16" id="16"/>
          <p:cNvSpPr txBox="true"/>
          <p:nvPr/>
        </p:nvSpPr>
        <p:spPr>
          <a:xfrm rot="0">
            <a:off x="12390835" y="4411266"/>
            <a:ext cx="4979491" cy="941785"/>
          </a:xfrm>
          <a:prstGeom prst="rect">
            <a:avLst/>
          </a:prstGeom>
        </p:spPr>
        <p:txBody>
          <a:bodyPr anchor="t" rtlCol="false" tIns="0" lIns="0" bIns="0" rIns="0">
            <a:spAutoFit/>
          </a:bodyPr>
          <a:lstStyle/>
          <a:p>
            <a:pPr algn="l">
              <a:lnSpc>
                <a:spcPts val="3312"/>
              </a:lnSpc>
            </a:pPr>
            <a:r>
              <a:rPr lang="en-US" sz="2062" b="true">
                <a:solidFill>
                  <a:srgbClr val="F4CAB8"/>
                </a:solidFill>
                <a:latin typeface="Montserrat Bold"/>
                <a:ea typeface="Montserrat Bold"/>
                <a:cs typeface="Montserrat Bold"/>
                <a:sym typeface="Montserrat Bold"/>
              </a:rPr>
              <a:t>Author:</a:t>
            </a:r>
            <a:r>
              <a:rPr lang="en-US" sz="2062" b="true">
                <a:solidFill>
                  <a:srgbClr val="F4CAB8"/>
                </a:solidFill>
                <a:latin typeface="Montserrat Medium"/>
                <a:ea typeface="Montserrat Medium"/>
                <a:cs typeface="Montserrat Medium"/>
                <a:sym typeface="Montserrat Medium"/>
              </a:rPr>
              <a:t> Rivaa Vadher, Rishith Vadher</a:t>
            </a:r>
          </a:p>
        </p:txBody>
      </p:sp>
      <p:sp>
        <p:nvSpPr>
          <p:cNvPr name="TextBox 17" id="17"/>
          <p:cNvSpPr txBox="true"/>
          <p:nvPr/>
        </p:nvSpPr>
        <p:spPr>
          <a:xfrm rot="0">
            <a:off x="12390835" y="5508129"/>
            <a:ext cx="4979491" cy="513755"/>
          </a:xfrm>
          <a:prstGeom prst="rect">
            <a:avLst/>
          </a:prstGeom>
        </p:spPr>
        <p:txBody>
          <a:bodyPr anchor="t" rtlCol="false" tIns="0" lIns="0" bIns="0" rIns="0">
            <a:spAutoFit/>
          </a:bodyPr>
          <a:lstStyle/>
          <a:p>
            <a:pPr algn="l">
              <a:lnSpc>
                <a:spcPts val="3312"/>
              </a:lnSpc>
            </a:pPr>
            <a:r>
              <a:rPr lang="en-US" sz="2062" b="true">
                <a:solidFill>
                  <a:srgbClr val="F4CAB8"/>
                </a:solidFill>
                <a:latin typeface="Montserrat Bold"/>
                <a:ea typeface="Montserrat Bold"/>
                <a:cs typeface="Montserrat Bold"/>
                <a:sym typeface="Montserrat Bold"/>
              </a:rPr>
              <a:t>Year:</a:t>
            </a:r>
            <a:r>
              <a:rPr lang="en-US" sz="2062" b="true">
                <a:solidFill>
                  <a:srgbClr val="F4CAB8"/>
                </a:solidFill>
                <a:latin typeface="Montserrat Medium"/>
                <a:ea typeface="Montserrat Medium"/>
                <a:cs typeface="Montserrat Medium"/>
                <a:sym typeface="Montserrat Medium"/>
              </a:rPr>
              <a:t> 2024</a:t>
            </a:r>
          </a:p>
        </p:txBody>
      </p:sp>
      <p:sp>
        <p:nvSpPr>
          <p:cNvPr name="TextBox 18" id="18"/>
          <p:cNvSpPr txBox="true"/>
          <p:nvPr/>
        </p:nvSpPr>
        <p:spPr>
          <a:xfrm rot="0">
            <a:off x="12390835" y="6176962"/>
            <a:ext cx="4979491" cy="513755"/>
          </a:xfrm>
          <a:prstGeom prst="rect">
            <a:avLst/>
          </a:prstGeom>
        </p:spPr>
        <p:txBody>
          <a:bodyPr anchor="t" rtlCol="false" tIns="0" lIns="0" bIns="0" rIns="0">
            <a:spAutoFit/>
          </a:bodyPr>
          <a:lstStyle/>
          <a:p>
            <a:pPr algn="l">
              <a:lnSpc>
                <a:spcPts val="3312"/>
              </a:lnSpc>
            </a:pPr>
            <a:r>
              <a:rPr lang="en-US" sz="2062" b="true">
                <a:solidFill>
                  <a:srgbClr val="F4CAB8"/>
                </a:solidFill>
                <a:latin typeface="Montserrat Bold"/>
                <a:ea typeface="Montserrat Bold"/>
                <a:cs typeface="Montserrat Bold"/>
                <a:sym typeface="Montserrat Bold"/>
              </a:rPr>
              <a:t>Publisher:</a:t>
            </a:r>
            <a:r>
              <a:rPr lang="en-US" sz="2062" b="true">
                <a:solidFill>
                  <a:srgbClr val="F4CAB8"/>
                </a:solidFill>
                <a:latin typeface="Montserrat Medium"/>
                <a:ea typeface="Montserrat Medium"/>
                <a:cs typeface="Montserrat Medium"/>
                <a:sym typeface="Montserrat Medium"/>
              </a:rPr>
              <a:t> IJIRT</a:t>
            </a:r>
          </a:p>
        </p:txBody>
      </p:sp>
    </p:spTree>
  </p:cSld>
  <p:clrMapOvr>
    <a:masterClrMapping/>
  </p:clrMapOvr>
  <p:transition spd="fast">
    <p:fade/>
  </p:transition>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421424"/>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5C2438"/>
            </a:solidFill>
            <a:ln w="12700">
              <a:solidFill>
                <a:srgbClr val="000000"/>
              </a:solidFill>
            </a:ln>
          </p:spPr>
        </p:sp>
      </p:grpSp>
      <p:sp>
        <p:nvSpPr>
          <p:cNvPr name="TextBox 6" id="6"/>
          <p:cNvSpPr txBox="true"/>
          <p:nvPr/>
        </p:nvSpPr>
        <p:spPr>
          <a:xfrm rot="0">
            <a:off x="936575" y="836860"/>
            <a:ext cx="15405348" cy="751731"/>
          </a:xfrm>
          <a:prstGeom prst="rect">
            <a:avLst/>
          </a:prstGeom>
        </p:spPr>
        <p:txBody>
          <a:bodyPr anchor="t" rtlCol="false" tIns="0" lIns="0" bIns="0" rIns="0">
            <a:spAutoFit/>
          </a:bodyPr>
          <a:lstStyle/>
          <a:p>
            <a:pPr algn="l">
              <a:lnSpc>
                <a:spcPts val="5562"/>
              </a:lnSpc>
            </a:pPr>
            <a:r>
              <a:rPr lang="en-US" sz="4437" b="true">
                <a:solidFill>
                  <a:srgbClr val="FFB393"/>
                </a:solidFill>
                <a:latin typeface="Arimo Bold"/>
                <a:ea typeface="Arimo Bold"/>
                <a:cs typeface="Arimo Bold"/>
                <a:sym typeface="Arimo Bold"/>
              </a:rPr>
              <a:t>Proposed System: Blockchain &amp; QR Code Authentication</a:t>
            </a:r>
          </a:p>
        </p:txBody>
      </p:sp>
      <p:sp>
        <p:nvSpPr>
          <p:cNvPr name="TextBox 7" id="7"/>
          <p:cNvSpPr txBox="true"/>
          <p:nvPr/>
        </p:nvSpPr>
        <p:spPr>
          <a:xfrm rot="0">
            <a:off x="936575" y="2038053"/>
            <a:ext cx="16414849" cy="941785"/>
          </a:xfrm>
          <a:prstGeom prst="rect">
            <a:avLst/>
          </a:prstGeom>
        </p:spPr>
        <p:txBody>
          <a:bodyPr anchor="t" rtlCol="false" tIns="0" lIns="0" bIns="0" rIns="0">
            <a:spAutoFit/>
          </a:bodyPr>
          <a:lstStyle/>
          <a:p>
            <a:pPr algn="l">
              <a:lnSpc>
                <a:spcPts val="3312"/>
              </a:lnSpc>
            </a:pPr>
            <a:r>
              <a:rPr lang="en-US" sz="2062" b="true">
                <a:solidFill>
                  <a:srgbClr val="F4CAB8"/>
                </a:solidFill>
                <a:latin typeface="Montserrat Medium"/>
                <a:ea typeface="Montserrat Medium"/>
                <a:cs typeface="Montserrat Medium"/>
                <a:sym typeface="Montserrat Medium"/>
              </a:rPr>
              <a:t>Our proposed system leverages blockchain and QR code technology to create a robust and transparent authentication solution, directly addressing the vulnerabilities of existing methods.</a:t>
            </a:r>
          </a:p>
        </p:txBody>
      </p:sp>
      <p:sp>
        <p:nvSpPr>
          <p:cNvPr name="TextBox 8" id="8"/>
          <p:cNvSpPr txBox="true"/>
          <p:nvPr/>
        </p:nvSpPr>
        <p:spPr>
          <a:xfrm rot="0">
            <a:off x="936575" y="3185666"/>
            <a:ext cx="267592" cy="429666"/>
          </a:xfrm>
          <a:prstGeom prst="rect">
            <a:avLst/>
          </a:prstGeom>
        </p:spPr>
        <p:txBody>
          <a:bodyPr anchor="t" rtlCol="false" tIns="0" lIns="0" bIns="0" rIns="0">
            <a:spAutoFit/>
          </a:bodyPr>
          <a:lstStyle/>
          <a:p>
            <a:pPr algn="l">
              <a:lnSpc>
                <a:spcPts val="3312"/>
              </a:lnSpc>
            </a:pPr>
            <a:r>
              <a:rPr lang="en-US" sz="2062">
                <a:solidFill>
                  <a:srgbClr val="F4CAB8"/>
                </a:solidFill>
                <a:latin typeface="Arimo"/>
                <a:ea typeface="Arimo"/>
                <a:cs typeface="Arimo"/>
                <a:sym typeface="Arimo"/>
              </a:rPr>
              <a:t>01</a:t>
            </a:r>
          </a:p>
        </p:txBody>
      </p:sp>
      <p:grpSp>
        <p:nvGrpSpPr>
          <p:cNvPr name="Group 9" id="9"/>
          <p:cNvGrpSpPr/>
          <p:nvPr/>
        </p:nvGrpSpPr>
        <p:grpSpPr>
          <a:xfrm rot="0">
            <a:off x="936575" y="3697486"/>
            <a:ext cx="5293221" cy="38100"/>
            <a:chOff x="0" y="0"/>
            <a:chExt cx="7057628" cy="50800"/>
          </a:xfrm>
        </p:grpSpPr>
        <p:sp>
          <p:nvSpPr>
            <p:cNvPr name="Freeform 10" id="10"/>
            <p:cNvSpPr/>
            <p:nvPr/>
          </p:nvSpPr>
          <p:spPr>
            <a:xfrm flipH="false" flipV="false" rot="0">
              <a:off x="0" y="0"/>
              <a:ext cx="7057644" cy="50800"/>
            </a:xfrm>
            <a:custGeom>
              <a:avLst/>
              <a:gdLst/>
              <a:ahLst/>
              <a:cxnLst/>
              <a:rect r="r" b="b" t="t" l="l"/>
              <a:pathLst>
                <a:path h="50800" w="7057644">
                  <a:moveTo>
                    <a:pt x="0" y="0"/>
                  </a:moveTo>
                  <a:lnTo>
                    <a:pt x="7057644" y="0"/>
                  </a:lnTo>
                  <a:lnTo>
                    <a:pt x="7057644" y="50800"/>
                  </a:lnTo>
                  <a:lnTo>
                    <a:pt x="0" y="50800"/>
                  </a:lnTo>
                  <a:close/>
                </a:path>
              </a:pathLst>
            </a:custGeom>
            <a:solidFill>
              <a:srgbClr val="FFB393"/>
            </a:solidFill>
            <a:ln w="12700">
              <a:solidFill>
                <a:srgbClr val="000000"/>
              </a:solidFill>
            </a:ln>
          </p:spPr>
        </p:sp>
      </p:grpSp>
      <p:sp>
        <p:nvSpPr>
          <p:cNvPr name="TextBox 11" id="11"/>
          <p:cNvSpPr txBox="true"/>
          <p:nvPr/>
        </p:nvSpPr>
        <p:spPr>
          <a:xfrm rot="0">
            <a:off x="936575" y="3859857"/>
            <a:ext cx="4914156" cy="493662"/>
          </a:xfrm>
          <a:prstGeom prst="rect">
            <a:avLst/>
          </a:prstGeom>
        </p:spPr>
        <p:txBody>
          <a:bodyPr anchor="t" rtlCol="false" tIns="0" lIns="0" bIns="0" rIns="0">
            <a:spAutoFit/>
          </a:bodyPr>
          <a:lstStyle/>
          <a:p>
            <a:pPr algn="l">
              <a:lnSpc>
                <a:spcPts val="3500"/>
              </a:lnSpc>
            </a:pPr>
            <a:r>
              <a:rPr lang="en-US" sz="2750" b="true">
                <a:solidFill>
                  <a:srgbClr val="F4CAB8"/>
                </a:solidFill>
                <a:latin typeface="Arimo Bold"/>
                <a:ea typeface="Arimo Bold"/>
                <a:cs typeface="Arimo Bold"/>
                <a:sym typeface="Arimo Bold"/>
              </a:rPr>
              <a:t>Unique QR Code Assignment</a:t>
            </a:r>
          </a:p>
        </p:txBody>
      </p:sp>
      <p:sp>
        <p:nvSpPr>
          <p:cNvPr name="TextBox 12" id="12"/>
          <p:cNvSpPr txBox="true"/>
          <p:nvPr/>
        </p:nvSpPr>
        <p:spPr>
          <a:xfrm rot="0">
            <a:off x="936575" y="4428233"/>
            <a:ext cx="5293221" cy="1369814"/>
          </a:xfrm>
          <a:prstGeom prst="rect">
            <a:avLst/>
          </a:prstGeom>
        </p:spPr>
        <p:txBody>
          <a:bodyPr anchor="t" rtlCol="false" tIns="0" lIns="0" bIns="0" rIns="0">
            <a:spAutoFit/>
          </a:bodyPr>
          <a:lstStyle/>
          <a:p>
            <a:pPr algn="l">
              <a:lnSpc>
                <a:spcPts val="3312"/>
              </a:lnSpc>
            </a:pPr>
            <a:r>
              <a:rPr lang="en-US" sz="2062" b="true">
                <a:solidFill>
                  <a:srgbClr val="F4CAB8"/>
                </a:solidFill>
                <a:latin typeface="Montserrat Medium"/>
                <a:ea typeface="Montserrat Medium"/>
                <a:cs typeface="Montserrat Medium"/>
                <a:sym typeface="Montserrat Medium"/>
              </a:rPr>
              <a:t>Each product is assigned a unique, blockchain-generated QR code, serving as its digital identity.</a:t>
            </a:r>
          </a:p>
        </p:txBody>
      </p:sp>
      <p:sp>
        <p:nvSpPr>
          <p:cNvPr name="TextBox 13" id="13"/>
          <p:cNvSpPr txBox="true"/>
          <p:nvPr/>
        </p:nvSpPr>
        <p:spPr>
          <a:xfrm rot="0">
            <a:off x="6497390" y="3185666"/>
            <a:ext cx="267592" cy="429666"/>
          </a:xfrm>
          <a:prstGeom prst="rect">
            <a:avLst/>
          </a:prstGeom>
        </p:spPr>
        <p:txBody>
          <a:bodyPr anchor="t" rtlCol="false" tIns="0" lIns="0" bIns="0" rIns="0">
            <a:spAutoFit/>
          </a:bodyPr>
          <a:lstStyle/>
          <a:p>
            <a:pPr algn="l">
              <a:lnSpc>
                <a:spcPts val="3312"/>
              </a:lnSpc>
            </a:pPr>
            <a:r>
              <a:rPr lang="en-US" sz="2062">
                <a:solidFill>
                  <a:srgbClr val="F4CAB8"/>
                </a:solidFill>
                <a:latin typeface="Arimo"/>
                <a:ea typeface="Arimo"/>
                <a:cs typeface="Arimo"/>
                <a:sym typeface="Arimo"/>
              </a:rPr>
              <a:t>02</a:t>
            </a:r>
          </a:p>
        </p:txBody>
      </p:sp>
      <p:grpSp>
        <p:nvGrpSpPr>
          <p:cNvPr name="Group 14" id="14"/>
          <p:cNvGrpSpPr/>
          <p:nvPr/>
        </p:nvGrpSpPr>
        <p:grpSpPr>
          <a:xfrm rot="0">
            <a:off x="6497390" y="3697486"/>
            <a:ext cx="5293221" cy="38100"/>
            <a:chOff x="0" y="0"/>
            <a:chExt cx="7057628" cy="50800"/>
          </a:xfrm>
        </p:grpSpPr>
        <p:sp>
          <p:nvSpPr>
            <p:cNvPr name="Freeform 15" id="15"/>
            <p:cNvSpPr/>
            <p:nvPr/>
          </p:nvSpPr>
          <p:spPr>
            <a:xfrm flipH="false" flipV="false" rot="0">
              <a:off x="0" y="0"/>
              <a:ext cx="7057644" cy="50800"/>
            </a:xfrm>
            <a:custGeom>
              <a:avLst/>
              <a:gdLst/>
              <a:ahLst/>
              <a:cxnLst/>
              <a:rect r="r" b="b" t="t" l="l"/>
              <a:pathLst>
                <a:path h="50800" w="7057644">
                  <a:moveTo>
                    <a:pt x="0" y="0"/>
                  </a:moveTo>
                  <a:lnTo>
                    <a:pt x="7057644" y="0"/>
                  </a:lnTo>
                  <a:lnTo>
                    <a:pt x="7057644" y="50800"/>
                  </a:lnTo>
                  <a:lnTo>
                    <a:pt x="0" y="50800"/>
                  </a:lnTo>
                  <a:close/>
                </a:path>
              </a:pathLst>
            </a:custGeom>
            <a:solidFill>
              <a:srgbClr val="FFB393"/>
            </a:solidFill>
            <a:ln w="12700">
              <a:solidFill>
                <a:srgbClr val="000000"/>
              </a:solidFill>
            </a:ln>
          </p:spPr>
        </p:sp>
      </p:grpSp>
      <p:sp>
        <p:nvSpPr>
          <p:cNvPr name="TextBox 16" id="16"/>
          <p:cNvSpPr txBox="true"/>
          <p:nvPr/>
        </p:nvSpPr>
        <p:spPr>
          <a:xfrm rot="0">
            <a:off x="6497390" y="3859857"/>
            <a:ext cx="4051547" cy="493662"/>
          </a:xfrm>
          <a:prstGeom prst="rect">
            <a:avLst/>
          </a:prstGeom>
        </p:spPr>
        <p:txBody>
          <a:bodyPr anchor="t" rtlCol="false" tIns="0" lIns="0" bIns="0" rIns="0">
            <a:spAutoFit/>
          </a:bodyPr>
          <a:lstStyle/>
          <a:p>
            <a:pPr algn="l">
              <a:lnSpc>
                <a:spcPts val="3500"/>
              </a:lnSpc>
            </a:pPr>
            <a:r>
              <a:rPr lang="en-US" sz="2750" b="true">
                <a:solidFill>
                  <a:srgbClr val="F4CAB8"/>
                </a:solidFill>
                <a:latin typeface="Arimo Bold"/>
                <a:ea typeface="Arimo Bold"/>
                <a:cs typeface="Arimo Bold"/>
                <a:sym typeface="Arimo Bold"/>
              </a:rPr>
              <a:t>Secure Data Immersion</a:t>
            </a:r>
          </a:p>
        </p:txBody>
      </p:sp>
      <p:sp>
        <p:nvSpPr>
          <p:cNvPr name="TextBox 17" id="17"/>
          <p:cNvSpPr txBox="true"/>
          <p:nvPr/>
        </p:nvSpPr>
        <p:spPr>
          <a:xfrm rot="0">
            <a:off x="6497390" y="4428233"/>
            <a:ext cx="5293221" cy="1797844"/>
          </a:xfrm>
          <a:prstGeom prst="rect">
            <a:avLst/>
          </a:prstGeom>
        </p:spPr>
        <p:txBody>
          <a:bodyPr anchor="t" rtlCol="false" tIns="0" lIns="0" bIns="0" rIns="0">
            <a:spAutoFit/>
          </a:bodyPr>
          <a:lstStyle/>
          <a:p>
            <a:pPr algn="l">
              <a:lnSpc>
                <a:spcPts val="3312"/>
              </a:lnSpc>
            </a:pPr>
            <a:r>
              <a:rPr lang="en-US" sz="2062" b="true">
                <a:solidFill>
                  <a:srgbClr val="F4CAB8"/>
                </a:solidFill>
                <a:latin typeface="Montserrat Medium"/>
                <a:ea typeface="Montserrat Medium"/>
                <a:cs typeface="Montserrat Medium"/>
                <a:sym typeface="Montserrat Medium"/>
              </a:rPr>
              <a:t>Critical product information, including source and ownership history, is immutably recorded on the blockchain via the QR code.</a:t>
            </a:r>
          </a:p>
        </p:txBody>
      </p:sp>
      <p:sp>
        <p:nvSpPr>
          <p:cNvPr name="TextBox 18" id="18"/>
          <p:cNvSpPr txBox="true"/>
          <p:nvPr/>
        </p:nvSpPr>
        <p:spPr>
          <a:xfrm rot="0">
            <a:off x="12058204" y="3185666"/>
            <a:ext cx="267592" cy="429666"/>
          </a:xfrm>
          <a:prstGeom prst="rect">
            <a:avLst/>
          </a:prstGeom>
        </p:spPr>
        <p:txBody>
          <a:bodyPr anchor="t" rtlCol="false" tIns="0" lIns="0" bIns="0" rIns="0">
            <a:spAutoFit/>
          </a:bodyPr>
          <a:lstStyle/>
          <a:p>
            <a:pPr algn="l">
              <a:lnSpc>
                <a:spcPts val="3312"/>
              </a:lnSpc>
            </a:pPr>
            <a:r>
              <a:rPr lang="en-US" sz="2062">
                <a:solidFill>
                  <a:srgbClr val="F4CAB8"/>
                </a:solidFill>
                <a:latin typeface="Arimo"/>
                <a:ea typeface="Arimo"/>
                <a:cs typeface="Arimo"/>
                <a:sym typeface="Arimo"/>
              </a:rPr>
              <a:t>03</a:t>
            </a:r>
          </a:p>
        </p:txBody>
      </p:sp>
      <p:grpSp>
        <p:nvGrpSpPr>
          <p:cNvPr name="Group 19" id="19"/>
          <p:cNvGrpSpPr/>
          <p:nvPr/>
        </p:nvGrpSpPr>
        <p:grpSpPr>
          <a:xfrm rot="0">
            <a:off x="12058204" y="3697486"/>
            <a:ext cx="5293221" cy="38100"/>
            <a:chOff x="0" y="0"/>
            <a:chExt cx="7057628" cy="50800"/>
          </a:xfrm>
        </p:grpSpPr>
        <p:sp>
          <p:nvSpPr>
            <p:cNvPr name="Freeform 20" id="20"/>
            <p:cNvSpPr/>
            <p:nvPr/>
          </p:nvSpPr>
          <p:spPr>
            <a:xfrm flipH="false" flipV="false" rot="0">
              <a:off x="0" y="0"/>
              <a:ext cx="7057644" cy="50800"/>
            </a:xfrm>
            <a:custGeom>
              <a:avLst/>
              <a:gdLst/>
              <a:ahLst/>
              <a:cxnLst/>
              <a:rect r="r" b="b" t="t" l="l"/>
              <a:pathLst>
                <a:path h="50800" w="7057644">
                  <a:moveTo>
                    <a:pt x="0" y="0"/>
                  </a:moveTo>
                  <a:lnTo>
                    <a:pt x="7057644" y="0"/>
                  </a:lnTo>
                  <a:lnTo>
                    <a:pt x="7057644" y="50800"/>
                  </a:lnTo>
                  <a:lnTo>
                    <a:pt x="0" y="50800"/>
                  </a:lnTo>
                  <a:close/>
                </a:path>
              </a:pathLst>
            </a:custGeom>
            <a:solidFill>
              <a:srgbClr val="FFB393"/>
            </a:solidFill>
            <a:ln w="12700">
              <a:solidFill>
                <a:srgbClr val="000000"/>
              </a:solidFill>
            </a:ln>
          </p:spPr>
        </p:sp>
      </p:grpSp>
      <p:sp>
        <p:nvSpPr>
          <p:cNvPr name="TextBox 21" id="21"/>
          <p:cNvSpPr txBox="true"/>
          <p:nvPr/>
        </p:nvSpPr>
        <p:spPr>
          <a:xfrm rot="0">
            <a:off x="12058204" y="3859857"/>
            <a:ext cx="4481512" cy="493662"/>
          </a:xfrm>
          <a:prstGeom prst="rect">
            <a:avLst/>
          </a:prstGeom>
        </p:spPr>
        <p:txBody>
          <a:bodyPr anchor="t" rtlCol="false" tIns="0" lIns="0" bIns="0" rIns="0">
            <a:spAutoFit/>
          </a:bodyPr>
          <a:lstStyle/>
          <a:p>
            <a:pPr algn="l">
              <a:lnSpc>
                <a:spcPts val="3500"/>
              </a:lnSpc>
            </a:pPr>
            <a:r>
              <a:rPr lang="en-US" sz="2750" b="true">
                <a:solidFill>
                  <a:srgbClr val="F4CAB8"/>
                </a:solidFill>
                <a:latin typeface="Arimo Bold"/>
                <a:ea typeface="Arimo Bold"/>
                <a:cs typeface="Arimo Bold"/>
                <a:sym typeface="Arimo Bold"/>
              </a:rPr>
              <a:t>Instant Buyer Verification</a:t>
            </a:r>
          </a:p>
        </p:txBody>
      </p:sp>
      <p:sp>
        <p:nvSpPr>
          <p:cNvPr name="TextBox 22" id="22"/>
          <p:cNvSpPr txBox="true"/>
          <p:nvPr/>
        </p:nvSpPr>
        <p:spPr>
          <a:xfrm rot="0">
            <a:off x="12058204" y="4428233"/>
            <a:ext cx="5293221" cy="1797844"/>
          </a:xfrm>
          <a:prstGeom prst="rect">
            <a:avLst/>
          </a:prstGeom>
        </p:spPr>
        <p:txBody>
          <a:bodyPr anchor="t" rtlCol="false" tIns="0" lIns="0" bIns="0" rIns="0">
            <a:spAutoFit/>
          </a:bodyPr>
          <a:lstStyle/>
          <a:p>
            <a:pPr algn="l">
              <a:lnSpc>
                <a:spcPts val="3312"/>
              </a:lnSpc>
            </a:pPr>
            <a:r>
              <a:rPr lang="en-US" sz="2062" b="true">
                <a:solidFill>
                  <a:srgbClr val="F4CAB8"/>
                </a:solidFill>
                <a:latin typeface="Montserrat Medium"/>
                <a:ea typeface="Montserrat Medium"/>
                <a:cs typeface="Montserrat Medium"/>
                <a:sym typeface="Montserrat Medium"/>
              </a:rPr>
              <a:t>Consumers can scan the QR code to instantly access comprehensive product details and verify authenticity, empowering informed decisions.</a:t>
            </a:r>
          </a:p>
        </p:txBody>
      </p:sp>
      <p:sp>
        <p:nvSpPr>
          <p:cNvPr name="TextBox 23" id="23"/>
          <p:cNvSpPr txBox="true"/>
          <p:nvPr/>
        </p:nvSpPr>
        <p:spPr>
          <a:xfrm rot="0">
            <a:off x="936575" y="6599039"/>
            <a:ext cx="267592" cy="429666"/>
          </a:xfrm>
          <a:prstGeom prst="rect">
            <a:avLst/>
          </a:prstGeom>
        </p:spPr>
        <p:txBody>
          <a:bodyPr anchor="t" rtlCol="false" tIns="0" lIns="0" bIns="0" rIns="0">
            <a:spAutoFit/>
          </a:bodyPr>
          <a:lstStyle/>
          <a:p>
            <a:pPr algn="l">
              <a:lnSpc>
                <a:spcPts val="3312"/>
              </a:lnSpc>
            </a:pPr>
            <a:r>
              <a:rPr lang="en-US" sz="2062">
                <a:solidFill>
                  <a:srgbClr val="F4CAB8"/>
                </a:solidFill>
                <a:latin typeface="Arimo"/>
                <a:ea typeface="Arimo"/>
                <a:cs typeface="Arimo"/>
                <a:sym typeface="Arimo"/>
              </a:rPr>
              <a:t>04</a:t>
            </a:r>
          </a:p>
        </p:txBody>
      </p:sp>
      <p:grpSp>
        <p:nvGrpSpPr>
          <p:cNvPr name="Group 24" id="24"/>
          <p:cNvGrpSpPr/>
          <p:nvPr/>
        </p:nvGrpSpPr>
        <p:grpSpPr>
          <a:xfrm rot="0">
            <a:off x="936575" y="7110859"/>
            <a:ext cx="8073629" cy="38100"/>
            <a:chOff x="0" y="0"/>
            <a:chExt cx="10764838" cy="50800"/>
          </a:xfrm>
        </p:grpSpPr>
        <p:sp>
          <p:nvSpPr>
            <p:cNvPr name="Freeform 25" id="25"/>
            <p:cNvSpPr/>
            <p:nvPr/>
          </p:nvSpPr>
          <p:spPr>
            <a:xfrm flipH="false" flipV="false" rot="0">
              <a:off x="0" y="0"/>
              <a:ext cx="10764901" cy="50800"/>
            </a:xfrm>
            <a:custGeom>
              <a:avLst/>
              <a:gdLst/>
              <a:ahLst/>
              <a:cxnLst/>
              <a:rect r="r" b="b" t="t" l="l"/>
              <a:pathLst>
                <a:path h="50800" w="10764901">
                  <a:moveTo>
                    <a:pt x="0" y="0"/>
                  </a:moveTo>
                  <a:lnTo>
                    <a:pt x="10764901" y="0"/>
                  </a:lnTo>
                  <a:lnTo>
                    <a:pt x="10764901" y="50800"/>
                  </a:lnTo>
                  <a:lnTo>
                    <a:pt x="0" y="50800"/>
                  </a:lnTo>
                  <a:close/>
                </a:path>
              </a:pathLst>
            </a:custGeom>
            <a:solidFill>
              <a:srgbClr val="FFB393"/>
            </a:solidFill>
            <a:ln w="12700">
              <a:solidFill>
                <a:srgbClr val="000000"/>
              </a:solidFill>
            </a:ln>
          </p:spPr>
        </p:sp>
      </p:grpSp>
      <p:sp>
        <p:nvSpPr>
          <p:cNvPr name="TextBox 26" id="26"/>
          <p:cNvSpPr txBox="true"/>
          <p:nvPr/>
        </p:nvSpPr>
        <p:spPr>
          <a:xfrm rot="0">
            <a:off x="936575" y="7273230"/>
            <a:ext cx="4018360" cy="493663"/>
          </a:xfrm>
          <a:prstGeom prst="rect">
            <a:avLst/>
          </a:prstGeom>
        </p:spPr>
        <p:txBody>
          <a:bodyPr anchor="t" rtlCol="false" tIns="0" lIns="0" bIns="0" rIns="0">
            <a:spAutoFit/>
          </a:bodyPr>
          <a:lstStyle/>
          <a:p>
            <a:pPr algn="l">
              <a:lnSpc>
                <a:spcPts val="3500"/>
              </a:lnSpc>
            </a:pPr>
            <a:r>
              <a:rPr lang="en-US" sz="2750" b="true">
                <a:solidFill>
                  <a:srgbClr val="F4CAB8"/>
                </a:solidFill>
                <a:latin typeface="Arimo Bold"/>
                <a:ea typeface="Arimo Bold"/>
                <a:cs typeface="Arimo Bold"/>
                <a:sym typeface="Arimo Bold"/>
              </a:rPr>
              <a:t>Tamper-Proof Integrity</a:t>
            </a:r>
          </a:p>
        </p:txBody>
      </p:sp>
      <p:sp>
        <p:nvSpPr>
          <p:cNvPr name="TextBox 27" id="27"/>
          <p:cNvSpPr txBox="true"/>
          <p:nvPr/>
        </p:nvSpPr>
        <p:spPr>
          <a:xfrm rot="0">
            <a:off x="936575" y="7841605"/>
            <a:ext cx="8073629" cy="1369814"/>
          </a:xfrm>
          <a:prstGeom prst="rect">
            <a:avLst/>
          </a:prstGeom>
        </p:spPr>
        <p:txBody>
          <a:bodyPr anchor="t" rtlCol="false" tIns="0" lIns="0" bIns="0" rIns="0">
            <a:spAutoFit/>
          </a:bodyPr>
          <a:lstStyle/>
          <a:p>
            <a:pPr algn="l">
              <a:lnSpc>
                <a:spcPts val="3312"/>
              </a:lnSpc>
            </a:pPr>
            <a:r>
              <a:rPr lang="en-US" sz="2062" b="true">
                <a:solidFill>
                  <a:srgbClr val="F4CAB8"/>
                </a:solidFill>
                <a:latin typeface="Montserrat Medium"/>
                <a:ea typeface="Montserrat Medium"/>
                <a:cs typeface="Montserrat Medium"/>
                <a:sym typeface="Montserrat Medium"/>
              </a:rPr>
              <a:t>Blockchain technology guarantees the integrity of all stored data, preventing unauthorized alterations and ensuring trust.</a:t>
            </a:r>
          </a:p>
        </p:txBody>
      </p:sp>
      <p:sp>
        <p:nvSpPr>
          <p:cNvPr name="TextBox 28" id="28"/>
          <p:cNvSpPr txBox="true"/>
          <p:nvPr/>
        </p:nvSpPr>
        <p:spPr>
          <a:xfrm rot="0">
            <a:off x="9277796" y="6599039"/>
            <a:ext cx="267592" cy="429666"/>
          </a:xfrm>
          <a:prstGeom prst="rect">
            <a:avLst/>
          </a:prstGeom>
        </p:spPr>
        <p:txBody>
          <a:bodyPr anchor="t" rtlCol="false" tIns="0" lIns="0" bIns="0" rIns="0">
            <a:spAutoFit/>
          </a:bodyPr>
          <a:lstStyle/>
          <a:p>
            <a:pPr algn="l">
              <a:lnSpc>
                <a:spcPts val="3312"/>
              </a:lnSpc>
            </a:pPr>
            <a:r>
              <a:rPr lang="en-US" sz="2062">
                <a:solidFill>
                  <a:srgbClr val="F4CAB8"/>
                </a:solidFill>
                <a:latin typeface="Arimo"/>
                <a:ea typeface="Arimo"/>
                <a:cs typeface="Arimo"/>
                <a:sym typeface="Arimo"/>
              </a:rPr>
              <a:t>05</a:t>
            </a:r>
          </a:p>
        </p:txBody>
      </p:sp>
      <p:grpSp>
        <p:nvGrpSpPr>
          <p:cNvPr name="Group 29" id="29"/>
          <p:cNvGrpSpPr/>
          <p:nvPr/>
        </p:nvGrpSpPr>
        <p:grpSpPr>
          <a:xfrm rot="0">
            <a:off x="9277796" y="7110859"/>
            <a:ext cx="8073629" cy="38100"/>
            <a:chOff x="0" y="0"/>
            <a:chExt cx="10764838" cy="50800"/>
          </a:xfrm>
        </p:grpSpPr>
        <p:sp>
          <p:nvSpPr>
            <p:cNvPr name="Freeform 30" id="30"/>
            <p:cNvSpPr/>
            <p:nvPr/>
          </p:nvSpPr>
          <p:spPr>
            <a:xfrm flipH="false" flipV="false" rot="0">
              <a:off x="0" y="0"/>
              <a:ext cx="10764901" cy="50800"/>
            </a:xfrm>
            <a:custGeom>
              <a:avLst/>
              <a:gdLst/>
              <a:ahLst/>
              <a:cxnLst/>
              <a:rect r="r" b="b" t="t" l="l"/>
              <a:pathLst>
                <a:path h="50800" w="10764901">
                  <a:moveTo>
                    <a:pt x="0" y="0"/>
                  </a:moveTo>
                  <a:lnTo>
                    <a:pt x="10764901" y="0"/>
                  </a:lnTo>
                  <a:lnTo>
                    <a:pt x="10764901" y="50800"/>
                  </a:lnTo>
                  <a:lnTo>
                    <a:pt x="0" y="50800"/>
                  </a:lnTo>
                  <a:close/>
                </a:path>
              </a:pathLst>
            </a:custGeom>
            <a:solidFill>
              <a:srgbClr val="FFB393"/>
            </a:solidFill>
            <a:ln w="12700">
              <a:solidFill>
                <a:srgbClr val="000000"/>
              </a:solidFill>
            </a:ln>
          </p:spPr>
        </p:sp>
      </p:grpSp>
      <p:sp>
        <p:nvSpPr>
          <p:cNvPr name="TextBox 31" id="31"/>
          <p:cNvSpPr txBox="true"/>
          <p:nvPr/>
        </p:nvSpPr>
        <p:spPr>
          <a:xfrm rot="0">
            <a:off x="9277796" y="7273230"/>
            <a:ext cx="4472880" cy="493663"/>
          </a:xfrm>
          <a:prstGeom prst="rect">
            <a:avLst/>
          </a:prstGeom>
        </p:spPr>
        <p:txBody>
          <a:bodyPr anchor="t" rtlCol="false" tIns="0" lIns="0" bIns="0" rIns="0">
            <a:spAutoFit/>
          </a:bodyPr>
          <a:lstStyle/>
          <a:p>
            <a:pPr algn="l">
              <a:lnSpc>
                <a:spcPts val="3500"/>
              </a:lnSpc>
            </a:pPr>
            <a:r>
              <a:rPr lang="en-US" sz="2750" b="true">
                <a:solidFill>
                  <a:srgbClr val="F4CAB8"/>
                </a:solidFill>
                <a:latin typeface="Arimo Bold"/>
                <a:ea typeface="Arimo Bold"/>
                <a:cs typeface="Arimo Bold"/>
                <a:sym typeface="Arimo Bold"/>
              </a:rPr>
              <a:t>Counterfeit Identification</a:t>
            </a:r>
          </a:p>
        </p:txBody>
      </p:sp>
      <p:sp>
        <p:nvSpPr>
          <p:cNvPr name="TextBox 32" id="32"/>
          <p:cNvSpPr txBox="true"/>
          <p:nvPr/>
        </p:nvSpPr>
        <p:spPr>
          <a:xfrm rot="0">
            <a:off x="9277796" y="7841605"/>
            <a:ext cx="8073629" cy="1369814"/>
          </a:xfrm>
          <a:prstGeom prst="rect">
            <a:avLst/>
          </a:prstGeom>
        </p:spPr>
        <p:txBody>
          <a:bodyPr anchor="t" rtlCol="false" tIns="0" lIns="0" bIns="0" rIns="0">
            <a:spAutoFit/>
          </a:bodyPr>
          <a:lstStyle/>
          <a:p>
            <a:pPr algn="l">
              <a:lnSpc>
                <a:spcPts val="3312"/>
              </a:lnSpc>
            </a:pPr>
            <a:r>
              <a:rPr lang="en-US" sz="2062" b="true">
                <a:solidFill>
                  <a:srgbClr val="F4CAB8"/>
                </a:solidFill>
                <a:latin typeface="Montserrat Medium"/>
                <a:ea typeface="Montserrat Medium"/>
                <a:cs typeface="Montserrat Medium"/>
                <a:sym typeface="Montserrat Medium"/>
              </a:rPr>
              <a:t>The system effectively identifies counterfeit products, enhancing market transparency and building consumer confidence.</a:t>
            </a:r>
          </a:p>
        </p:txBody>
      </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421424"/>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5C2438"/>
            </a:solidFill>
            <a:ln w="12700">
              <a:solidFill>
                <a:srgbClr val="000000"/>
              </a:solidFill>
            </a:ln>
          </p:spPr>
        </p:sp>
      </p:grpSp>
      <p:sp>
        <p:nvSpPr>
          <p:cNvPr name="TextBox 6" id="6"/>
          <p:cNvSpPr txBox="true"/>
          <p:nvPr/>
        </p:nvSpPr>
        <p:spPr>
          <a:xfrm rot="0">
            <a:off x="936575" y="2591991"/>
            <a:ext cx="5709345" cy="751731"/>
          </a:xfrm>
          <a:prstGeom prst="rect">
            <a:avLst/>
          </a:prstGeom>
        </p:spPr>
        <p:txBody>
          <a:bodyPr anchor="t" rtlCol="false" tIns="0" lIns="0" bIns="0" rIns="0">
            <a:spAutoFit/>
          </a:bodyPr>
          <a:lstStyle/>
          <a:p>
            <a:pPr algn="l">
              <a:lnSpc>
                <a:spcPts val="5562"/>
              </a:lnSpc>
            </a:pPr>
            <a:r>
              <a:rPr lang="en-US" sz="4437" b="true">
                <a:solidFill>
                  <a:srgbClr val="FFB393"/>
                </a:solidFill>
                <a:latin typeface="Arimo Bold"/>
                <a:ea typeface="Arimo Bold"/>
                <a:cs typeface="Arimo Bold"/>
                <a:sym typeface="Arimo Bold"/>
              </a:rPr>
              <a:t> Advantages </a:t>
            </a:r>
          </a:p>
        </p:txBody>
      </p:sp>
      <p:sp>
        <p:nvSpPr>
          <p:cNvPr name="Freeform 7" id="7" descr="preencoded.png"/>
          <p:cNvSpPr/>
          <p:nvPr/>
        </p:nvSpPr>
        <p:spPr>
          <a:xfrm flipH="false" flipV="false" rot="0">
            <a:off x="936575" y="3878907"/>
            <a:ext cx="668983" cy="668982"/>
          </a:xfrm>
          <a:custGeom>
            <a:avLst/>
            <a:gdLst/>
            <a:ahLst/>
            <a:cxnLst/>
            <a:rect r="r" b="b" t="t" l="l"/>
            <a:pathLst>
              <a:path h="668982" w="668983">
                <a:moveTo>
                  <a:pt x="0" y="0"/>
                </a:moveTo>
                <a:lnTo>
                  <a:pt x="668983" y="0"/>
                </a:lnTo>
                <a:lnTo>
                  <a:pt x="668983" y="668983"/>
                </a:lnTo>
                <a:lnTo>
                  <a:pt x="0" y="668983"/>
                </a:lnTo>
                <a:lnTo>
                  <a:pt x="0" y="0"/>
                </a:lnTo>
                <a:close/>
              </a:path>
            </a:pathLst>
          </a:custGeom>
          <a:blipFill>
            <a:blip r:embed="rId2">
              <a:extLst>
                <a:ext uri="{96DAC541-7B7A-43D3-8B79-37D633B846F1}">
                  <asvg:svgBlip xmlns:asvg="http://schemas.microsoft.com/office/drawing/2016/SVG/main" r:embed="rId3"/>
                </a:ext>
              </a:extLst>
            </a:blip>
            <a:stretch>
              <a:fillRect l="-22535" t="0" r="-22535" b="0"/>
            </a:stretch>
          </a:blipFill>
        </p:spPr>
      </p:sp>
      <p:sp>
        <p:nvSpPr>
          <p:cNvPr name="TextBox 8" id="8"/>
          <p:cNvSpPr txBox="true"/>
          <p:nvPr/>
        </p:nvSpPr>
        <p:spPr>
          <a:xfrm rot="0">
            <a:off x="1939975" y="3990082"/>
            <a:ext cx="4719340" cy="493662"/>
          </a:xfrm>
          <a:prstGeom prst="rect">
            <a:avLst/>
          </a:prstGeom>
        </p:spPr>
        <p:txBody>
          <a:bodyPr anchor="t" rtlCol="false" tIns="0" lIns="0" bIns="0" rIns="0">
            <a:spAutoFit/>
          </a:bodyPr>
          <a:lstStyle/>
          <a:p>
            <a:pPr algn="l">
              <a:lnSpc>
                <a:spcPts val="3500"/>
              </a:lnSpc>
            </a:pPr>
            <a:r>
              <a:rPr lang="en-US" sz="2750" b="true">
                <a:solidFill>
                  <a:srgbClr val="F4CAB8"/>
                </a:solidFill>
                <a:latin typeface="Arimo Bold"/>
                <a:ea typeface="Arimo Bold"/>
                <a:cs typeface="Arimo Bold"/>
                <a:sym typeface="Arimo Bold"/>
              </a:rPr>
              <a:t>Immutable Product History</a:t>
            </a:r>
          </a:p>
        </p:txBody>
      </p:sp>
      <p:sp>
        <p:nvSpPr>
          <p:cNvPr name="TextBox 9" id="9"/>
          <p:cNvSpPr txBox="true"/>
          <p:nvPr/>
        </p:nvSpPr>
        <p:spPr>
          <a:xfrm rot="0">
            <a:off x="1939975" y="4558456"/>
            <a:ext cx="7036742" cy="941785"/>
          </a:xfrm>
          <a:prstGeom prst="rect">
            <a:avLst/>
          </a:prstGeom>
        </p:spPr>
        <p:txBody>
          <a:bodyPr anchor="t" rtlCol="false" tIns="0" lIns="0" bIns="0" rIns="0">
            <a:spAutoFit/>
          </a:bodyPr>
          <a:lstStyle/>
          <a:p>
            <a:pPr algn="l">
              <a:lnSpc>
                <a:spcPts val="3312"/>
              </a:lnSpc>
            </a:pPr>
            <a:r>
              <a:rPr lang="en-US" sz="2062" b="true">
                <a:solidFill>
                  <a:srgbClr val="F4CAB8"/>
                </a:solidFill>
                <a:latin typeface="Montserrat Medium"/>
                <a:ea typeface="Montserrat Medium"/>
                <a:cs typeface="Montserrat Medium"/>
                <a:sym typeface="Montserrat Medium"/>
              </a:rPr>
              <a:t>Data cannot be altered or deleted, creating a permanent and trustworthy record.</a:t>
            </a:r>
          </a:p>
        </p:txBody>
      </p:sp>
      <p:sp>
        <p:nvSpPr>
          <p:cNvPr name="Freeform 10" id="10" descr="preencoded.png"/>
          <p:cNvSpPr/>
          <p:nvPr/>
        </p:nvSpPr>
        <p:spPr>
          <a:xfrm flipH="false" flipV="false" rot="0">
            <a:off x="9311134" y="3878907"/>
            <a:ext cx="668983" cy="668982"/>
          </a:xfrm>
          <a:custGeom>
            <a:avLst/>
            <a:gdLst/>
            <a:ahLst/>
            <a:cxnLst/>
            <a:rect r="r" b="b" t="t" l="l"/>
            <a:pathLst>
              <a:path h="668982" w="668983">
                <a:moveTo>
                  <a:pt x="0" y="0"/>
                </a:moveTo>
                <a:lnTo>
                  <a:pt x="668982" y="0"/>
                </a:lnTo>
                <a:lnTo>
                  <a:pt x="668982" y="668983"/>
                </a:lnTo>
                <a:lnTo>
                  <a:pt x="0" y="668983"/>
                </a:lnTo>
                <a:lnTo>
                  <a:pt x="0" y="0"/>
                </a:lnTo>
                <a:close/>
              </a:path>
            </a:pathLst>
          </a:custGeom>
          <a:blipFill>
            <a:blip r:embed="rId4">
              <a:extLst>
                <a:ext uri="{96DAC541-7B7A-43D3-8B79-37D633B846F1}">
                  <asvg:svgBlip xmlns:asvg="http://schemas.microsoft.com/office/drawing/2016/SVG/main" r:embed="rId5"/>
                </a:ext>
              </a:extLst>
            </a:blip>
            <a:stretch>
              <a:fillRect l="0" t="-10563" r="0" b="-10563"/>
            </a:stretch>
          </a:blipFill>
        </p:spPr>
      </p:sp>
      <p:sp>
        <p:nvSpPr>
          <p:cNvPr name="TextBox 11" id="11"/>
          <p:cNvSpPr txBox="true"/>
          <p:nvPr/>
        </p:nvSpPr>
        <p:spPr>
          <a:xfrm rot="0">
            <a:off x="10314534" y="3990082"/>
            <a:ext cx="3568304" cy="493662"/>
          </a:xfrm>
          <a:prstGeom prst="rect">
            <a:avLst/>
          </a:prstGeom>
        </p:spPr>
        <p:txBody>
          <a:bodyPr anchor="t" rtlCol="false" tIns="0" lIns="0" bIns="0" rIns="0">
            <a:spAutoFit/>
          </a:bodyPr>
          <a:lstStyle/>
          <a:p>
            <a:pPr algn="l">
              <a:lnSpc>
                <a:spcPts val="3500"/>
              </a:lnSpc>
            </a:pPr>
            <a:r>
              <a:rPr lang="en-US" sz="2750" b="true">
                <a:solidFill>
                  <a:srgbClr val="F4CAB8"/>
                </a:solidFill>
                <a:latin typeface="Arimo Bold"/>
                <a:ea typeface="Arimo Bold"/>
                <a:cs typeface="Arimo Bold"/>
                <a:sym typeface="Arimo Bold"/>
              </a:rPr>
              <a:t>Real-time Tracking</a:t>
            </a:r>
          </a:p>
        </p:txBody>
      </p:sp>
      <p:sp>
        <p:nvSpPr>
          <p:cNvPr name="TextBox 12" id="12"/>
          <p:cNvSpPr txBox="true"/>
          <p:nvPr/>
        </p:nvSpPr>
        <p:spPr>
          <a:xfrm rot="0">
            <a:off x="10314534" y="4558456"/>
            <a:ext cx="7036891" cy="941785"/>
          </a:xfrm>
          <a:prstGeom prst="rect">
            <a:avLst/>
          </a:prstGeom>
        </p:spPr>
        <p:txBody>
          <a:bodyPr anchor="t" rtlCol="false" tIns="0" lIns="0" bIns="0" rIns="0">
            <a:spAutoFit/>
          </a:bodyPr>
          <a:lstStyle/>
          <a:p>
            <a:pPr algn="l">
              <a:lnSpc>
                <a:spcPts val="3312"/>
              </a:lnSpc>
            </a:pPr>
            <a:r>
              <a:rPr lang="en-US" sz="2062" b="true">
                <a:solidFill>
                  <a:srgbClr val="F4CAB8"/>
                </a:solidFill>
                <a:latin typeface="Montserrat Medium"/>
                <a:ea typeface="Montserrat Medium"/>
                <a:cs typeface="Montserrat Medium"/>
                <a:sym typeface="Montserrat Medium"/>
              </a:rPr>
              <a:t>Monitor product movement and status instantly across the entire supply chain.</a:t>
            </a:r>
          </a:p>
        </p:txBody>
      </p:sp>
      <p:sp>
        <p:nvSpPr>
          <p:cNvPr name="Freeform 13" id="13" descr="preencoded.png"/>
          <p:cNvSpPr/>
          <p:nvPr/>
        </p:nvSpPr>
        <p:spPr>
          <a:xfrm flipH="false" flipV="false" rot="0">
            <a:off x="936575" y="6035427"/>
            <a:ext cx="668983" cy="668982"/>
          </a:xfrm>
          <a:custGeom>
            <a:avLst/>
            <a:gdLst/>
            <a:ahLst/>
            <a:cxnLst/>
            <a:rect r="r" b="b" t="t" l="l"/>
            <a:pathLst>
              <a:path h="668982" w="668983">
                <a:moveTo>
                  <a:pt x="0" y="0"/>
                </a:moveTo>
                <a:lnTo>
                  <a:pt x="668983" y="0"/>
                </a:lnTo>
                <a:lnTo>
                  <a:pt x="668983" y="668983"/>
                </a:lnTo>
                <a:lnTo>
                  <a:pt x="0" y="66898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4" id="14"/>
          <p:cNvSpPr txBox="true"/>
          <p:nvPr/>
        </p:nvSpPr>
        <p:spPr>
          <a:xfrm rot="0">
            <a:off x="1939975" y="6146601"/>
            <a:ext cx="4018360" cy="493663"/>
          </a:xfrm>
          <a:prstGeom prst="rect">
            <a:avLst/>
          </a:prstGeom>
        </p:spPr>
        <p:txBody>
          <a:bodyPr anchor="t" rtlCol="false" tIns="0" lIns="0" bIns="0" rIns="0">
            <a:spAutoFit/>
          </a:bodyPr>
          <a:lstStyle/>
          <a:p>
            <a:pPr algn="l">
              <a:lnSpc>
                <a:spcPts val="3500"/>
              </a:lnSpc>
            </a:pPr>
            <a:r>
              <a:rPr lang="en-US" sz="2750" b="true">
                <a:solidFill>
                  <a:srgbClr val="F4CAB8"/>
                </a:solidFill>
                <a:latin typeface="Arimo Bold"/>
                <a:ea typeface="Arimo Bold"/>
                <a:cs typeface="Arimo Bold"/>
                <a:sym typeface="Arimo Bold"/>
              </a:rPr>
              <a:t>Tamper-Proof Integrity</a:t>
            </a:r>
          </a:p>
        </p:txBody>
      </p:sp>
      <p:sp>
        <p:nvSpPr>
          <p:cNvPr name="TextBox 15" id="15"/>
          <p:cNvSpPr txBox="true"/>
          <p:nvPr/>
        </p:nvSpPr>
        <p:spPr>
          <a:xfrm rot="0">
            <a:off x="1939975" y="6714976"/>
            <a:ext cx="7036742" cy="941785"/>
          </a:xfrm>
          <a:prstGeom prst="rect">
            <a:avLst/>
          </a:prstGeom>
        </p:spPr>
        <p:txBody>
          <a:bodyPr anchor="t" rtlCol="false" tIns="0" lIns="0" bIns="0" rIns="0">
            <a:spAutoFit/>
          </a:bodyPr>
          <a:lstStyle/>
          <a:p>
            <a:pPr algn="l">
              <a:lnSpc>
                <a:spcPts val="3312"/>
              </a:lnSpc>
            </a:pPr>
            <a:r>
              <a:rPr lang="en-US" sz="2062" b="true">
                <a:solidFill>
                  <a:srgbClr val="F4CAB8"/>
                </a:solidFill>
                <a:latin typeface="Montserrat Medium"/>
                <a:ea typeface="Montserrat Medium"/>
                <a:cs typeface="Montserrat Medium"/>
                <a:sym typeface="Montserrat Medium"/>
              </a:rPr>
              <a:t>Decentralized and cryptographic nature prevents unauthorized alteration or forgery.</a:t>
            </a:r>
          </a:p>
        </p:txBody>
      </p:sp>
      <p:sp>
        <p:nvSpPr>
          <p:cNvPr name="Freeform 16" id="16" descr="preencoded.png"/>
          <p:cNvSpPr/>
          <p:nvPr/>
        </p:nvSpPr>
        <p:spPr>
          <a:xfrm flipH="false" flipV="false" rot="0">
            <a:off x="9311134" y="6035427"/>
            <a:ext cx="668983" cy="668982"/>
          </a:xfrm>
          <a:custGeom>
            <a:avLst/>
            <a:gdLst/>
            <a:ahLst/>
            <a:cxnLst/>
            <a:rect r="r" b="b" t="t" l="l"/>
            <a:pathLst>
              <a:path h="668982" w="668983">
                <a:moveTo>
                  <a:pt x="0" y="0"/>
                </a:moveTo>
                <a:lnTo>
                  <a:pt x="668982" y="0"/>
                </a:lnTo>
                <a:lnTo>
                  <a:pt x="668982" y="668983"/>
                </a:lnTo>
                <a:lnTo>
                  <a:pt x="0" y="668983"/>
                </a:lnTo>
                <a:lnTo>
                  <a:pt x="0" y="0"/>
                </a:lnTo>
                <a:close/>
              </a:path>
            </a:pathLst>
          </a:custGeom>
          <a:blipFill>
            <a:blip r:embed="rId8">
              <a:extLst>
                <a:ext uri="{96DAC541-7B7A-43D3-8B79-37D633B846F1}">
                  <asvg:svgBlip xmlns:asvg="http://schemas.microsoft.com/office/drawing/2016/SVG/main" r:embed="rId9"/>
                </a:ext>
              </a:extLst>
            </a:blip>
            <a:stretch>
              <a:fillRect l="-4225" t="0" r="-4225" b="0"/>
            </a:stretch>
          </a:blipFill>
        </p:spPr>
      </p:sp>
      <p:sp>
        <p:nvSpPr>
          <p:cNvPr name="TextBox 17" id="17"/>
          <p:cNvSpPr txBox="true"/>
          <p:nvPr/>
        </p:nvSpPr>
        <p:spPr>
          <a:xfrm rot="0">
            <a:off x="10314534" y="6146601"/>
            <a:ext cx="4165401" cy="493663"/>
          </a:xfrm>
          <a:prstGeom prst="rect">
            <a:avLst/>
          </a:prstGeom>
        </p:spPr>
        <p:txBody>
          <a:bodyPr anchor="t" rtlCol="false" tIns="0" lIns="0" bIns="0" rIns="0">
            <a:spAutoFit/>
          </a:bodyPr>
          <a:lstStyle/>
          <a:p>
            <a:pPr algn="l">
              <a:lnSpc>
                <a:spcPts val="3500"/>
              </a:lnSpc>
            </a:pPr>
            <a:r>
              <a:rPr lang="en-US" sz="2750" b="true">
                <a:solidFill>
                  <a:srgbClr val="F4CAB8"/>
                </a:solidFill>
                <a:latin typeface="Arimo Bold"/>
                <a:ea typeface="Arimo Bold"/>
                <a:cs typeface="Arimo Bold"/>
                <a:sym typeface="Arimo Bold"/>
              </a:rPr>
              <a:t>Increased Transparency</a:t>
            </a:r>
          </a:p>
        </p:txBody>
      </p:sp>
      <p:sp>
        <p:nvSpPr>
          <p:cNvPr name="TextBox 18" id="18"/>
          <p:cNvSpPr txBox="true"/>
          <p:nvPr/>
        </p:nvSpPr>
        <p:spPr>
          <a:xfrm rot="0">
            <a:off x="10314534" y="6714976"/>
            <a:ext cx="7036891" cy="941785"/>
          </a:xfrm>
          <a:prstGeom prst="rect">
            <a:avLst/>
          </a:prstGeom>
        </p:spPr>
        <p:txBody>
          <a:bodyPr anchor="t" rtlCol="false" tIns="0" lIns="0" bIns="0" rIns="0">
            <a:spAutoFit/>
          </a:bodyPr>
          <a:lstStyle/>
          <a:p>
            <a:pPr algn="l">
              <a:lnSpc>
                <a:spcPts val="3312"/>
              </a:lnSpc>
            </a:pPr>
            <a:r>
              <a:rPr lang="en-US" sz="2062" b="true">
                <a:solidFill>
                  <a:srgbClr val="F4CAB8"/>
                </a:solidFill>
                <a:latin typeface="Montserrat Medium"/>
                <a:ea typeface="Montserrat Medium"/>
                <a:cs typeface="Montserrat Medium"/>
                <a:sym typeface="Montserrat Medium"/>
              </a:rPr>
              <a:t>All participants can access verified product information, fostering trust.</a:t>
            </a:r>
          </a:p>
        </p:txBody>
      </p:sp>
    </p:spTree>
  </p:cSld>
  <p:clrMapOvr>
    <a:masterClrMapping/>
  </p:clrMapOvr>
  <p:transition spd="fast">
    <p:fade/>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421424"/>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5C2438"/>
            </a:solidFill>
            <a:ln w="12700">
              <a:solidFill>
                <a:srgbClr val="000000"/>
              </a:solidFill>
            </a:ln>
          </p:spPr>
        </p:sp>
      </p:grpSp>
      <p:sp>
        <p:nvSpPr>
          <p:cNvPr name="TextBox 6" id="6"/>
          <p:cNvSpPr txBox="true"/>
          <p:nvPr/>
        </p:nvSpPr>
        <p:spPr>
          <a:xfrm rot="0">
            <a:off x="805904" y="691009"/>
            <a:ext cx="7136160" cy="815131"/>
          </a:xfrm>
          <a:prstGeom prst="rect">
            <a:avLst/>
          </a:prstGeom>
        </p:spPr>
        <p:txBody>
          <a:bodyPr anchor="t" rtlCol="false" tIns="0" lIns="0" bIns="0" rIns="0">
            <a:spAutoFit/>
          </a:bodyPr>
          <a:lstStyle/>
          <a:p>
            <a:pPr algn="l">
              <a:lnSpc>
                <a:spcPts val="6000"/>
              </a:lnSpc>
            </a:pPr>
            <a:r>
              <a:rPr lang="en-US" sz="4812" b="true">
                <a:solidFill>
                  <a:srgbClr val="FFB393"/>
                </a:solidFill>
                <a:latin typeface="Arimo Bold"/>
                <a:ea typeface="Arimo Bold"/>
                <a:cs typeface="Arimo Bold"/>
                <a:sym typeface="Arimo Bold"/>
              </a:rPr>
              <a:t>Objectives of the Project</a:t>
            </a:r>
          </a:p>
        </p:txBody>
      </p:sp>
      <p:grpSp>
        <p:nvGrpSpPr>
          <p:cNvPr name="Group 7" id="7"/>
          <p:cNvGrpSpPr/>
          <p:nvPr/>
        </p:nvGrpSpPr>
        <p:grpSpPr>
          <a:xfrm rot="0">
            <a:off x="805904" y="1966615"/>
            <a:ext cx="1667619" cy="1350615"/>
            <a:chOff x="0" y="0"/>
            <a:chExt cx="2223492" cy="1800820"/>
          </a:xfrm>
        </p:grpSpPr>
        <p:sp>
          <p:nvSpPr>
            <p:cNvPr name="Freeform 8" id="8"/>
            <p:cNvSpPr/>
            <p:nvPr/>
          </p:nvSpPr>
          <p:spPr>
            <a:xfrm flipH="false" flipV="false" rot="0">
              <a:off x="0" y="0"/>
              <a:ext cx="2223516" cy="1800860"/>
            </a:xfrm>
            <a:custGeom>
              <a:avLst/>
              <a:gdLst/>
              <a:ahLst/>
              <a:cxnLst/>
              <a:rect r="r" b="b" t="t" l="l"/>
              <a:pathLst>
                <a:path h="1800860" w="2223516">
                  <a:moveTo>
                    <a:pt x="0" y="46101"/>
                  </a:moveTo>
                  <a:cubicBezTo>
                    <a:pt x="0" y="20574"/>
                    <a:pt x="20574" y="0"/>
                    <a:pt x="46101" y="0"/>
                  </a:cubicBezTo>
                  <a:lnTo>
                    <a:pt x="2177415" y="0"/>
                  </a:lnTo>
                  <a:cubicBezTo>
                    <a:pt x="2202815" y="0"/>
                    <a:pt x="2223516" y="20574"/>
                    <a:pt x="2223516" y="46101"/>
                  </a:cubicBezTo>
                  <a:lnTo>
                    <a:pt x="2223516" y="1754759"/>
                  </a:lnTo>
                  <a:cubicBezTo>
                    <a:pt x="2223516" y="1780159"/>
                    <a:pt x="2202942" y="1800860"/>
                    <a:pt x="2177415" y="1800860"/>
                  </a:cubicBezTo>
                  <a:lnTo>
                    <a:pt x="46101" y="1800860"/>
                  </a:lnTo>
                  <a:cubicBezTo>
                    <a:pt x="20701" y="1800860"/>
                    <a:pt x="0" y="1780286"/>
                    <a:pt x="0" y="1754759"/>
                  </a:cubicBezTo>
                  <a:close/>
                </a:path>
              </a:pathLst>
            </a:custGeom>
            <a:solidFill>
              <a:srgbClr val="4D1529"/>
            </a:solidFill>
            <a:ln w="12700">
              <a:solidFill>
                <a:srgbClr val="000000"/>
              </a:solidFill>
            </a:ln>
          </p:spPr>
        </p:sp>
      </p:grpSp>
      <p:sp>
        <p:nvSpPr>
          <p:cNvPr name="Freeform 9" id="9" descr="preencoded.png"/>
          <p:cNvSpPr/>
          <p:nvPr/>
        </p:nvSpPr>
        <p:spPr>
          <a:xfrm flipH="false" flipV="false" rot="0">
            <a:off x="1477864" y="2480072"/>
            <a:ext cx="323701" cy="323701"/>
          </a:xfrm>
          <a:custGeom>
            <a:avLst/>
            <a:gdLst/>
            <a:ahLst/>
            <a:cxnLst/>
            <a:rect r="r" b="b" t="t" l="l"/>
            <a:pathLst>
              <a:path h="323701" w="323701">
                <a:moveTo>
                  <a:pt x="0" y="0"/>
                </a:moveTo>
                <a:lnTo>
                  <a:pt x="323701" y="0"/>
                </a:lnTo>
                <a:lnTo>
                  <a:pt x="323701" y="323702"/>
                </a:lnTo>
                <a:lnTo>
                  <a:pt x="0" y="323702"/>
                </a:lnTo>
                <a:lnTo>
                  <a:pt x="0" y="0"/>
                </a:lnTo>
                <a:close/>
              </a:path>
            </a:pathLst>
          </a:custGeom>
          <a:blipFill>
            <a:blip r:embed="rId2">
              <a:extLst>
                <a:ext uri="{96DAC541-7B7A-43D3-8B79-37D633B846F1}">
                  <asvg:svgBlip xmlns:asvg="http://schemas.microsoft.com/office/drawing/2016/SVG/main" r:embed="rId3"/>
                </a:ext>
              </a:extLst>
            </a:blip>
            <a:stretch>
              <a:fillRect l="0" t="-11764" r="0" b="-11764"/>
            </a:stretch>
          </a:blipFill>
        </p:spPr>
      </p:sp>
      <p:sp>
        <p:nvSpPr>
          <p:cNvPr name="TextBox 10" id="10"/>
          <p:cNvSpPr txBox="true"/>
          <p:nvPr/>
        </p:nvSpPr>
        <p:spPr>
          <a:xfrm rot="0">
            <a:off x="2703760" y="2168277"/>
            <a:ext cx="4216896" cy="412254"/>
          </a:xfrm>
          <a:prstGeom prst="rect">
            <a:avLst/>
          </a:prstGeom>
        </p:spPr>
        <p:txBody>
          <a:bodyPr anchor="t" rtlCol="false" tIns="0" lIns="0" bIns="0" rIns="0">
            <a:spAutoFit/>
          </a:bodyPr>
          <a:lstStyle/>
          <a:p>
            <a:pPr algn="l">
              <a:lnSpc>
                <a:spcPts val="3000"/>
              </a:lnSpc>
            </a:pPr>
            <a:r>
              <a:rPr lang="en-US" sz="2375" b="true">
                <a:solidFill>
                  <a:srgbClr val="F4CAB8"/>
                </a:solidFill>
                <a:latin typeface="Arimo Bold"/>
                <a:ea typeface="Arimo Bold"/>
                <a:cs typeface="Arimo Bold"/>
                <a:sym typeface="Arimo Bold"/>
              </a:rPr>
              <a:t>Ensure Product Authenticity</a:t>
            </a:r>
          </a:p>
        </p:txBody>
      </p:sp>
      <p:sp>
        <p:nvSpPr>
          <p:cNvPr name="TextBox 11" id="11"/>
          <p:cNvSpPr txBox="true"/>
          <p:nvPr/>
        </p:nvSpPr>
        <p:spPr>
          <a:xfrm rot="0">
            <a:off x="2703760" y="2651969"/>
            <a:ext cx="7815709" cy="435025"/>
          </a:xfrm>
          <a:prstGeom prst="rect">
            <a:avLst/>
          </a:prstGeom>
        </p:spPr>
        <p:txBody>
          <a:bodyPr anchor="t" rtlCol="false" tIns="0" lIns="0" bIns="0" rIns="0">
            <a:spAutoFit/>
          </a:bodyPr>
          <a:lstStyle/>
          <a:p>
            <a:pPr algn="l">
              <a:lnSpc>
                <a:spcPts val="2875"/>
              </a:lnSpc>
            </a:pPr>
            <a:r>
              <a:rPr lang="en-US" sz="1812" b="true">
                <a:solidFill>
                  <a:srgbClr val="F4CAB8"/>
                </a:solidFill>
                <a:latin typeface="Montserrat Medium"/>
                <a:ea typeface="Montserrat Medium"/>
                <a:cs typeface="Montserrat Medium"/>
                <a:sym typeface="Montserrat Medium"/>
              </a:rPr>
              <a:t>Verify product originality and protect consumers from counterfeits.</a:t>
            </a:r>
          </a:p>
        </p:txBody>
      </p:sp>
      <p:grpSp>
        <p:nvGrpSpPr>
          <p:cNvPr name="Group 12" id="12"/>
          <p:cNvGrpSpPr/>
          <p:nvPr/>
        </p:nvGrpSpPr>
        <p:grpSpPr>
          <a:xfrm rot="0">
            <a:off x="2588567" y="3305324"/>
            <a:ext cx="14778484" cy="14288"/>
            <a:chOff x="0" y="0"/>
            <a:chExt cx="19704645" cy="19050"/>
          </a:xfrm>
        </p:grpSpPr>
        <p:sp>
          <p:nvSpPr>
            <p:cNvPr name="Freeform 13" id="13"/>
            <p:cNvSpPr/>
            <p:nvPr/>
          </p:nvSpPr>
          <p:spPr>
            <a:xfrm flipH="false" flipV="false" rot="0">
              <a:off x="0" y="0"/>
              <a:ext cx="19704686" cy="19050"/>
            </a:xfrm>
            <a:custGeom>
              <a:avLst/>
              <a:gdLst/>
              <a:ahLst/>
              <a:cxnLst/>
              <a:rect r="r" b="b" t="t" l="l"/>
              <a:pathLst>
                <a:path h="19050" w="19704686">
                  <a:moveTo>
                    <a:pt x="0" y="9525"/>
                  </a:moveTo>
                  <a:cubicBezTo>
                    <a:pt x="0" y="4318"/>
                    <a:pt x="4318" y="0"/>
                    <a:pt x="9525" y="0"/>
                  </a:cubicBezTo>
                  <a:lnTo>
                    <a:pt x="19695161" y="0"/>
                  </a:lnTo>
                  <a:cubicBezTo>
                    <a:pt x="19700368" y="0"/>
                    <a:pt x="19704686" y="4318"/>
                    <a:pt x="19704686" y="9525"/>
                  </a:cubicBezTo>
                  <a:cubicBezTo>
                    <a:pt x="19704686" y="14732"/>
                    <a:pt x="19700368" y="19050"/>
                    <a:pt x="19695161" y="19050"/>
                  </a:cubicBezTo>
                  <a:lnTo>
                    <a:pt x="9525" y="19050"/>
                  </a:lnTo>
                  <a:cubicBezTo>
                    <a:pt x="4318" y="19050"/>
                    <a:pt x="0" y="14732"/>
                    <a:pt x="0" y="9525"/>
                  </a:cubicBezTo>
                  <a:close/>
                </a:path>
              </a:pathLst>
            </a:custGeom>
            <a:solidFill>
              <a:srgbClr val="662E42"/>
            </a:solidFill>
            <a:ln w="12700">
              <a:solidFill>
                <a:srgbClr val="000000"/>
              </a:solidFill>
            </a:ln>
          </p:spPr>
        </p:sp>
      </p:grpSp>
      <p:grpSp>
        <p:nvGrpSpPr>
          <p:cNvPr name="Group 14" id="14"/>
          <p:cNvGrpSpPr/>
          <p:nvPr/>
        </p:nvGrpSpPr>
        <p:grpSpPr>
          <a:xfrm rot="0">
            <a:off x="805904" y="3432274"/>
            <a:ext cx="3335239" cy="1350615"/>
            <a:chOff x="0" y="0"/>
            <a:chExt cx="4446985" cy="1800820"/>
          </a:xfrm>
        </p:grpSpPr>
        <p:sp>
          <p:nvSpPr>
            <p:cNvPr name="Freeform 15" id="15"/>
            <p:cNvSpPr/>
            <p:nvPr/>
          </p:nvSpPr>
          <p:spPr>
            <a:xfrm flipH="false" flipV="false" rot="0">
              <a:off x="0" y="0"/>
              <a:ext cx="4447032" cy="1800860"/>
            </a:xfrm>
            <a:custGeom>
              <a:avLst/>
              <a:gdLst/>
              <a:ahLst/>
              <a:cxnLst/>
              <a:rect r="r" b="b" t="t" l="l"/>
              <a:pathLst>
                <a:path h="1800860" w="4447032">
                  <a:moveTo>
                    <a:pt x="0" y="46101"/>
                  </a:moveTo>
                  <a:cubicBezTo>
                    <a:pt x="0" y="20574"/>
                    <a:pt x="20574" y="0"/>
                    <a:pt x="46101" y="0"/>
                  </a:cubicBezTo>
                  <a:lnTo>
                    <a:pt x="4400931" y="0"/>
                  </a:lnTo>
                  <a:cubicBezTo>
                    <a:pt x="4426331" y="0"/>
                    <a:pt x="4447032" y="20574"/>
                    <a:pt x="4447032" y="46101"/>
                  </a:cubicBezTo>
                  <a:lnTo>
                    <a:pt x="4447032" y="1754759"/>
                  </a:lnTo>
                  <a:cubicBezTo>
                    <a:pt x="4447032" y="1780159"/>
                    <a:pt x="4426458" y="1800860"/>
                    <a:pt x="4400931" y="1800860"/>
                  </a:cubicBezTo>
                  <a:lnTo>
                    <a:pt x="46101" y="1800860"/>
                  </a:lnTo>
                  <a:cubicBezTo>
                    <a:pt x="20701" y="1800860"/>
                    <a:pt x="0" y="1780286"/>
                    <a:pt x="0" y="1754759"/>
                  </a:cubicBezTo>
                  <a:close/>
                </a:path>
              </a:pathLst>
            </a:custGeom>
            <a:solidFill>
              <a:srgbClr val="4D1529"/>
            </a:solidFill>
            <a:ln w="12700">
              <a:solidFill>
                <a:srgbClr val="000000"/>
              </a:solidFill>
            </a:ln>
          </p:spPr>
        </p:sp>
      </p:grpSp>
      <p:sp>
        <p:nvSpPr>
          <p:cNvPr name="Freeform 16" id="16" descr="preencoded.png"/>
          <p:cNvSpPr/>
          <p:nvPr/>
        </p:nvSpPr>
        <p:spPr>
          <a:xfrm flipH="false" flipV="false" rot="0">
            <a:off x="2311599" y="3945731"/>
            <a:ext cx="323701" cy="323701"/>
          </a:xfrm>
          <a:custGeom>
            <a:avLst/>
            <a:gdLst/>
            <a:ahLst/>
            <a:cxnLst/>
            <a:rect r="r" b="b" t="t" l="l"/>
            <a:pathLst>
              <a:path h="323701" w="323701">
                <a:moveTo>
                  <a:pt x="0" y="0"/>
                </a:moveTo>
                <a:lnTo>
                  <a:pt x="323701" y="0"/>
                </a:lnTo>
                <a:lnTo>
                  <a:pt x="323701" y="323701"/>
                </a:lnTo>
                <a:lnTo>
                  <a:pt x="0" y="323701"/>
                </a:lnTo>
                <a:lnTo>
                  <a:pt x="0" y="0"/>
                </a:lnTo>
                <a:close/>
              </a:path>
            </a:pathLst>
          </a:custGeom>
          <a:blipFill>
            <a:blip r:embed="rId4">
              <a:extLst>
                <a:ext uri="{96DAC541-7B7A-43D3-8B79-37D633B846F1}">
                  <asvg:svgBlip xmlns:asvg="http://schemas.microsoft.com/office/drawing/2016/SVG/main" r:embed="rId5"/>
                </a:ext>
              </a:extLst>
            </a:blip>
            <a:stretch>
              <a:fillRect l="0" t="-1470" r="0" b="-1470"/>
            </a:stretch>
          </a:blipFill>
        </p:spPr>
      </p:sp>
      <p:sp>
        <p:nvSpPr>
          <p:cNvPr name="TextBox 17" id="17"/>
          <p:cNvSpPr txBox="true"/>
          <p:nvPr/>
        </p:nvSpPr>
        <p:spPr>
          <a:xfrm rot="0">
            <a:off x="4371380" y="3633936"/>
            <a:ext cx="5556498" cy="412254"/>
          </a:xfrm>
          <a:prstGeom prst="rect">
            <a:avLst/>
          </a:prstGeom>
        </p:spPr>
        <p:txBody>
          <a:bodyPr anchor="t" rtlCol="false" tIns="0" lIns="0" bIns="0" rIns="0">
            <a:spAutoFit/>
          </a:bodyPr>
          <a:lstStyle/>
          <a:p>
            <a:pPr algn="l">
              <a:lnSpc>
                <a:spcPts val="3000"/>
              </a:lnSpc>
            </a:pPr>
            <a:r>
              <a:rPr lang="en-US" sz="2375" b="true">
                <a:solidFill>
                  <a:srgbClr val="F4CAB8"/>
                </a:solidFill>
                <a:latin typeface="Arimo Bold"/>
                <a:ea typeface="Arimo Bold"/>
                <a:cs typeface="Arimo Bold"/>
                <a:sym typeface="Arimo Bold"/>
              </a:rPr>
              <a:t>Establish a Transparent Supply Chain</a:t>
            </a:r>
          </a:p>
        </p:txBody>
      </p:sp>
      <p:sp>
        <p:nvSpPr>
          <p:cNvPr name="TextBox 18" id="18"/>
          <p:cNvSpPr txBox="true"/>
          <p:nvPr/>
        </p:nvSpPr>
        <p:spPr>
          <a:xfrm rot="0">
            <a:off x="4371380" y="4117627"/>
            <a:ext cx="9391055" cy="435025"/>
          </a:xfrm>
          <a:prstGeom prst="rect">
            <a:avLst/>
          </a:prstGeom>
        </p:spPr>
        <p:txBody>
          <a:bodyPr anchor="t" rtlCol="false" tIns="0" lIns="0" bIns="0" rIns="0">
            <a:spAutoFit/>
          </a:bodyPr>
          <a:lstStyle/>
          <a:p>
            <a:pPr algn="l">
              <a:lnSpc>
                <a:spcPts val="2875"/>
              </a:lnSpc>
            </a:pPr>
            <a:r>
              <a:rPr lang="en-US" sz="1812" b="true">
                <a:solidFill>
                  <a:srgbClr val="F4CAB8"/>
                </a:solidFill>
                <a:latin typeface="Montserrat Medium"/>
                <a:ea typeface="Montserrat Medium"/>
                <a:cs typeface="Montserrat Medium"/>
                <a:sym typeface="Montserrat Medium"/>
              </a:rPr>
              <a:t>Record every product lifecycle stage on blockchain for stakeholder transparency.</a:t>
            </a:r>
          </a:p>
        </p:txBody>
      </p:sp>
      <p:grpSp>
        <p:nvGrpSpPr>
          <p:cNvPr name="Group 19" id="19"/>
          <p:cNvGrpSpPr/>
          <p:nvPr/>
        </p:nvGrpSpPr>
        <p:grpSpPr>
          <a:xfrm rot="0">
            <a:off x="4256186" y="4770984"/>
            <a:ext cx="13110865" cy="14288"/>
            <a:chOff x="0" y="0"/>
            <a:chExt cx="17481153" cy="19050"/>
          </a:xfrm>
        </p:grpSpPr>
        <p:sp>
          <p:nvSpPr>
            <p:cNvPr name="Freeform 20" id="20"/>
            <p:cNvSpPr/>
            <p:nvPr/>
          </p:nvSpPr>
          <p:spPr>
            <a:xfrm flipH="false" flipV="false" rot="0">
              <a:off x="0" y="0"/>
              <a:ext cx="17481169" cy="19050"/>
            </a:xfrm>
            <a:custGeom>
              <a:avLst/>
              <a:gdLst/>
              <a:ahLst/>
              <a:cxnLst/>
              <a:rect r="r" b="b" t="t" l="l"/>
              <a:pathLst>
                <a:path h="19050" w="17481169">
                  <a:moveTo>
                    <a:pt x="0" y="9525"/>
                  </a:moveTo>
                  <a:cubicBezTo>
                    <a:pt x="0" y="4318"/>
                    <a:pt x="4318" y="0"/>
                    <a:pt x="9525" y="0"/>
                  </a:cubicBezTo>
                  <a:lnTo>
                    <a:pt x="17471644" y="0"/>
                  </a:lnTo>
                  <a:cubicBezTo>
                    <a:pt x="17476851" y="0"/>
                    <a:pt x="17481169" y="4318"/>
                    <a:pt x="17481169" y="9525"/>
                  </a:cubicBezTo>
                  <a:cubicBezTo>
                    <a:pt x="17481169" y="14732"/>
                    <a:pt x="17476851" y="19050"/>
                    <a:pt x="17471644" y="19050"/>
                  </a:cubicBezTo>
                  <a:lnTo>
                    <a:pt x="9525" y="19050"/>
                  </a:lnTo>
                  <a:cubicBezTo>
                    <a:pt x="4318" y="19050"/>
                    <a:pt x="0" y="14732"/>
                    <a:pt x="0" y="9525"/>
                  </a:cubicBezTo>
                  <a:close/>
                </a:path>
              </a:pathLst>
            </a:custGeom>
            <a:solidFill>
              <a:srgbClr val="662E42"/>
            </a:solidFill>
            <a:ln w="12700">
              <a:solidFill>
                <a:srgbClr val="000000"/>
              </a:solidFill>
            </a:ln>
          </p:spPr>
        </p:sp>
      </p:grpSp>
      <p:grpSp>
        <p:nvGrpSpPr>
          <p:cNvPr name="Group 21" id="21"/>
          <p:cNvGrpSpPr/>
          <p:nvPr/>
        </p:nvGrpSpPr>
        <p:grpSpPr>
          <a:xfrm rot="0">
            <a:off x="805904" y="4897934"/>
            <a:ext cx="5002858" cy="1350615"/>
            <a:chOff x="0" y="0"/>
            <a:chExt cx="6670477" cy="1800820"/>
          </a:xfrm>
        </p:grpSpPr>
        <p:sp>
          <p:nvSpPr>
            <p:cNvPr name="Freeform 22" id="22"/>
            <p:cNvSpPr/>
            <p:nvPr/>
          </p:nvSpPr>
          <p:spPr>
            <a:xfrm flipH="false" flipV="false" rot="0">
              <a:off x="0" y="0"/>
              <a:ext cx="6670548" cy="1800860"/>
            </a:xfrm>
            <a:custGeom>
              <a:avLst/>
              <a:gdLst/>
              <a:ahLst/>
              <a:cxnLst/>
              <a:rect r="r" b="b" t="t" l="l"/>
              <a:pathLst>
                <a:path h="1800860" w="6670548">
                  <a:moveTo>
                    <a:pt x="0" y="46101"/>
                  </a:moveTo>
                  <a:cubicBezTo>
                    <a:pt x="0" y="20574"/>
                    <a:pt x="20574" y="0"/>
                    <a:pt x="46101" y="0"/>
                  </a:cubicBezTo>
                  <a:lnTo>
                    <a:pt x="6624447" y="0"/>
                  </a:lnTo>
                  <a:cubicBezTo>
                    <a:pt x="6649847" y="0"/>
                    <a:pt x="6670548" y="20574"/>
                    <a:pt x="6670548" y="46101"/>
                  </a:cubicBezTo>
                  <a:lnTo>
                    <a:pt x="6670548" y="1754759"/>
                  </a:lnTo>
                  <a:cubicBezTo>
                    <a:pt x="6670548" y="1780159"/>
                    <a:pt x="6649974" y="1800860"/>
                    <a:pt x="6624447" y="1800860"/>
                  </a:cubicBezTo>
                  <a:lnTo>
                    <a:pt x="46101" y="1800860"/>
                  </a:lnTo>
                  <a:cubicBezTo>
                    <a:pt x="20701" y="1800860"/>
                    <a:pt x="0" y="1780286"/>
                    <a:pt x="0" y="1754759"/>
                  </a:cubicBezTo>
                  <a:close/>
                </a:path>
              </a:pathLst>
            </a:custGeom>
            <a:solidFill>
              <a:srgbClr val="4D1529"/>
            </a:solidFill>
            <a:ln w="12700">
              <a:solidFill>
                <a:srgbClr val="000000"/>
              </a:solidFill>
            </a:ln>
          </p:spPr>
        </p:sp>
      </p:grpSp>
      <p:sp>
        <p:nvSpPr>
          <p:cNvPr name="Freeform 23" id="23" descr="preencoded.png"/>
          <p:cNvSpPr/>
          <p:nvPr/>
        </p:nvSpPr>
        <p:spPr>
          <a:xfrm flipH="false" flipV="false" rot="0">
            <a:off x="3145482" y="5411391"/>
            <a:ext cx="323701" cy="323701"/>
          </a:xfrm>
          <a:custGeom>
            <a:avLst/>
            <a:gdLst/>
            <a:ahLst/>
            <a:cxnLst/>
            <a:rect r="r" b="b" t="t" l="l"/>
            <a:pathLst>
              <a:path h="323701" w="323701">
                <a:moveTo>
                  <a:pt x="0" y="0"/>
                </a:moveTo>
                <a:lnTo>
                  <a:pt x="323702" y="0"/>
                </a:lnTo>
                <a:lnTo>
                  <a:pt x="323702" y="323701"/>
                </a:lnTo>
                <a:lnTo>
                  <a:pt x="0" y="323701"/>
                </a:lnTo>
                <a:lnTo>
                  <a:pt x="0" y="0"/>
                </a:lnTo>
                <a:close/>
              </a:path>
            </a:pathLst>
          </a:custGeom>
          <a:blipFill>
            <a:blip r:embed="rId6">
              <a:extLst>
                <a:ext uri="{96DAC541-7B7A-43D3-8B79-37D633B846F1}">
                  <asvg:svgBlip xmlns:asvg="http://schemas.microsoft.com/office/drawing/2016/SVG/main" r:embed="rId7"/>
                </a:ext>
              </a:extLst>
            </a:blip>
            <a:stretch>
              <a:fillRect l="0" t="-1470" r="0" b="-1470"/>
            </a:stretch>
          </a:blipFill>
        </p:spPr>
      </p:sp>
      <p:sp>
        <p:nvSpPr>
          <p:cNvPr name="TextBox 24" id="24"/>
          <p:cNvSpPr txBox="true"/>
          <p:nvPr/>
        </p:nvSpPr>
        <p:spPr>
          <a:xfrm rot="0">
            <a:off x="6038999" y="5099596"/>
            <a:ext cx="5255419" cy="412254"/>
          </a:xfrm>
          <a:prstGeom prst="rect">
            <a:avLst/>
          </a:prstGeom>
        </p:spPr>
        <p:txBody>
          <a:bodyPr anchor="t" rtlCol="false" tIns="0" lIns="0" bIns="0" rIns="0">
            <a:spAutoFit/>
          </a:bodyPr>
          <a:lstStyle/>
          <a:p>
            <a:pPr algn="l">
              <a:lnSpc>
                <a:spcPts val="3000"/>
              </a:lnSpc>
            </a:pPr>
            <a:r>
              <a:rPr lang="en-US" sz="2375" b="true">
                <a:solidFill>
                  <a:srgbClr val="F4CAB8"/>
                </a:solidFill>
                <a:latin typeface="Arimo Bold"/>
                <a:ea typeface="Arimo Bold"/>
                <a:cs typeface="Arimo Bold"/>
                <a:sym typeface="Arimo Bold"/>
              </a:rPr>
              <a:t>Provide Tamper-Proof Data Storage</a:t>
            </a:r>
          </a:p>
        </p:txBody>
      </p:sp>
      <p:sp>
        <p:nvSpPr>
          <p:cNvPr name="TextBox 25" id="25"/>
          <p:cNvSpPr txBox="true"/>
          <p:nvPr/>
        </p:nvSpPr>
        <p:spPr>
          <a:xfrm rot="0">
            <a:off x="6038999" y="5583287"/>
            <a:ext cx="10402341" cy="435025"/>
          </a:xfrm>
          <a:prstGeom prst="rect">
            <a:avLst/>
          </a:prstGeom>
        </p:spPr>
        <p:txBody>
          <a:bodyPr anchor="t" rtlCol="false" tIns="0" lIns="0" bIns="0" rIns="0">
            <a:spAutoFit/>
          </a:bodyPr>
          <a:lstStyle/>
          <a:p>
            <a:pPr algn="l">
              <a:lnSpc>
                <a:spcPts val="2875"/>
              </a:lnSpc>
            </a:pPr>
            <a:r>
              <a:rPr lang="en-US" sz="1812" b="true">
                <a:solidFill>
                  <a:srgbClr val="F4CAB8"/>
                </a:solidFill>
                <a:latin typeface="Montserrat Medium"/>
                <a:ea typeface="Montserrat Medium"/>
                <a:cs typeface="Montserrat Medium"/>
                <a:sym typeface="Montserrat Medium"/>
              </a:rPr>
              <a:t>Store critical product data on blockchain, ensuring integrity and preventing modification.</a:t>
            </a:r>
          </a:p>
        </p:txBody>
      </p:sp>
      <p:grpSp>
        <p:nvGrpSpPr>
          <p:cNvPr name="Group 26" id="26"/>
          <p:cNvGrpSpPr/>
          <p:nvPr/>
        </p:nvGrpSpPr>
        <p:grpSpPr>
          <a:xfrm rot="0">
            <a:off x="5923806" y="6236642"/>
            <a:ext cx="11443246" cy="14288"/>
            <a:chOff x="0" y="0"/>
            <a:chExt cx="15257662" cy="19050"/>
          </a:xfrm>
        </p:grpSpPr>
        <p:sp>
          <p:nvSpPr>
            <p:cNvPr name="Freeform 27" id="27"/>
            <p:cNvSpPr/>
            <p:nvPr/>
          </p:nvSpPr>
          <p:spPr>
            <a:xfrm flipH="false" flipV="false" rot="0">
              <a:off x="0" y="0"/>
              <a:ext cx="15257653" cy="19050"/>
            </a:xfrm>
            <a:custGeom>
              <a:avLst/>
              <a:gdLst/>
              <a:ahLst/>
              <a:cxnLst/>
              <a:rect r="r" b="b" t="t" l="l"/>
              <a:pathLst>
                <a:path h="19050" w="15257653">
                  <a:moveTo>
                    <a:pt x="0" y="9525"/>
                  </a:moveTo>
                  <a:cubicBezTo>
                    <a:pt x="0" y="4318"/>
                    <a:pt x="4318" y="0"/>
                    <a:pt x="9525" y="0"/>
                  </a:cubicBezTo>
                  <a:lnTo>
                    <a:pt x="15248128" y="0"/>
                  </a:lnTo>
                  <a:cubicBezTo>
                    <a:pt x="15253336" y="0"/>
                    <a:pt x="15257653" y="4318"/>
                    <a:pt x="15257653" y="9525"/>
                  </a:cubicBezTo>
                  <a:cubicBezTo>
                    <a:pt x="15257653" y="14732"/>
                    <a:pt x="15253336" y="19050"/>
                    <a:pt x="15248128" y="19050"/>
                  </a:cubicBezTo>
                  <a:lnTo>
                    <a:pt x="9525" y="19050"/>
                  </a:lnTo>
                  <a:cubicBezTo>
                    <a:pt x="4318" y="19050"/>
                    <a:pt x="0" y="14732"/>
                    <a:pt x="0" y="9525"/>
                  </a:cubicBezTo>
                  <a:close/>
                </a:path>
              </a:pathLst>
            </a:custGeom>
            <a:solidFill>
              <a:srgbClr val="662E42"/>
            </a:solidFill>
            <a:ln w="12700">
              <a:solidFill>
                <a:srgbClr val="000000"/>
              </a:solidFill>
            </a:ln>
          </p:spPr>
        </p:sp>
      </p:grpSp>
      <p:grpSp>
        <p:nvGrpSpPr>
          <p:cNvPr name="Group 28" id="28"/>
          <p:cNvGrpSpPr/>
          <p:nvPr/>
        </p:nvGrpSpPr>
        <p:grpSpPr>
          <a:xfrm rot="0">
            <a:off x="805904" y="6363592"/>
            <a:ext cx="6670476" cy="1350615"/>
            <a:chOff x="0" y="0"/>
            <a:chExt cx="8893968" cy="1800820"/>
          </a:xfrm>
        </p:grpSpPr>
        <p:sp>
          <p:nvSpPr>
            <p:cNvPr name="Freeform 29" id="29"/>
            <p:cNvSpPr/>
            <p:nvPr/>
          </p:nvSpPr>
          <p:spPr>
            <a:xfrm flipH="false" flipV="false" rot="0">
              <a:off x="0" y="0"/>
              <a:ext cx="8894064" cy="1800860"/>
            </a:xfrm>
            <a:custGeom>
              <a:avLst/>
              <a:gdLst/>
              <a:ahLst/>
              <a:cxnLst/>
              <a:rect r="r" b="b" t="t" l="l"/>
              <a:pathLst>
                <a:path h="1800860" w="8894064">
                  <a:moveTo>
                    <a:pt x="0" y="46101"/>
                  </a:moveTo>
                  <a:cubicBezTo>
                    <a:pt x="0" y="20574"/>
                    <a:pt x="20574" y="0"/>
                    <a:pt x="46101" y="0"/>
                  </a:cubicBezTo>
                  <a:lnTo>
                    <a:pt x="8847963" y="0"/>
                  </a:lnTo>
                  <a:cubicBezTo>
                    <a:pt x="8873363" y="0"/>
                    <a:pt x="8894064" y="20574"/>
                    <a:pt x="8894064" y="46101"/>
                  </a:cubicBezTo>
                  <a:lnTo>
                    <a:pt x="8894064" y="1754759"/>
                  </a:lnTo>
                  <a:cubicBezTo>
                    <a:pt x="8894064" y="1780159"/>
                    <a:pt x="8873490" y="1800860"/>
                    <a:pt x="8847963" y="1800860"/>
                  </a:cubicBezTo>
                  <a:lnTo>
                    <a:pt x="46101" y="1800860"/>
                  </a:lnTo>
                  <a:cubicBezTo>
                    <a:pt x="20701" y="1800860"/>
                    <a:pt x="0" y="1780286"/>
                    <a:pt x="0" y="1754759"/>
                  </a:cubicBezTo>
                  <a:close/>
                </a:path>
              </a:pathLst>
            </a:custGeom>
            <a:solidFill>
              <a:srgbClr val="4D1529"/>
            </a:solidFill>
            <a:ln w="12700">
              <a:solidFill>
                <a:srgbClr val="000000"/>
              </a:solidFill>
            </a:ln>
          </p:spPr>
        </p:sp>
      </p:grpSp>
      <p:sp>
        <p:nvSpPr>
          <p:cNvPr name="Freeform 30" id="30" descr="preencoded.png"/>
          <p:cNvSpPr/>
          <p:nvPr/>
        </p:nvSpPr>
        <p:spPr>
          <a:xfrm flipH="false" flipV="false" rot="0">
            <a:off x="3979217" y="6877050"/>
            <a:ext cx="323701" cy="323701"/>
          </a:xfrm>
          <a:custGeom>
            <a:avLst/>
            <a:gdLst/>
            <a:ahLst/>
            <a:cxnLst/>
            <a:rect r="r" b="b" t="t" l="l"/>
            <a:pathLst>
              <a:path h="323701" w="323701">
                <a:moveTo>
                  <a:pt x="0" y="0"/>
                </a:moveTo>
                <a:lnTo>
                  <a:pt x="323702" y="0"/>
                </a:lnTo>
                <a:lnTo>
                  <a:pt x="323702" y="323701"/>
                </a:lnTo>
                <a:lnTo>
                  <a:pt x="0" y="32370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31" id="31"/>
          <p:cNvSpPr txBox="true"/>
          <p:nvPr/>
        </p:nvSpPr>
        <p:spPr>
          <a:xfrm rot="0">
            <a:off x="7706617" y="6565255"/>
            <a:ext cx="4424958" cy="412254"/>
          </a:xfrm>
          <a:prstGeom prst="rect">
            <a:avLst/>
          </a:prstGeom>
        </p:spPr>
        <p:txBody>
          <a:bodyPr anchor="t" rtlCol="false" tIns="0" lIns="0" bIns="0" rIns="0">
            <a:spAutoFit/>
          </a:bodyPr>
          <a:lstStyle/>
          <a:p>
            <a:pPr algn="l">
              <a:lnSpc>
                <a:spcPts val="3000"/>
              </a:lnSpc>
            </a:pPr>
            <a:r>
              <a:rPr lang="en-US" sz="2375" b="true">
                <a:solidFill>
                  <a:srgbClr val="F4CAB8"/>
                </a:solidFill>
                <a:latin typeface="Arimo Bold"/>
                <a:ea typeface="Arimo Bold"/>
                <a:cs typeface="Arimo Bold"/>
                <a:sym typeface="Arimo Bold"/>
              </a:rPr>
              <a:t>Enable Real-Time Verification</a:t>
            </a:r>
          </a:p>
        </p:txBody>
      </p:sp>
      <p:sp>
        <p:nvSpPr>
          <p:cNvPr name="TextBox 32" id="32"/>
          <p:cNvSpPr txBox="true"/>
          <p:nvPr/>
        </p:nvSpPr>
        <p:spPr>
          <a:xfrm rot="0">
            <a:off x="7706617" y="7048946"/>
            <a:ext cx="8287345" cy="435025"/>
          </a:xfrm>
          <a:prstGeom prst="rect">
            <a:avLst/>
          </a:prstGeom>
        </p:spPr>
        <p:txBody>
          <a:bodyPr anchor="t" rtlCol="false" tIns="0" lIns="0" bIns="0" rIns="0">
            <a:spAutoFit/>
          </a:bodyPr>
          <a:lstStyle/>
          <a:p>
            <a:pPr algn="l">
              <a:lnSpc>
                <a:spcPts val="2875"/>
              </a:lnSpc>
            </a:pPr>
            <a:r>
              <a:rPr lang="en-US" sz="1812" b="true">
                <a:solidFill>
                  <a:srgbClr val="F4CAB8"/>
                </a:solidFill>
                <a:latin typeface="Montserrat Medium"/>
                <a:ea typeface="Montserrat Medium"/>
                <a:cs typeface="Montserrat Medium"/>
                <a:sym typeface="Montserrat Medium"/>
              </a:rPr>
              <a:t>Instantly verify product authenticity and history via mobile QR scanner.</a:t>
            </a:r>
          </a:p>
        </p:txBody>
      </p:sp>
      <p:grpSp>
        <p:nvGrpSpPr>
          <p:cNvPr name="Group 33" id="33"/>
          <p:cNvGrpSpPr/>
          <p:nvPr/>
        </p:nvGrpSpPr>
        <p:grpSpPr>
          <a:xfrm rot="0">
            <a:off x="7591425" y="7702302"/>
            <a:ext cx="9775626" cy="14288"/>
            <a:chOff x="0" y="0"/>
            <a:chExt cx="13034168" cy="19050"/>
          </a:xfrm>
        </p:grpSpPr>
        <p:sp>
          <p:nvSpPr>
            <p:cNvPr name="Freeform 34" id="34"/>
            <p:cNvSpPr/>
            <p:nvPr/>
          </p:nvSpPr>
          <p:spPr>
            <a:xfrm flipH="false" flipV="false" rot="0">
              <a:off x="0" y="0"/>
              <a:ext cx="13034138" cy="19050"/>
            </a:xfrm>
            <a:custGeom>
              <a:avLst/>
              <a:gdLst/>
              <a:ahLst/>
              <a:cxnLst/>
              <a:rect r="r" b="b" t="t" l="l"/>
              <a:pathLst>
                <a:path h="19050" w="13034138">
                  <a:moveTo>
                    <a:pt x="0" y="9525"/>
                  </a:moveTo>
                  <a:cubicBezTo>
                    <a:pt x="0" y="4318"/>
                    <a:pt x="4318" y="0"/>
                    <a:pt x="9525" y="0"/>
                  </a:cubicBezTo>
                  <a:lnTo>
                    <a:pt x="13024613" y="0"/>
                  </a:lnTo>
                  <a:cubicBezTo>
                    <a:pt x="13029820" y="0"/>
                    <a:pt x="13034138" y="4318"/>
                    <a:pt x="13034138" y="9525"/>
                  </a:cubicBezTo>
                  <a:cubicBezTo>
                    <a:pt x="13034138" y="14732"/>
                    <a:pt x="13029820" y="19050"/>
                    <a:pt x="13024613" y="19050"/>
                  </a:cubicBezTo>
                  <a:lnTo>
                    <a:pt x="9525" y="19050"/>
                  </a:lnTo>
                  <a:cubicBezTo>
                    <a:pt x="4318" y="19050"/>
                    <a:pt x="0" y="14732"/>
                    <a:pt x="0" y="9525"/>
                  </a:cubicBezTo>
                  <a:close/>
                </a:path>
              </a:pathLst>
            </a:custGeom>
            <a:solidFill>
              <a:srgbClr val="662E42"/>
            </a:solidFill>
            <a:ln w="12700">
              <a:solidFill>
                <a:srgbClr val="000000"/>
              </a:solidFill>
            </a:ln>
          </p:spPr>
        </p:sp>
      </p:grpSp>
      <p:grpSp>
        <p:nvGrpSpPr>
          <p:cNvPr name="Group 35" id="35"/>
          <p:cNvGrpSpPr/>
          <p:nvPr/>
        </p:nvGrpSpPr>
        <p:grpSpPr>
          <a:xfrm rot="0">
            <a:off x="805904" y="7829252"/>
            <a:ext cx="8338096" cy="1718965"/>
            <a:chOff x="0" y="0"/>
            <a:chExt cx="11117462" cy="2291953"/>
          </a:xfrm>
        </p:grpSpPr>
        <p:sp>
          <p:nvSpPr>
            <p:cNvPr name="Freeform 36" id="36"/>
            <p:cNvSpPr/>
            <p:nvPr/>
          </p:nvSpPr>
          <p:spPr>
            <a:xfrm flipH="false" flipV="false" rot="0">
              <a:off x="0" y="0"/>
              <a:ext cx="11117580" cy="2291969"/>
            </a:xfrm>
            <a:custGeom>
              <a:avLst/>
              <a:gdLst/>
              <a:ahLst/>
              <a:cxnLst/>
              <a:rect r="r" b="b" t="t" l="l"/>
              <a:pathLst>
                <a:path h="2291969" w="11117580">
                  <a:moveTo>
                    <a:pt x="0" y="46101"/>
                  </a:moveTo>
                  <a:cubicBezTo>
                    <a:pt x="0" y="20574"/>
                    <a:pt x="20574" y="0"/>
                    <a:pt x="46101" y="0"/>
                  </a:cubicBezTo>
                  <a:lnTo>
                    <a:pt x="11071479" y="0"/>
                  </a:lnTo>
                  <a:cubicBezTo>
                    <a:pt x="11096879" y="0"/>
                    <a:pt x="11117580" y="20574"/>
                    <a:pt x="11117580" y="46101"/>
                  </a:cubicBezTo>
                  <a:lnTo>
                    <a:pt x="11117580" y="2245868"/>
                  </a:lnTo>
                  <a:cubicBezTo>
                    <a:pt x="11117580" y="2271268"/>
                    <a:pt x="11097006" y="2291969"/>
                    <a:pt x="11071479" y="2291969"/>
                  </a:cubicBezTo>
                  <a:lnTo>
                    <a:pt x="46101" y="2291969"/>
                  </a:lnTo>
                  <a:cubicBezTo>
                    <a:pt x="20701" y="2291969"/>
                    <a:pt x="0" y="2271395"/>
                    <a:pt x="0" y="2245868"/>
                  </a:cubicBezTo>
                  <a:close/>
                </a:path>
              </a:pathLst>
            </a:custGeom>
            <a:solidFill>
              <a:srgbClr val="4D1529"/>
            </a:solidFill>
            <a:ln w="12700">
              <a:solidFill>
                <a:srgbClr val="000000"/>
              </a:solidFill>
            </a:ln>
          </p:spPr>
        </p:sp>
      </p:grpSp>
      <p:sp>
        <p:nvSpPr>
          <p:cNvPr name="Freeform 37" id="37" descr="preencoded.png"/>
          <p:cNvSpPr/>
          <p:nvPr/>
        </p:nvSpPr>
        <p:spPr>
          <a:xfrm flipH="false" flipV="false" rot="0">
            <a:off x="4813101" y="8526810"/>
            <a:ext cx="323701" cy="323701"/>
          </a:xfrm>
          <a:custGeom>
            <a:avLst/>
            <a:gdLst/>
            <a:ahLst/>
            <a:cxnLst/>
            <a:rect r="r" b="b" t="t" l="l"/>
            <a:pathLst>
              <a:path h="323701" w="323701">
                <a:moveTo>
                  <a:pt x="0" y="0"/>
                </a:moveTo>
                <a:lnTo>
                  <a:pt x="323701" y="0"/>
                </a:lnTo>
                <a:lnTo>
                  <a:pt x="323701" y="323701"/>
                </a:lnTo>
                <a:lnTo>
                  <a:pt x="0" y="323701"/>
                </a:lnTo>
                <a:lnTo>
                  <a:pt x="0" y="0"/>
                </a:lnTo>
                <a:close/>
              </a:path>
            </a:pathLst>
          </a:custGeom>
          <a:blipFill>
            <a:blip r:embed="rId10">
              <a:extLst>
                <a:ext uri="{96DAC541-7B7A-43D3-8B79-37D633B846F1}">
                  <asvg:svgBlip xmlns:asvg="http://schemas.microsoft.com/office/drawing/2016/SVG/main" r:embed="rId11"/>
                </a:ext>
              </a:extLst>
            </a:blip>
            <a:stretch>
              <a:fillRect l="0" t="-1470" r="0" b="-1470"/>
            </a:stretch>
          </a:blipFill>
        </p:spPr>
      </p:sp>
      <p:sp>
        <p:nvSpPr>
          <p:cNvPr name="TextBox 38" id="38"/>
          <p:cNvSpPr txBox="true"/>
          <p:nvPr/>
        </p:nvSpPr>
        <p:spPr>
          <a:xfrm rot="0">
            <a:off x="9374237" y="8030915"/>
            <a:ext cx="7625506" cy="412254"/>
          </a:xfrm>
          <a:prstGeom prst="rect">
            <a:avLst/>
          </a:prstGeom>
        </p:spPr>
        <p:txBody>
          <a:bodyPr anchor="t" rtlCol="false" tIns="0" lIns="0" bIns="0" rIns="0">
            <a:spAutoFit/>
          </a:bodyPr>
          <a:lstStyle/>
          <a:p>
            <a:pPr algn="l">
              <a:lnSpc>
                <a:spcPts val="3000"/>
              </a:lnSpc>
            </a:pPr>
            <a:r>
              <a:rPr lang="en-US" sz="2375" b="true">
                <a:solidFill>
                  <a:srgbClr val="F4CAB8"/>
                </a:solidFill>
                <a:latin typeface="Arimo Bold"/>
                <a:ea typeface="Arimo Bold"/>
                <a:cs typeface="Arimo Bold"/>
                <a:sym typeface="Arimo Bold"/>
              </a:rPr>
              <a:t>Improve Trust Between Manufacturer &amp; Consumers</a:t>
            </a:r>
          </a:p>
        </p:txBody>
      </p:sp>
      <p:sp>
        <p:nvSpPr>
          <p:cNvPr name="TextBox 39" id="39"/>
          <p:cNvSpPr txBox="true"/>
          <p:nvPr/>
        </p:nvSpPr>
        <p:spPr>
          <a:xfrm rot="0">
            <a:off x="9374237" y="8514606"/>
            <a:ext cx="7877621" cy="803374"/>
          </a:xfrm>
          <a:prstGeom prst="rect">
            <a:avLst/>
          </a:prstGeom>
        </p:spPr>
        <p:txBody>
          <a:bodyPr anchor="t" rtlCol="false" tIns="0" lIns="0" bIns="0" rIns="0">
            <a:spAutoFit/>
          </a:bodyPr>
          <a:lstStyle/>
          <a:p>
            <a:pPr algn="l">
              <a:lnSpc>
                <a:spcPts val="2875"/>
              </a:lnSpc>
            </a:pPr>
            <a:r>
              <a:rPr lang="en-US" sz="1812" b="true">
                <a:solidFill>
                  <a:srgbClr val="F4CAB8"/>
                </a:solidFill>
                <a:latin typeface="Montserrat Medium"/>
                <a:ea typeface="Montserrat Medium"/>
                <a:cs typeface="Montserrat Medium"/>
                <a:sym typeface="Montserrat Medium"/>
              </a:rPr>
              <a:t>Build consumer confidence through reliable product genuineness and origin checks.</a:t>
            </a:r>
          </a:p>
        </p:txBody>
      </p:sp>
    </p:spTree>
  </p:cSld>
  <p:clrMapOvr>
    <a:masterClrMapping/>
  </p:clrMapOvr>
  <p:transition spd="fast">
    <p:fade/>
  </p:transition>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421424"/>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5C2438"/>
            </a:solidFill>
            <a:ln w="12700">
              <a:solidFill>
                <a:srgbClr val="000000"/>
              </a:solidFill>
            </a:ln>
          </p:spPr>
        </p:sp>
      </p:grpSp>
      <p:sp>
        <p:nvSpPr>
          <p:cNvPr name="TextBox 6" id="6"/>
          <p:cNvSpPr txBox="true"/>
          <p:nvPr/>
        </p:nvSpPr>
        <p:spPr>
          <a:xfrm rot="0">
            <a:off x="860226" y="618679"/>
            <a:ext cx="11258550" cy="876449"/>
          </a:xfrm>
          <a:prstGeom prst="rect">
            <a:avLst/>
          </a:prstGeom>
        </p:spPr>
        <p:txBody>
          <a:bodyPr anchor="t" rtlCol="false" tIns="0" lIns="0" bIns="0" rIns="0">
            <a:spAutoFit/>
          </a:bodyPr>
          <a:lstStyle/>
          <a:p>
            <a:pPr algn="l">
              <a:lnSpc>
                <a:spcPts val="6437"/>
              </a:lnSpc>
            </a:pPr>
            <a:r>
              <a:rPr lang="en-US" sz="5125" b="true">
                <a:solidFill>
                  <a:srgbClr val="FFB393"/>
                </a:solidFill>
                <a:latin typeface="Arimo Bold"/>
                <a:ea typeface="Arimo Bold"/>
                <a:cs typeface="Arimo Bold"/>
                <a:sym typeface="Arimo Bold"/>
              </a:rPr>
              <a:t>System Requirement Specifications</a:t>
            </a:r>
          </a:p>
        </p:txBody>
      </p:sp>
      <p:sp>
        <p:nvSpPr>
          <p:cNvPr name="TextBox 7" id="7"/>
          <p:cNvSpPr txBox="true"/>
          <p:nvPr/>
        </p:nvSpPr>
        <p:spPr>
          <a:xfrm rot="0">
            <a:off x="860226" y="1555254"/>
            <a:ext cx="6434286" cy="693390"/>
          </a:xfrm>
          <a:prstGeom prst="rect">
            <a:avLst/>
          </a:prstGeom>
        </p:spPr>
        <p:txBody>
          <a:bodyPr anchor="t" rtlCol="false" tIns="0" lIns="0" bIns="0" rIns="0">
            <a:spAutoFit/>
          </a:bodyPr>
          <a:lstStyle/>
          <a:p>
            <a:pPr algn="l">
              <a:lnSpc>
                <a:spcPts val="5124"/>
              </a:lnSpc>
            </a:pPr>
            <a:r>
              <a:rPr lang="en-US" sz="4124" b="true">
                <a:solidFill>
                  <a:srgbClr val="FFB393"/>
                </a:solidFill>
                <a:latin typeface="Arimo Bold"/>
                <a:ea typeface="Arimo Bold"/>
                <a:cs typeface="Arimo Bold"/>
                <a:sym typeface="Arimo Bold"/>
              </a:rPr>
              <a:t>Functional Requirements</a:t>
            </a:r>
          </a:p>
        </p:txBody>
      </p:sp>
      <p:grpSp>
        <p:nvGrpSpPr>
          <p:cNvPr name="Group 8" id="8"/>
          <p:cNvGrpSpPr/>
          <p:nvPr/>
        </p:nvGrpSpPr>
        <p:grpSpPr>
          <a:xfrm rot="0">
            <a:off x="860226" y="2617291"/>
            <a:ext cx="3911501" cy="2417415"/>
            <a:chOff x="0" y="0"/>
            <a:chExt cx="5215335" cy="3223220"/>
          </a:xfrm>
        </p:grpSpPr>
        <p:sp>
          <p:nvSpPr>
            <p:cNvPr name="Freeform 9" id="9" descr="preencoded.png"/>
            <p:cNvSpPr/>
            <p:nvPr/>
          </p:nvSpPr>
          <p:spPr>
            <a:xfrm flipH="false" flipV="false" rot="0">
              <a:off x="0" y="0"/>
              <a:ext cx="5215382" cy="3223260"/>
            </a:xfrm>
            <a:custGeom>
              <a:avLst/>
              <a:gdLst/>
              <a:ahLst/>
              <a:cxnLst/>
              <a:rect r="r" b="b" t="t" l="l"/>
              <a:pathLst>
                <a:path h="3223260" w="5215382">
                  <a:moveTo>
                    <a:pt x="0" y="0"/>
                  </a:moveTo>
                  <a:lnTo>
                    <a:pt x="5215382" y="0"/>
                  </a:lnTo>
                  <a:lnTo>
                    <a:pt x="5215382" y="3223260"/>
                  </a:lnTo>
                  <a:lnTo>
                    <a:pt x="0" y="3223260"/>
                  </a:lnTo>
                  <a:lnTo>
                    <a:pt x="0" y="0"/>
                  </a:lnTo>
                  <a:close/>
                </a:path>
              </a:pathLst>
            </a:custGeom>
            <a:blipFill>
              <a:blip r:embed="rId2"/>
              <a:stretch>
                <a:fillRect l="-1" t="0" r="0" b="1"/>
              </a:stretch>
            </a:blipFill>
          </p:spPr>
        </p:sp>
      </p:grpSp>
      <p:sp>
        <p:nvSpPr>
          <p:cNvPr name="TextBox 10" id="10"/>
          <p:cNvSpPr txBox="true"/>
          <p:nvPr/>
        </p:nvSpPr>
        <p:spPr>
          <a:xfrm rot="0">
            <a:off x="860226" y="5261372"/>
            <a:ext cx="3314105" cy="428625"/>
          </a:xfrm>
          <a:prstGeom prst="rect">
            <a:avLst/>
          </a:prstGeom>
        </p:spPr>
        <p:txBody>
          <a:bodyPr anchor="t" rtlCol="false" tIns="0" lIns="0" bIns="0" rIns="0">
            <a:spAutoFit/>
          </a:bodyPr>
          <a:lstStyle/>
          <a:p>
            <a:pPr algn="l">
              <a:lnSpc>
                <a:spcPts val="3187"/>
              </a:lnSpc>
            </a:pPr>
            <a:r>
              <a:rPr lang="en-US" sz="2562" b="true">
                <a:solidFill>
                  <a:srgbClr val="F4CAB8"/>
                </a:solidFill>
                <a:latin typeface="Arimo Bold"/>
                <a:ea typeface="Arimo Bold"/>
                <a:cs typeface="Arimo Bold"/>
                <a:sym typeface="Arimo Bold"/>
              </a:rPr>
              <a:t>Product Registration</a:t>
            </a:r>
          </a:p>
        </p:txBody>
      </p:sp>
      <p:grpSp>
        <p:nvGrpSpPr>
          <p:cNvPr name="Group 11" id="11"/>
          <p:cNvGrpSpPr/>
          <p:nvPr/>
        </p:nvGrpSpPr>
        <p:grpSpPr>
          <a:xfrm rot="0">
            <a:off x="5078909" y="2617291"/>
            <a:ext cx="3911501" cy="2417415"/>
            <a:chOff x="0" y="0"/>
            <a:chExt cx="5215335" cy="3223220"/>
          </a:xfrm>
        </p:grpSpPr>
        <p:sp>
          <p:nvSpPr>
            <p:cNvPr name="Freeform 12" id="12" descr="preencoded.png"/>
            <p:cNvSpPr/>
            <p:nvPr/>
          </p:nvSpPr>
          <p:spPr>
            <a:xfrm flipH="false" flipV="false" rot="0">
              <a:off x="0" y="0"/>
              <a:ext cx="5215382" cy="3223260"/>
            </a:xfrm>
            <a:custGeom>
              <a:avLst/>
              <a:gdLst/>
              <a:ahLst/>
              <a:cxnLst/>
              <a:rect r="r" b="b" t="t" l="l"/>
              <a:pathLst>
                <a:path h="3223260" w="5215382">
                  <a:moveTo>
                    <a:pt x="0" y="0"/>
                  </a:moveTo>
                  <a:lnTo>
                    <a:pt x="5215382" y="0"/>
                  </a:lnTo>
                  <a:lnTo>
                    <a:pt x="5215382" y="3223260"/>
                  </a:lnTo>
                  <a:lnTo>
                    <a:pt x="0" y="3223260"/>
                  </a:lnTo>
                  <a:lnTo>
                    <a:pt x="0" y="0"/>
                  </a:lnTo>
                  <a:close/>
                </a:path>
              </a:pathLst>
            </a:custGeom>
            <a:blipFill>
              <a:blip r:embed="rId3"/>
              <a:stretch>
                <a:fillRect l="-1" t="0" r="0" b="1"/>
              </a:stretch>
            </a:blipFill>
          </p:spPr>
        </p:sp>
      </p:grpSp>
      <p:sp>
        <p:nvSpPr>
          <p:cNvPr name="TextBox 13" id="13"/>
          <p:cNvSpPr txBox="true"/>
          <p:nvPr/>
        </p:nvSpPr>
        <p:spPr>
          <a:xfrm rot="0">
            <a:off x="5078909" y="5261372"/>
            <a:ext cx="3911501" cy="838200"/>
          </a:xfrm>
          <a:prstGeom prst="rect">
            <a:avLst/>
          </a:prstGeom>
        </p:spPr>
        <p:txBody>
          <a:bodyPr anchor="t" rtlCol="false" tIns="0" lIns="0" bIns="0" rIns="0">
            <a:spAutoFit/>
          </a:bodyPr>
          <a:lstStyle/>
          <a:p>
            <a:pPr algn="l">
              <a:lnSpc>
                <a:spcPts val="3187"/>
              </a:lnSpc>
            </a:pPr>
            <a:r>
              <a:rPr lang="en-US" sz="2562" b="true">
                <a:solidFill>
                  <a:srgbClr val="F4CAB8"/>
                </a:solidFill>
                <a:latin typeface="Arimo Bold"/>
                <a:ea typeface="Arimo Bold"/>
                <a:cs typeface="Arimo Bold"/>
                <a:sym typeface="Arimo Bold"/>
              </a:rPr>
              <a:t>Blockchain Entry Creation</a:t>
            </a:r>
          </a:p>
        </p:txBody>
      </p:sp>
      <p:grpSp>
        <p:nvGrpSpPr>
          <p:cNvPr name="Group 14" id="14"/>
          <p:cNvGrpSpPr/>
          <p:nvPr/>
        </p:nvGrpSpPr>
        <p:grpSpPr>
          <a:xfrm rot="0">
            <a:off x="9297591" y="2617291"/>
            <a:ext cx="3911501" cy="2417415"/>
            <a:chOff x="0" y="0"/>
            <a:chExt cx="5215335" cy="3223220"/>
          </a:xfrm>
        </p:grpSpPr>
        <p:sp>
          <p:nvSpPr>
            <p:cNvPr name="Freeform 15" id="15" descr="preencoded.png"/>
            <p:cNvSpPr/>
            <p:nvPr/>
          </p:nvSpPr>
          <p:spPr>
            <a:xfrm flipH="false" flipV="false" rot="0">
              <a:off x="0" y="0"/>
              <a:ext cx="5215382" cy="3223260"/>
            </a:xfrm>
            <a:custGeom>
              <a:avLst/>
              <a:gdLst/>
              <a:ahLst/>
              <a:cxnLst/>
              <a:rect r="r" b="b" t="t" l="l"/>
              <a:pathLst>
                <a:path h="3223260" w="5215382">
                  <a:moveTo>
                    <a:pt x="0" y="0"/>
                  </a:moveTo>
                  <a:lnTo>
                    <a:pt x="5215382" y="0"/>
                  </a:lnTo>
                  <a:lnTo>
                    <a:pt x="5215382" y="3223260"/>
                  </a:lnTo>
                  <a:lnTo>
                    <a:pt x="0" y="3223260"/>
                  </a:lnTo>
                  <a:lnTo>
                    <a:pt x="0" y="0"/>
                  </a:lnTo>
                  <a:close/>
                </a:path>
              </a:pathLst>
            </a:custGeom>
            <a:blipFill>
              <a:blip r:embed="rId4"/>
              <a:stretch>
                <a:fillRect l="-1" t="0" r="0" b="1"/>
              </a:stretch>
            </a:blipFill>
          </p:spPr>
        </p:sp>
      </p:grpSp>
      <p:sp>
        <p:nvSpPr>
          <p:cNvPr name="TextBox 16" id="16"/>
          <p:cNvSpPr txBox="true"/>
          <p:nvPr/>
        </p:nvSpPr>
        <p:spPr>
          <a:xfrm rot="0">
            <a:off x="9297591" y="5261372"/>
            <a:ext cx="3911501" cy="838200"/>
          </a:xfrm>
          <a:prstGeom prst="rect">
            <a:avLst/>
          </a:prstGeom>
        </p:spPr>
        <p:txBody>
          <a:bodyPr anchor="t" rtlCol="false" tIns="0" lIns="0" bIns="0" rIns="0">
            <a:spAutoFit/>
          </a:bodyPr>
          <a:lstStyle/>
          <a:p>
            <a:pPr algn="l">
              <a:lnSpc>
                <a:spcPts val="3187"/>
              </a:lnSpc>
            </a:pPr>
            <a:r>
              <a:rPr lang="en-US" sz="2562" b="true">
                <a:solidFill>
                  <a:srgbClr val="F4CAB8"/>
                </a:solidFill>
                <a:latin typeface="Arimo Bold"/>
                <a:ea typeface="Arimo Bold"/>
                <a:cs typeface="Arimo Bold"/>
                <a:sym typeface="Arimo Bold"/>
              </a:rPr>
              <a:t>Authenticity Verification</a:t>
            </a:r>
          </a:p>
        </p:txBody>
      </p:sp>
      <p:grpSp>
        <p:nvGrpSpPr>
          <p:cNvPr name="Group 17" id="17"/>
          <p:cNvGrpSpPr/>
          <p:nvPr/>
        </p:nvGrpSpPr>
        <p:grpSpPr>
          <a:xfrm rot="0">
            <a:off x="13516272" y="2617291"/>
            <a:ext cx="3911501" cy="2417415"/>
            <a:chOff x="0" y="0"/>
            <a:chExt cx="5215335" cy="3223220"/>
          </a:xfrm>
        </p:grpSpPr>
        <p:sp>
          <p:nvSpPr>
            <p:cNvPr name="Freeform 18" id="18" descr="preencoded.png"/>
            <p:cNvSpPr/>
            <p:nvPr/>
          </p:nvSpPr>
          <p:spPr>
            <a:xfrm flipH="false" flipV="false" rot="0">
              <a:off x="0" y="0"/>
              <a:ext cx="5215382" cy="3223260"/>
            </a:xfrm>
            <a:custGeom>
              <a:avLst/>
              <a:gdLst/>
              <a:ahLst/>
              <a:cxnLst/>
              <a:rect r="r" b="b" t="t" l="l"/>
              <a:pathLst>
                <a:path h="3223260" w="5215382">
                  <a:moveTo>
                    <a:pt x="0" y="0"/>
                  </a:moveTo>
                  <a:lnTo>
                    <a:pt x="5215382" y="0"/>
                  </a:lnTo>
                  <a:lnTo>
                    <a:pt x="5215382" y="3223260"/>
                  </a:lnTo>
                  <a:lnTo>
                    <a:pt x="0" y="3223260"/>
                  </a:lnTo>
                  <a:lnTo>
                    <a:pt x="0" y="0"/>
                  </a:lnTo>
                  <a:close/>
                </a:path>
              </a:pathLst>
            </a:custGeom>
            <a:blipFill>
              <a:blip r:embed="rId5"/>
              <a:stretch>
                <a:fillRect l="-1" t="0" r="0" b="1"/>
              </a:stretch>
            </a:blipFill>
          </p:spPr>
        </p:sp>
      </p:grpSp>
      <p:sp>
        <p:nvSpPr>
          <p:cNvPr name="TextBox 19" id="19"/>
          <p:cNvSpPr txBox="true"/>
          <p:nvPr/>
        </p:nvSpPr>
        <p:spPr>
          <a:xfrm rot="0">
            <a:off x="13516272" y="5261372"/>
            <a:ext cx="3277046" cy="428625"/>
          </a:xfrm>
          <a:prstGeom prst="rect">
            <a:avLst/>
          </a:prstGeom>
        </p:spPr>
        <p:txBody>
          <a:bodyPr anchor="t" rtlCol="false" tIns="0" lIns="0" bIns="0" rIns="0">
            <a:spAutoFit/>
          </a:bodyPr>
          <a:lstStyle/>
          <a:p>
            <a:pPr algn="l">
              <a:lnSpc>
                <a:spcPts val="3187"/>
              </a:lnSpc>
            </a:pPr>
            <a:r>
              <a:rPr lang="en-US" sz="2562" b="true">
                <a:solidFill>
                  <a:srgbClr val="F4CAB8"/>
                </a:solidFill>
                <a:latin typeface="Arimo Bold"/>
                <a:ea typeface="Arimo Bold"/>
                <a:cs typeface="Arimo Bold"/>
                <a:sym typeface="Arimo Bold"/>
              </a:rPr>
              <a:t>Immutable Ledger</a:t>
            </a:r>
          </a:p>
        </p:txBody>
      </p:sp>
      <p:grpSp>
        <p:nvGrpSpPr>
          <p:cNvPr name="Group 20" id="20"/>
          <p:cNvGrpSpPr/>
          <p:nvPr/>
        </p:nvGrpSpPr>
        <p:grpSpPr>
          <a:xfrm rot="0">
            <a:off x="860226" y="6591002"/>
            <a:ext cx="3911501" cy="2417415"/>
            <a:chOff x="0" y="0"/>
            <a:chExt cx="5215335" cy="3223220"/>
          </a:xfrm>
        </p:grpSpPr>
        <p:sp>
          <p:nvSpPr>
            <p:cNvPr name="Freeform 21" id="21" descr="preencoded.png"/>
            <p:cNvSpPr/>
            <p:nvPr/>
          </p:nvSpPr>
          <p:spPr>
            <a:xfrm flipH="false" flipV="false" rot="0">
              <a:off x="0" y="0"/>
              <a:ext cx="5215382" cy="3223260"/>
            </a:xfrm>
            <a:custGeom>
              <a:avLst/>
              <a:gdLst/>
              <a:ahLst/>
              <a:cxnLst/>
              <a:rect r="r" b="b" t="t" l="l"/>
              <a:pathLst>
                <a:path h="3223260" w="5215382">
                  <a:moveTo>
                    <a:pt x="0" y="0"/>
                  </a:moveTo>
                  <a:lnTo>
                    <a:pt x="5215382" y="0"/>
                  </a:lnTo>
                  <a:lnTo>
                    <a:pt x="5215382" y="3223260"/>
                  </a:lnTo>
                  <a:lnTo>
                    <a:pt x="0" y="3223260"/>
                  </a:lnTo>
                  <a:lnTo>
                    <a:pt x="0" y="0"/>
                  </a:lnTo>
                  <a:close/>
                </a:path>
              </a:pathLst>
            </a:custGeom>
            <a:blipFill>
              <a:blip r:embed="rId6"/>
              <a:stretch>
                <a:fillRect l="-1" t="0" r="0" b="1"/>
              </a:stretch>
            </a:blipFill>
          </p:spPr>
        </p:sp>
      </p:grpSp>
      <p:sp>
        <p:nvSpPr>
          <p:cNvPr name="TextBox 22" id="22"/>
          <p:cNvSpPr txBox="true"/>
          <p:nvPr/>
        </p:nvSpPr>
        <p:spPr>
          <a:xfrm rot="0">
            <a:off x="860226" y="9235082"/>
            <a:ext cx="3911501" cy="838200"/>
          </a:xfrm>
          <a:prstGeom prst="rect">
            <a:avLst/>
          </a:prstGeom>
        </p:spPr>
        <p:txBody>
          <a:bodyPr anchor="t" rtlCol="false" tIns="0" lIns="0" bIns="0" rIns="0">
            <a:spAutoFit/>
          </a:bodyPr>
          <a:lstStyle/>
          <a:p>
            <a:pPr algn="l">
              <a:lnSpc>
                <a:spcPts val="3187"/>
              </a:lnSpc>
            </a:pPr>
            <a:r>
              <a:rPr lang="en-US" sz="2562" b="true">
                <a:solidFill>
                  <a:srgbClr val="F4CAB8"/>
                </a:solidFill>
                <a:latin typeface="Arimo Bold"/>
                <a:ea typeface="Arimo Bold"/>
                <a:cs typeface="Arimo Bold"/>
                <a:sym typeface="Arimo Bold"/>
              </a:rPr>
              <a:t>User Roles and Access Control</a:t>
            </a:r>
          </a:p>
        </p:txBody>
      </p:sp>
      <p:grpSp>
        <p:nvGrpSpPr>
          <p:cNvPr name="Group 23" id="23"/>
          <p:cNvGrpSpPr/>
          <p:nvPr/>
        </p:nvGrpSpPr>
        <p:grpSpPr>
          <a:xfrm rot="0">
            <a:off x="5078909" y="6591002"/>
            <a:ext cx="3911501" cy="2417415"/>
            <a:chOff x="0" y="0"/>
            <a:chExt cx="5215335" cy="3223220"/>
          </a:xfrm>
        </p:grpSpPr>
        <p:sp>
          <p:nvSpPr>
            <p:cNvPr name="Freeform 24" id="24" descr="preencoded.png"/>
            <p:cNvSpPr/>
            <p:nvPr/>
          </p:nvSpPr>
          <p:spPr>
            <a:xfrm flipH="false" flipV="false" rot="0">
              <a:off x="0" y="0"/>
              <a:ext cx="5215382" cy="3223260"/>
            </a:xfrm>
            <a:custGeom>
              <a:avLst/>
              <a:gdLst/>
              <a:ahLst/>
              <a:cxnLst/>
              <a:rect r="r" b="b" t="t" l="l"/>
              <a:pathLst>
                <a:path h="3223260" w="5215382">
                  <a:moveTo>
                    <a:pt x="0" y="0"/>
                  </a:moveTo>
                  <a:lnTo>
                    <a:pt x="5215382" y="0"/>
                  </a:lnTo>
                  <a:lnTo>
                    <a:pt x="5215382" y="3223260"/>
                  </a:lnTo>
                  <a:lnTo>
                    <a:pt x="0" y="3223260"/>
                  </a:lnTo>
                  <a:lnTo>
                    <a:pt x="0" y="0"/>
                  </a:lnTo>
                  <a:close/>
                </a:path>
              </a:pathLst>
            </a:custGeom>
            <a:blipFill>
              <a:blip r:embed="rId7"/>
              <a:stretch>
                <a:fillRect l="-1" t="0" r="0" b="1"/>
              </a:stretch>
            </a:blipFill>
          </p:spPr>
        </p:sp>
      </p:grpSp>
      <p:sp>
        <p:nvSpPr>
          <p:cNvPr name="TextBox 25" id="25"/>
          <p:cNvSpPr txBox="true"/>
          <p:nvPr/>
        </p:nvSpPr>
        <p:spPr>
          <a:xfrm rot="0">
            <a:off x="5078909" y="9235082"/>
            <a:ext cx="3277046" cy="428625"/>
          </a:xfrm>
          <a:prstGeom prst="rect">
            <a:avLst/>
          </a:prstGeom>
        </p:spPr>
        <p:txBody>
          <a:bodyPr anchor="t" rtlCol="false" tIns="0" lIns="0" bIns="0" rIns="0">
            <a:spAutoFit/>
          </a:bodyPr>
          <a:lstStyle/>
          <a:p>
            <a:pPr algn="l">
              <a:lnSpc>
                <a:spcPts val="3187"/>
              </a:lnSpc>
            </a:pPr>
            <a:r>
              <a:rPr lang="en-US" sz="2562" b="true">
                <a:solidFill>
                  <a:srgbClr val="F4CAB8"/>
                </a:solidFill>
                <a:latin typeface="Arimo Bold"/>
                <a:ea typeface="Arimo Bold"/>
                <a:cs typeface="Arimo Bold"/>
                <a:sym typeface="Arimo Bold"/>
              </a:rPr>
              <a:t>Transaction Logging</a:t>
            </a:r>
          </a:p>
        </p:txBody>
      </p:sp>
      <p:grpSp>
        <p:nvGrpSpPr>
          <p:cNvPr name="Group 26" id="26"/>
          <p:cNvGrpSpPr/>
          <p:nvPr/>
        </p:nvGrpSpPr>
        <p:grpSpPr>
          <a:xfrm rot="0">
            <a:off x="9297591" y="6591002"/>
            <a:ext cx="3911501" cy="2417415"/>
            <a:chOff x="0" y="0"/>
            <a:chExt cx="5215335" cy="3223220"/>
          </a:xfrm>
        </p:grpSpPr>
        <p:sp>
          <p:nvSpPr>
            <p:cNvPr name="Freeform 27" id="27" descr="preencoded.png"/>
            <p:cNvSpPr/>
            <p:nvPr/>
          </p:nvSpPr>
          <p:spPr>
            <a:xfrm flipH="false" flipV="false" rot="0">
              <a:off x="0" y="0"/>
              <a:ext cx="5215382" cy="3223260"/>
            </a:xfrm>
            <a:custGeom>
              <a:avLst/>
              <a:gdLst/>
              <a:ahLst/>
              <a:cxnLst/>
              <a:rect r="r" b="b" t="t" l="l"/>
              <a:pathLst>
                <a:path h="3223260" w="5215382">
                  <a:moveTo>
                    <a:pt x="0" y="0"/>
                  </a:moveTo>
                  <a:lnTo>
                    <a:pt x="5215382" y="0"/>
                  </a:lnTo>
                  <a:lnTo>
                    <a:pt x="5215382" y="3223260"/>
                  </a:lnTo>
                  <a:lnTo>
                    <a:pt x="0" y="3223260"/>
                  </a:lnTo>
                  <a:lnTo>
                    <a:pt x="0" y="0"/>
                  </a:lnTo>
                  <a:close/>
                </a:path>
              </a:pathLst>
            </a:custGeom>
            <a:blipFill>
              <a:blip r:embed="rId8"/>
              <a:stretch>
                <a:fillRect l="-1" t="0" r="0" b="1"/>
              </a:stretch>
            </a:blipFill>
          </p:spPr>
        </p:sp>
      </p:grpSp>
      <p:sp>
        <p:nvSpPr>
          <p:cNvPr name="TextBox 28" id="28"/>
          <p:cNvSpPr txBox="true"/>
          <p:nvPr/>
        </p:nvSpPr>
        <p:spPr>
          <a:xfrm rot="0">
            <a:off x="9297591" y="9235082"/>
            <a:ext cx="3277046" cy="428625"/>
          </a:xfrm>
          <a:prstGeom prst="rect">
            <a:avLst/>
          </a:prstGeom>
        </p:spPr>
        <p:txBody>
          <a:bodyPr anchor="t" rtlCol="false" tIns="0" lIns="0" bIns="0" rIns="0">
            <a:spAutoFit/>
          </a:bodyPr>
          <a:lstStyle/>
          <a:p>
            <a:pPr algn="l">
              <a:lnSpc>
                <a:spcPts val="3187"/>
              </a:lnSpc>
            </a:pPr>
            <a:r>
              <a:rPr lang="en-US" sz="2562" b="true">
                <a:solidFill>
                  <a:srgbClr val="F4CAB8"/>
                </a:solidFill>
                <a:latin typeface="Arimo Bold"/>
                <a:ea typeface="Arimo Bold"/>
                <a:cs typeface="Arimo Bold"/>
                <a:sym typeface="Arimo Bold"/>
              </a:rPr>
              <a:t>Ownership Transfer</a:t>
            </a:r>
          </a:p>
        </p:txBody>
      </p:sp>
      <p:grpSp>
        <p:nvGrpSpPr>
          <p:cNvPr name="Group 29" id="29"/>
          <p:cNvGrpSpPr/>
          <p:nvPr/>
        </p:nvGrpSpPr>
        <p:grpSpPr>
          <a:xfrm rot="0">
            <a:off x="13516272" y="6591002"/>
            <a:ext cx="3911501" cy="2417415"/>
            <a:chOff x="0" y="0"/>
            <a:chExt cx="5215335" cy="3223220"/>
          </a:xfrm>
        </p:grpSpPr>
        <p:sp>
          <p:nvSpPr>
            <p:cNvPr name="Freeform 30" id="30" descr="preencoded.png"/>
            <p:cNvSpPr/>
            <p:nvPr/>
          </p:nvSpPr>
          <p:spPr>
            <a:xfrm flipH="false" flipV="false" rot="0">
              <a:off x="0" y="0"/>
              <a:ext cx="5215382" cy="3223260"/>
            </a:xfrm>
            <a:custGeom>
              <a:avLst/>
              <a:gdLst/>
              <a:ahLst/>
              <a:cxnLst/>
              <a:rect r="r" b="b" t="t" l="l"/>
              <a:pathLst>
                <a:path h="3223260" w="5215382">
                  <a:moveTo>
                    <a:pt x="0" y="0"/>
                  </a:moveTo>
                  <a:lnTo>
                    <a:pt x="5215382" y="0"/>
                  </a:lnTo>
                  <a:lnTo>
                    <a:pt x="5215382" y="3223260"/>
                  </a:lnTo>
                  <a:lnTo>
                    <a:pt x="0" y="3223260"/>
                  </a:lnTo>
                  <a:lnTo>
                    <a:pt x="0" y="0"/>
                  </a:lnTo>
                  <a:close/>
                </a:path>
              </a:pathLst>
            </a:custGeom>
            <a:blipFill>
              <a:blip r:embed="rId9"/>
              <a:stretch>
                <a:fillRect l="-1" t="0" r="0" b="1"/>
              </a:stretch>
            </a:blipFill>
          </p:spPr>
        </p:sp>
      </p:grpSp>
      <p:sp>
        <p:nvSpPr>
          <p:cNvPr name="TextBox 31" id="31"/>
          <p:cNvSpPr txBox="true"/>
          <p:nvPr/>
        </p:nvSpPr>
        <p:spPr>
          <a:xfrm rot="0">
            <a:off x="13516272" y="9235082"/>
            <a:ext cx="3521125" cy="428625"/>
          </a:xfrm>
          <a:prstGeom prst="rect">
            <a:avLst/>
          </a:prstGeom>
        </p:spPr>
        <p:txBody>
          <a:bodyPr anchor="t" rtlCol="false" tIns="0" lIns="0" bIns="0" rIns="0">
            <a:spAutoFit/>
          </a:bodyPr>
          <a:lstStyle/>
          <a:p>
            <a:pPr algn="l">
              <a:lnSpc>
                <a:spcPts val="3187"/>
              </a:lnSpc>
            </a:pPr>
            <a:r>
              <a:rPr lang="en-US" sz="2562" b="true">
                <a:solidFill>
                  <a:srgbClr val="F4CAB8"/>
                </a:solidFill>
                <a:latin typeface="Arimo Bold"/>
                <a:ea typeface="Arimo Bold"/>
                <a:cs typeface="Arimo Bold"/>
                <a:sym typeface="Arimo Bold"/>
              </a:rPr>
              <a:t>Counterfeit Reporting</a:t>
            </a:r>
          </a:p>
        </p:txBody>
      </p:sp>
    </p:spTree>
  </p:cSld>
  <p:clrMapOvr>
    <a:masterClrMapping/>
  </p:clrMapOvr>
  <p:transition spd="fast">
    <p:fade/>
  </p:transition>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421424"/>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5C2438"/>
            </a:solidFill>
            <a:ln w="12700">
              <a:solidFill>
                <a:srgbClr val="000000"/>
              </a:solidFill>
            </a:ln>
          </p:spPr>
        </p:sp>
      </p:grpSp>
      <p:sp>
        <p:nvSpPr>
          <p:cNvPr name="TextBox 6" id="6"/>
          <p:cNvSpPr txBox="true"/>
          <p:nvPr/>
        </p:nvSpPr>
        <p:spPr>
          <a:xfrm rot="0">
            <a:off x="691604" y="505271"/>
            <a:ext cx="6166842" cy="565100"/>
          </a:xfrm>
          <a:prstGeom prst="rect">
            <a:avLst/>
          </a:prstGeom>
        </p:spPr>
        <p:txBody>
          <a:bodyPr anchor="t" rtlCol="false" tIns="0" lIns="0" bIns="0" rIns="0">
            <a:spAutoFit/>
          </a:bodyPr>
          <a:lstStyle/>
          <a:p>
            <a:pPr algn="l">
              <a:lnSpc>
                <a:spcPts val="4125"/>
              </a:lnSpc>
            </a:pPr>
            <a:r>
              <a:rPr lang="en-US" sz="3312" b="true">
                <a:solidFill>
                  <a:srgbClr val="FFB393"/>
                </a:solidFill>
                <a:latin typeface="Arimo Bold"/>
                <a:ea typeface="Arimo Bold"/>
                <a:cs typeface="Arimo Bold"/>
                <a:sym typeface="Arimo Bold"/>
              </a:rPr>
              <a:t>Non-Functional Requirements</a:t>
            </a:r>
          </a:p>
        </p:txBody>
      </p:sp>
      <p:sp>
        <p:nvSpPr>
          <p:cNvPr name="TextBox 7" id="7"/>
          <p:cNvSpPr txBox="true"/>
          <p:nvPr/>
        </p:nvSpPr>
        <p:spPr>
          <a:xfrm rot="0">
            <a:off x="691604" y="1398835"/>
            <a:ext cx="16904791" cy="698897"/>
          </a:xfrm>
          <a:prstGeom prst="rect">
            <a:avLst/>
          </a:prstGeom>
        </p:spPr>
        <p:txBody>
          <a:bodyPr anchor="t" rtlCol="false" tIns="0" lIns="0" bIns="0" rIns="0">
            <a:spAutoFit/>
          </a:bodyPr>
          <a:lstStyle/>
          <a:p>
            <a:pPr algn="l">
              <a:lnSpc>
                <a:spcPts val="2437"/>
              </a:lnSpc>
            </a:pPr>
            <a:r>
              <a:rPr lang="en-US" sz="1500" b="true">
                <a:solidFill>
                  <a:srgbClr val="F4CAB8"/>
                </a:solidFill>
                <a:latin typeface="Montserrat Medium"/>
                <a:ea typeface="Montserrat Medium"/>
                <a:cs typeface="Montserrat Medium"/>
                <a:sym typeface="Montserrat Medium"/>
              </a:rPr>
              <a:t>Beyond core functionalities, specific technical components are vital for the system's performance, security, and scalability. These requirements ensure a robust and reliable platform.</a:t>
            </a:r>
          </a:p>
        </p:txBody>
      </p:sp>
      <p:sp>
        <p:nvSpPr>
          <p:cNvPr name="TextBox 8" id="8"/>
          <p:cNvSpPr txBox="true"/>
          <p:nvPr/>
        </p:nvSpPr>
        <p:spPr>
          <a:xfrm rot="0">
            <a:off x="691604" y="2498378"/>
            <a:ext cx="3750022" cy="414189"/>
          </a:xfrm>
          <a:prstGeom prst="rect">
            <a:avLst/>
          </a:prstGeom>
        </p:spPr>
        <p:txBody>
          <a:bodyPr anchor="t" rtlCol="false" tIns="0" lIns="0" bIns="0" rIns="0">
            <a:spAutoFit/>
          </a:bodyPr>
          <a:lstStyle/>
          <a:p>
            <a:pPr algn="l">
              <a:lnSpc>
                <a:spcPts val="3062"/>
              </a:lnSpc>
            </a:pPr>
            <a:r>
              <a:rPr lang="en-US" sz="2437" b="true">
                <a:solidFill>
                  <a:srgbClr val="FFB393"/>
                </a:solidFill>
                <a:latin typeface="Arimo Bold"/>
                <a:ea typeface="Arimo Bold"/>
                <a:cs typeface="Arimo Bold"/>
                <a:sym typeface="Arimo Bold"/>
              </a:rPr>
              <a:t>Hardware Specifications</a:t>
            </a:r>
          </a:p>
        </p:txBody>
      </p:sp>
      <p:sp>
        <p:nvSpPr>
          <p:cNvPr name="TextBox 9" id="9"/>
          <p:cNvSpPr txBox="true"/>
          <p:nvPr/>
        </p:nvSpPr>
        <p:spPr>
          <a:xfrm rot="0">
            <a:off x="691604" y="3043386"/>
            <a:ext cx="6472684" cy="382786"/>
          </a:xfrm>
          <a:prstGeom prst="rect">
            <a:avLst/>
          </a:prstGeom>
        </p:spPr>
        <p:txBody>
          <a:bodyPr anchor="t" rtlCol="false" tIns="0" lIns="0" bIns="0" rIns="0">
            <a:spAutoFit/>
          </a:bodyPr>
          <a:lstStyle/>
          <a:p>
            <a:pPr algn="l">
              <a:lnSpc>
                <a:spcPts val="2437"/>
              </a:lnSpc>
            </a:pPr>
            <a:r>
              <a:rPr lang="en-US" sz="1500" b="true">
                <a:solidFill>
                  <a:srgbClr val="F4CAB8"/>
                </a:solidFill>
                <a:latin typeface="Montserrat Bold"/>
                <a:ea typeface="Montserrat Bold"/>
                <a:cs typeface="Montserrat Bold"/>
                <a:sym typeface="Montserrat Bold"/>
              </a:rPr>
              <a:t>Processor:</a:t>
            </a:r>
            <a:r>
              <a:rPr lang="en-US" sz="1500" b="true">
                <a:solidFill>
                  <a:srgbClr val="F4CAB8"/>
                </a:solidFill>
                <a:latin typeface="Montserrat Medium"/>
                <a:ea typeface="Montserrat Medium"/>
                <a:cs typeface="Montserrat Medium"/>
                <a:sym typeface="Montserrat Medium"/>
              </a:rPr>
              <a:t> Intel Core i5 or equivalent</a:t>
            </a:r>
          </a:p>
        </p:txBody>
      </p:sp>
      <p:sp>
        <p:nvSpPr>
          <p:cNvPr name="TextBox 10" id="10"/>
          <p:cNvSpPr txBox="true"/>
          <p:nvPr/>
        </p:nvSpPr>
        <p:spPr>
          <a:xfrm rot="0">
            <a:off x="691604" y="3537197"/>
            <a:ext cx="6472684" cy="382786"/>
          </a:xfrm>
          <a:prstGeom prst="rect">
            <a:avLst/>
          </a:prstGeom>
        </p:spPr>
        <p:txBody>
          <a:bodyPr anchor="t" rtlCol="false" tIns="0" lIns="0" bIns="0" rIns="0">
            <a:spAutoFit/>
          </a:bodyPr>
          <a:lstStyle/>
          <a:p>
            <a:pPr algn="l">
              <a:lnSpc>
                <a:spcPts val="2437"/>
              </a:lnSpc>
            </a:pPr>
            <a:r>
              <a:rPr lang="en-US" sz="1500" b="true">
                <a:solidFill>
                  <a:srgbClr val="F4CAB8"/>
                </a:solidFill>
                <a:latin typeface="Montserrat Bold"/>
                <a:ea typeface="Montserrat Bold"/>
                <a:cs typeface="Montserrat Bold"/>
                <a:sym typeface="Montserrat Bold"/>
              </a:rPr>
              <a:t>RAM:</a:t>
            </a:r>
            <a:r>
              <a:rPr lang="en-US" sz="1500" b="true">
                <a:solidFill>
                  <a:srgbClr val="F4CAB8"/>
                </a:solidFill>
                <a:latin typeface="Montserrat Medium"/>
                <a:ea typeface="Montserrat Medium"/>
                <a:cs typeface="Montserrat Medium"/>
                <a:sym typeface="Montserrat Medium"/>
              </a:rPr>
              <a:t> 4GB minimum</a:t>
            </a:r>
          </a:p>
        </p:txBody>
      </p:sp>
      <p:grpSp>
        <p:nvGrpSpPr>
          <p:cNvPr name="Group 11" id="11"/>
          <p:cNvGrpSpPr/>
          <p:nvPr/>
        </p:nvGrpSpPr>
        <p:grpSpPr>
          <a:xfrm rot="0">
            <a:off x="691604" y="4142185"/>
            <a:ext cx="6472684" cy="6472684"/>
            <a:chOff x="0" y="0"/>
            <a:chExt cx="8630245" cy="8630245"/>
          </a:xfrm>
        </p:grpSpPr>
        <p:sp>
          <p:nvSpPr>
            <p:cNvPr name="Freeform 12" id="12" descr="preencoded.png"/>
            <p:cNvSpPr/>
            <p:nvPr/>
          </p:nvSpPr>
          <p:spPr>
            <a:xfrm flipH="false" flipV="false" rot="0">
              <a:off x="0" y="0"/>
              <a:ext cx="8630285" cy="8630285"/>
            </a:xfrm>
            <a:custGeom>
              <a:avLst/>
              <a:gdLst/>
              <a:ahLst/>
              <a:cxnLst/>
              <a:rect r="r" b="b" t="t" l="l"/>
              <a:pathLst>
                <a:path h="8630285" w="8630285">
                  <a:moveTo>
                    <a:pt x="0" y="0"/>
                  </a:moveTo>
                  <a:lnTo>
                    <a:pt x="8630285" y="0"/>
                  </a:lnTo>
                  <a:lnTo>
                    <a:pt x="8630285" y="8630285"/>
                  </a:lnTo>
                  <a:lnTo>
                    <a:pt x="0" y="8630285"/>
                  </a:lnTo>
                  <a:lnTo>
                    <a:pt x="0" y="0"/>
                  </a:lnTo>
                  <a:close/>
                </a:path>
              </a:pathLst>
            </a:custGeom>
            <a:blipFill>
              <a:blip r:embed="rId2"/>
              <a:stretch>
                <a:fillRect l="0" t="0" r="0" b="0"/>
              </a:stretch>
            </a:blipFill>
          </p:spPr>
        </p:sp>
      </p:grpSp>
      <p:sp>
        <p:nvSpPr>
          <p:cNvPr name="TextBox 13" id="13"/>
          <p:cNvSpPr txBox="true"/>
          <p:nvPr/>
        </p:nvSpPr>
        <p:spPr>
          <a:xfrm rot="0">
            <a:off x="7655719" y="2498378"/>
            <a:ext cx="3161556" cy="414189"/>
          </a:xfrm>
          <a:prstGeom prst="rect">
            <a:avLst/>
          </a:prstGeom>
        </p:spPr>
        <p:txBody>
          <a:bodyPr anchor="t" rtlCol="false" tIns="0" lIns="0" bIns="0" rIns="0">
            <a:spAutoFit/>
          </a:bodyPr>
          <a:lstStyle/>
          <a:p>
            <a:pPr algn="l">
              <a:lnSpc>
                <a:spcPts val="3062"/>
              </a:lnSpc>
            </a:pPr>
            <a:r>
              <a:rPr lang="en-US" sz="2437" b="true">
                <a:solidFill>
                  <a:srgbClr val="FFB393"/>
                </a:solidFill>
                <a:latin typeface="Arimo Bold"/>
                <a:ea typeface="Arimo Bold"/>
                <a:cs typeface="Arimo Bold"/>
                <a:sym typeface="Arimo Bold"/>
              </a:rPr>
              <a:t>Software Stack</a:t>
            </a:r>
          </a:p>
        </p:txBody>
      </p:sp>
      <p:sp>
        <p:nvSpPr>
          <p:cNvPr name="TextBox 14" id="14"/>
          <p:cNvSpPr txBox="true"/>
          <p:nvPr/>
        </p:nvSpPr>
        <p:spPr>
          <a:xfrm rot="0">
            <a:off x="7655719" y="3537197"/>
            <a:ext cx="9950054" cy="382786"/>
          </a:xfrm>
          <a:prstGeom prst="rect">
            <a:avLst/>
          </a:prstGeom>
        </p:spPr>
        <p:txBody>
          <a:bodyPr anchor="t" rtlCol="false" tIns="0" lIns="0" bIns="0" rIns="0">
            <a:spAutoFit/>
          </a:bodyPr>
          <a:lstStyle/>
          <a:p>
            <a:pPr algn="l">
              <a:lnSpc>
                <a:spcPts val="2437"/>
              </a:lnSpc>
            </a:pPr>
            <a:r>
              <a:rPr lang="en-US" sz="1500" b="true">
                <a:solidFill>
                  <a:srgbClr val="F4CAB8"/>
                </a:solidFill>
                <a:latin typeface="Montserrat Bold"/>
                <a:ea typeface="Montserrat Bold"/>
                <a:cs typeface="Montserrat Bold"/>
                <a:sym typeface="Montserrat Bold"/>
              </a:rPr>
              <a:t>Operating System:</a:t>
            </a:r>
            <a:r>
              <a:rPr lang="en-US" sz="1500" b="true">
                <a:solidFill>
                  <a:srgbClr val="F4CAB8"/>
                </a:solidFill>
                <a:latin typeface="Montserrat Medium"/>
                <a:ea typeface="Montserrat Medium"/>
                <a:cs typeface="Montserrat Medium"/>
                <a:sym typeface="Montserrat Medium"/>
              </a:rPr>
              <a:t> Windows 11</a:t>
            </a:r>
          </a:p>
        </p:txBody>
      </p:sp>
      <p:sp>
        <p:nvSpPr>
          <p:cNvPr name="TextBox 15" id="15"/>
          <p:cNvSpPr txBox="true"/>
          <p:nvPr/>
        </p:nvSpPr>
        <p:spPr>
          <a:xfrm rot="0">
            <a:off x="7655719" y="4031010"/>
            <a:ext cx="9950054" cy="698897"/>
          </a:xfrm>
          <a:prstGeom prst="rect">
            <a:avLst/>
          </a:prstGeom>
        </p:spPr>
        <p:txBody>
          <a:bodyPr anchor="t" rtlCol="false" tIns="0" lIns="0" bIns="0" rIns="0">
            <a:spAutoFit/>
          </a:bodyPr>
          <a:lstStyle/>
          <a:p>
            <a:pPr algn="l">
              <a:lnSpc>
                <a:spcPts val="2437"/>
              </a:lnSpc>
            </a:pPr>
            <a:r>
              <a:rPr lang="en-US" sz="1500" b="true">
                <a:solidFill>
                  <a:srgbClr val="F4CAB8"/>
                </a:solidFill>
                <a:latin typeface="Montserrat Bold"/>
                <a:ea typeface="Montserrat Bold"/>
                <a:cs typeface="Montserrat Bold"/>
                <a:sym typeface="Montserrat Bold"/>
              </a:rPr>
              <a:t>Blockchain Development:</a:t>
            </a:r>
            <a:r>
              <a:rPr lang="en-US" sz="1500" b="true">
                <a:solidFill>
                  <a:srgbClr val="F4CAB8"/>
                </a:solidFill>
                <a:latin typeface="Montserrat Medium"/>
                <a:ea typeface="Montserrat Medium"/>
                <a:cs typeface="Montserrat Medium"/>
                <a:sym typeface="Montserrat Medium"/>
              </a:rPr>
              <a:t> Ganache (personal blockchain), Solidity (smart contracts), MetaMask (browser extension)</a:t>
            </a:r>
          </a:p>
        </p:txBody>
      </p:sp>
      <p:sp>
        <p:nvSpPr>
          <p:cNvPr name="TextBox 16" id="16"/>
          <p:cNvSpPr txBox="true"/>
          <p:nvPr/>
        </p:nvSpPr>
        <p:spPr>
          <a:xfrm rot="0">
            <a:off x="7655719" y="4840933"/>
            <a:ext cx="9950054" cy="382786"/>
          </a:xfrm>
          <a:prstGeom prst="rect">
            <a:avLst/>
          </a:prstGeom>
        </p:spPr>
        <p:txBody>
          <a:bodyPr anchor="t" rtlCol="false" tIns="0" lIns="0" bIns="0" rIns="0">
            <a:spAutoFit/>
          </a:bodyPr>
          <a:lstStyle/>
          <a:p>
            <a:pPr algn="l">
              <a:lnSpc>
                <a:spcPts val="2437"/>
              </a:lnSpc>
            </a:pPr>
            <a:r>
              <a:rPr lang="en-US" sz="1500" b="true">
                <a:solidFill>
                  <a:srgbClr val="F4CAB8"/>
                </a:solidFill>
                <a:latin typeface="Montserrat Bold"/>
                <a:ea typeface="Montserrat Bold"/>
                <a:cs typeface="Montserrat Bold"/>
                <a:sym typeface="Montserrat Bold"/>
              </a:rPr>
              <a:t>IDE:</a:t>
            </a:r>
            <a:r>
              <a:rPr lang="en-US" sz="1500" b="true">
                <a:solidFill>
                  <a:srgbClr val="F4CAB8"/>
                </a:solidFill>
                <a:latin typeface="Montserrat Medium"/>
                <a:ea typeface="Montserrat Medium"/>
                <a:cs typeface="Montserrat Medium"/>
                <a:sym typeface="Montserrat Medium"/>
              </a:rPr>
              <a:t> Visual Studio Code (VS Code)</a:t>
            </a:r>
          </a:p>
        </p:txBody>
      </p:sp>
      <p:sp>
        <p:nvSpPr>
          <p:cNvPr name="TextBox 17" id="17"/>
          <p:cNvSpPr txBox="true"/>
          <p:nvPr/>
        </p:nvSpPr>
        <p:spPr>
          <a:xfrm rot="0">
            <a:off x="7655719" y="5334744"/>
            <a:ext cx="9950054" cy="382786"/>
          </a:xfrm>
          <a:prstGeom prst="rect">
            <a:avLst/>
          </a:prstGeom>
        </p:spPr>
        <p:txBody>
          <a:bodyPr anchor="t" rtlCol="false" tIns="0" lIns="0" bIns="0" rIns="0">
            <a:spAutoFit/>
          </a:bodyPr>
          <a:lstStyle/>
          <a:p>
            <a:pPr algn="l">
              <a:lnSpc>
                <a:spcPts val="2437"/>
              </a:lnSpc>
            </a:pPr>
            <a:r>
              <a:rPr lang="en-US" sz="1500" b="true">
                <a:solidFill>
                  <a:srgbClr val="F4CAB8"/>
                </a:solidFill>
                <a:latin typeface="Montserrat Bold"/>
                <a:ea typeface="Montserrat Bold"/>
                <a:cs typeface="Montserrat Bold"/>
                <a:sym typeface="Montserrat Bold"/>
              </a:rPr>
              <a:t>Backend:</a:t>
            </a:r>
            <a:r>
              <a:rPr lang="en-US" sz="1500" b="true">
                <a:solidFill>
                  <a:srgbClr val="F4CAB8"/>
                </a:solidFill>
                <a:latin typeface="Montserrat Medium"/>
                <a:ea typeface="Montserrat Medium"/>
                <a:cs typeface="Montserrat Medium"/>
                <a:sym typeface="Montserrat Medium"/>
              </a:rPr>
              <a:t> Flask (Python web framework)</a:t>
            </a:r>
          </a:p>
        </p:txBody>
      </p:sp>
      <p:sp>
        <p:nvSpPr>
          <p:cNvPr name="TextBox 18" id="18"/>
          <p:cNvSpPr txBox="true"/>
          <p:nvPr/>
        </p:nvSpPr>
        <p:spPr>
          <a:xfrm rot="0">
            <a:off x="7655719" y="5828556"/>
            <a:ext cx="9950054" cy="382786"/>
          </a:xfrm>
          <a:prstGeom prst="rect">
            <a:avLst/>
          </a:prstGeom>
        </p:spPr>
        <p:txBody>
          <a:bodyPr anchor="t" rtlCol="false" tIns="0" lIns="0" bIns="0" rIns="0">
            <a:spAutoFit/>
          </a:bodyPr>
          <a:lstStyle/>
          <a:p>
            <a:pPr algn="l">
              <a:lnSpc>
                <a:spcPts val="2437"/>
              </a:lnSpc>
            </a:pPr>
            <a:r>
              <a:rPr lang="en-US" sz="1500" b="true">
                <a:solidFill>
                  <a:srgbClr val="F4CAB8"/>
                </a:solidFill>
                <a:latin typeface="Montserrat Bold"/>
                <a:ea typeface="Montserrat Bold"/>
                <a:cs typeface="Montserrat Bold"/>
                <a:sym typeface="Montserrat Bold"/>
              </a:rPr>
              <a:t>Frontend:</a:t>
            </a:r>
            <a:r>
              <a:rPr lang="en-US" sz="1500" b="true">
                <a:solidFill>
                  <a:srgbClr val="F4CAB8"/>
                </a:solidFill>
                <a:latin typeface="Montserrat Medium"/>
                <a:ea typeface="Montserrat Medium"/>
                <a:cs typeface="Montserrat Medium"/>
                <a:sym typeface="Montserrat Medium"/>
              </a:rPr>
              <a:t> HTML, CSS, JavaScript, ReactJS</a:t>
            </a:r>
          </a:p>
        </p:txBody>
      </p:sp>
      <p:sp>
        <p:nvSpPr>
          <p:cNvPr name="TextBox 19" id="19"/>
          <p:cNvSpPr txBox="true"/>
          <p:nvPr/>
        </p:nvSpPr>
        <p:spPr>
          <a:xfrm rot="0">
            <a:off x="7655719" y="6322367"/>
            <a:ext cx="9950054" cy="382786"/>
          </a:xfrm>
          <a:prstGeom prst="rect">
            <a:avLst/>
          </a:prstGeom>
        </p:spPr>
        <p:txBody>
          <a:bodyPr anchor="t" rtlCol="false" tIns="0" lIns="0" bIns="0" rIns="0">
            <a:spAutoFit/>
          </a:bodyPr>
          <a:lstStyle/>
          <a:p>
            <a:pPr algn="l">
              <a:lnSpc>
                <a:spcPts val="2437"/>
              </a:lnSpc>
            </a:pPr>
            <a:r>
              <a:rPr lang="en-US" sz="1500" b="true">
                <a:solidFill>
                  <a:srgbClr val="F4CAB8"/>
                </a:solidFill>
                <a:latin typeface="Montserrat Bold"/>
                <a:ea typeface="Montserrat Bold"/>
                <a:cs typeface="Montserrat Bold"/>
                <a:sym typeface="Montserrat Bold"/>
              </a:rPr>
              <a:t>Databases:</a:t>
            </a:r>
            <a:r>
              <a:rPr lang="en-US" sz="1500" b="true">
                <a:solidFill>
                  <a:srgbClr val="F4CAB8"/>
                </a:solidFill>
                <a:latin typeface="Montserrat Medium"/>
                <a:ea typeface="Montserrat Medium"/>
                <a:cs typeface="Montserrat Medium"/>
                <a:sym typeface="Montserrat Medium"/>
              </a:rPr>
              <a:t> SQLite, MySQL</a:t>
            </a:r>
          </a:p>
        </p:txBody>
      </p:sp>
      <p:sp>
        <p:nvSpPr>
          <p:cNvPr name="TextBox 20" id="20"/>
          <p:cNvSpPr txBox="true"/>
          <p:nvPr/>
        </p:nvSpPr>
        <p:spPr>
          <a:xfrm rot="0">
            <a:off x="7655719" y="6816179"/>
            <a:ext cx="9950054" cy="382786"/>
          </a:xfrm>
          <a:prstGeom prst="rect">
            <a:avLst/>
          </a:prstGeom>
        </p:spPr>
        <p:txBody>
          <a:bodyPr anchor="t" rtlCol="false" tIns="0" lIns="0" bIns="0" rIns="0">
            <a:spAutoFit/>
          </a:bodyPr>
          <a:lstStyle/>
          <a:p>
            <a:pPr algn="l">
              <a:lnSpc>
                <a:spcPts val="2437"/>
              </a:lnSpc>
            </a:pPr>
            <a:r>
              <a:rPr lang="en-US" sz="1500" b="true">
                <a:solidFill>
                  <a:srgbClr val="F4CAB8"/>
                </a:solidFill>
                <a:latin typeface="Montserrat Bold"/>
                <a:ea typeface="Montserrat Bold"/>
                <a:cs typeface="Montserrat Bold"/>
                <a:sym typeface="Montserrat Bold"/>
              </a:rPr>
              <a:t>Additional:</a:t>
            </a:r>
            <a:r>
              <a:rPr lang="en-US" sz="1500" b="true">
                <a:solidFill>
                  <a:srgbClr val="F4CAB8"/>
                </a:solidFill>
                <a:latin typeface="Montserrat Medium"/>
                <a:ea typeface="Montserrat Medium"/>
                <a:cs typeface="Montserrat Medium"/>
                <a:sym typeface="Montserrat Medium"/>
              </a:rPr>
              <a:t> Anaconda (Python/R distribution)</a:t>
            </a:r>
          </a:p>
        </p:txBody>
      </p:sp>
    </p:spTree>
  </p:cSld>
  <p:clrMapOvr>
    <a:masterClrMapping/>
  </p:clrMapOvr>
  <p:transition spd="fast">
    <p:fade/>
  </p:transition>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421424"/>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5C2438"/>
            </a:solidFill>
            <a:ln w="12700">
              <a:solidFill>
                <a:srgbClr val="000000"/>
              </a:solidFill>
            </a:ln>
          </p:spPr>
        </p:sp>
      </p:grpSp>
      <p:sp>
        <p:nvSpPr>
          <p:cNvPr name="TextBox 6" id="6"/>
          <p:cNvSpPr txBox="true"/>
          <p:nvPr/>
        </p:nvSpPr>
        <p:spPr>
          <a:xfrm rot="0">
            <a:off x="755749" y="546199"/>
            <a:ext cx="5758458" cy="767358"/>
          </a:xfrm>
          <a:prstGeom prst="rect">
            <a:avLst/>
          </a:prstGeom>
        </p:spPr>
        <p:txBody>
          <a:bodyPr anchor="t" rtlCol="false" tIns="0" lIns="0" bIns="0" rIns="0">
            <a:spAutoFit/>
          </a:bodyPr>
          <a:lstStyle/>
          <a:p>
            <a:pPr algn="l">
              <a:lnSpc>
                <a:spcPts val="5625"/>
              </a:lnSpc>
            </a:pPr>
            <a:r>
              <a:rPr lang="en-US" sz="4499" b="true">
                <a:solidFill>
                  <a:srgbClr val="FFB393"/>
                </a:solidFill>
                <a:latin typeface="Arimo Bold"/>
                <a:ea typeface="Arimo Bold"/>
                <a:cs typeface="Arimo Bold"/>
                <a:sym typeface="Arimo Bold"/>
              </a:rPr>
              <a:t>SYSTEM DESIGN</a:t>
            </a:r>
          </a:p>
        </p:txBody>
      </p:sp>
      <p:sp>
        <p:nvSpPr>
          <p:cNvPr name="TextBox 7" id="7"/>
          <p:cNvSpPr txBox="true"/>
          <p:nvPr/>
        </p:nvSpPr>
        <p:spPr>
          <a:xfrm rot="0">
            <a:off x="755749" y="1361777"/>
            <a:ext cx="4606677" cy="613767"/>
          </a:xfrm>
          <a:prstGeom prst="rect">
            <a:avLst/>
          </a:prstGeom>
        </p:spPr>
        <p:txBody>
          <a:bodyPr anchor="t" rtlCol="false" tIns="0" lIns="0" bIns="0" rIns="0">
            <a:spAutoFit/>
          </a:bodyPr>
          <a:lstStyle/>
          <a:p>
            <a:pPr algn="l">
              <a:lnSpc>
                <a:spcPts val="4499"/>
              </a:lnSpc>
            </a:pPr>
            <a:r>
              <a:rPr lang="en-US" sz="3625" b="true">
                <a:solidFill>
                  <a:srgbClr val="FFB393"/>
                </a:solidFill>
                <a:latin typeface="Arimo Bold"/>
                <a:ea typeface="Arimo Bold"/>
                <a:cs typeface="Arimo Bold"/>
                <a:sym typeface="Arimo Bold"/>
              </a:rPr>
              <a:t>System Architecture</a:t>
            </a:r>
          </a:p>
        </p:txBody>
      </p:sp>
      <p:grpSp>
        <p:nvGrpSpPr>
          <p:cNvPr name="Group 8" id="8"/>
          <p:cNvGrpSpPr/>
          <p:nvPr/>
        </p:nvGrpSpPr>
        <p:grpSpPr>
          <a:xfrm rot="0">
            <a:off x="755749" y="2299395"/>
            <a:ext cx="14643497" cy="7395865"/>
            <a:chOff x="0" y="0"/>
            <a:chExt cx="19524663" cy="9861153"/>
          </a:xfrm>
        </p:grpSpPr>
        <p:sp>
          <p:nvSpPr>
            <p:cNvPr name="Freeform 9" id="9" descr="preencoded.png"/>
            <p:cNvSpPr/>
            <p:nvPr/>
          </p:nvSpPr>
          <p:spPr>
            <a:xfrm flipH="false" flipV="false" rot="0">
              <a:off x="0" y="0"/>
              <a:ext cx="19524726" cy="9861169"/>
            </a:xfrm>
            <a:custGeom>
              <a:avLst/>
              <a:gdLst/>
              <a:ahLst/>
              <a:cxnLst/>
              <a:rect r="r" b="b" t="t" l="l"/>
              <a:pathLst>
                <a:path h="9861169" w="19524726">
                  <a:moveTo>
                    <a:pt x="0" y="0"/>
                  </a:moveTo>
                  <a:lnTo>
                    <a:pt x="19524726" y="0"/>
                  </a:lnTo>
                  <a:lnTo>
                    <a:pt x="19524726" y="9861169"/>
                  </a:lnTo>
                  <a:lnTo>
                    <a:pt x="0" y="9861169"/>
                  </a:lnTo>
                  <a:lnTo>
                    <a:pt x="0" y="0"/>
                  </a:lnTo>
                  <a:close/>
                </a:path>
              </a:pathLst>
            </a:custGeom>
            <a:blipFill>
              <a:blip r:embed="rId2"/>
              <a:stretch>
                <a:fillRect l="-17" t="0" r="-17" b="0"/>
              </a:stretch>
            </a:blipFill>
          </p:spPr>
        </p:sp>
      </p:grpSp>
    </p:spTree>
  </p:cSld>
  <p:clrMapOvr>
    <a:masterClrMapping/>
  </p:clrMapOvr>
  <p:transition spd="fast">
    <p:fade/>
  </p:transition>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421424"/>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5C2438"/>
            </a:solidFill>
            <a:ln w="12700">
              <a:solidFill>
                <a:srgbClr val="000000"/>
              </a:solidFill>
            </a:ln>
          </p:spPr>
        </p:sp>
      </p:grpSp>
      <p:sp>
        <p:nvSpPr>
          <p:cNvPr name="TextBox 6" id="6"/>
          <p:cNvSpPr txBox="true"/>
          <p:nvPr/>
        </p:nvSpPr>
        <p:spPr>
          <a:xfrm rot="0">
            <a:off x="936575" y="748159"/>
            <a:ext cx="14251186" cy="958603"/>
          </a:xfrm>
          <a:prstGeom prst="rect">
            <a:avLst/>
          </a:prstGeom>
        </p:spPr>
        <p:txBody>
          <a:bodyPr anchor="t" rtlCol="false" tIns="0" lIns="0" bIns="0" rIns="0">
            <a:spAutoFit/>
          </a:bodyPr>
          <a:lstStyle/>
          <a:p>
            <a:pPr algn="l">
              <a:lnSpc>
                <a:spcPts val="7000"/>
              </a:lnSpc>
            </a:pPr>
            <a:r>
              <a:rPr lang="en-US" sz="5562" b="true">
                <a:solidFill>
                  <a:srgbClr val="FFB393"/>
                </a:solidFill>
                <a:latin typeface="Arimo Bold"/>
                <a:ea typeface="Arimo Bold"/>
                <a:cs typeface="Arimo Bold"/>
                <a:sym typeface="Arimo Bold"/>
              </a:rPr>
              <a:t>Block Diagram                     </a:t>
            </a:r>
          </a:p>
        </p:txBody>
      </p:sp>
      <p:grpSp>
        <p:nvGrpSpPr>
          <p:cNvPr name="Group 7" id="7"/>
          <p:cNvGrpSpPr/>
          <p:nvPr/>
        </p:nvGrpSpPr>
        <p:grpSpPr>
          <a:xfrm rot="0">
            <a:off x="4186237" y="1789672"/>
            <a:ext cx="9929812" cy="7854390"/>
            <a:chOff x="0" y="0"/>
            <a:chExt cx="13239750" cy="10472520"/>
          </a:xfrm>
        </p:grpSpPr>
        <p:sp>
          <p:nvSpPr>
            <p:cNvPr name="Freeform 8" id="8" descr="preencoded.png"/>
            <p:cNvSpPr/>
            <p:nvPr/>
          </p:nvSpPr>
          <p:spPr>
            <a:xfrm flipH="false" flipV="false" rot="0">
              <a:off x="0" y="0"/>
              <a:ext cx="13239750" cy="10472547"/>
            </a:xfrm>
            <a:custGeom>
              <a:avLst/>
              <a:gdLst/>
              <a:ahLst/>
              <a:cxnLst/>
              <a:rect r="r" b="b" t="t" l="l"/>
              <a:pathLst>
                <a:path h="10472547" w="13239750">
                  <a:moveTo>
                    <a:pt x="0" y="0"/>
                  </a:moveTo>
                  <a:lnTo>
                    <a:pt x="13239750" y="0"/>
                  </a:lnTo>
                  <a:lnTo>
                    <a:pt x="13239750" y="10472547"/>
                  </a:lnTo>
                  <a:lnTo>
                    <a:pt x="0" y="10472547"/>
                  </a:lnTo>
                  <a:lnTo>
                    <a:pt x="0" y="0"/>
                  </a:lnTo>
                  <a:close/>
                </a:path>
              </a:pathLst>
            </a:custGeom>
            <a:blipFill>
              <a:blip r:embed="rId2"/>
              <a:stretch>
                <a:fillRect l="0" t="-2590" r="0" b="-2590"/>
              </a:stretch>
            </a:blipFill>
          </p:spPr>
        </p:sp>
      </p:grpSp>
    </p:spTree>
  </p:cSld>
  <p:clrMapOvr>
    <a:masterClrMapping/>
  </p:clrMapOvr>
  <p:transition spd="fast">
    <p:fade/>
  </p:transition>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421424"/>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5C2438"/>
            </a:solidFill>
            <a:ln w="12700">
              <a:solidFill>
                <a:srgbClr val="000000"/>
              </a:solidFill>
            </a:ln>
          </p:spPr>
        </p:sp>
      </p:grpSp>
      <p:sp>
        <p:nvSpPr>
          <p:cNvPr name="TextBox 6" id="6"/>
          <p:cNvSpPr txBox="true"/>
          <p:nvPr/>
        </p:nvSpPr>
        <p:spPr>
          <a:xfrm rot="0">
            <a:off x="936575" y="863947"/>
            <a:ext cx="7136755" cy="958602"/>
          </a:xfrm>
          <a:prstGeom prst="rect">
            <a:avLst/>
          </a:prstGeom>
        </p:spPr>
        <p:txBody>
          <a:bodyPr anchor="t" rtlCol="false" tIns="0" lIns="0" bIns="0" rIns="0">
            <a:spAutoFit/>
          </a:bodyPr>
          <a:lstStyle/>
          <a:p>
            <a:pPr algn="l">
              <a:lnSpc>
                <a:spcPts val="7000"/>
              </a:lnSpc>
            </a:pPr>
            <a:r>
              <a:rPr lang="en-US" sz="5562" b="true">
                <a:solidFill>
                  <a:srgbClr val="FFB393"/>
                </a:solidFill>
                <a:latin typeface="Arimo Bold"/>
                <a:ea typeface="Arimo Bold"/>
                <a:cs typeface="Arimo Bold"/>
                <a:sym typeface="Arimo Bold"/>
              </a:rPr>
              <a:t>Implementation</a:t>
            </a:r>
          </a:p>
        </p:txBody>
      </p:sp>
      <p:sp>
        <p:nvSpPr>
          <p:cNvPr name="TextBox 7" id="7"/>
          <p:cNvSpPr txBox="true"/>
          <p:nvPr/>
        </p:nvSpPr>
        <p:spPr>
          <a:xfrm rot="0">
            <a:off x="936575" y="2272010"/>
            <a:ext cx="16414849" cy="941785"/>
          </a:xfrm>
          <a:prstGeom prst="rect">
            <a:avLst/>
          </a:prstGeom>
        </p:spPr>
        <p:txBody>
          <a:bodyPr anchor="t" rtlCol="false" tIns="0" lIns="0" bIns="0" rIns="0">
            <a:spAutoFit/>
          </a:bodyPr>
          <a:lstStyle/>
          <a:p>
            <a:pPr algn="l">
              <a:lnSpc>
                <a:spcPts val="3312"/>
              </a:lnSpc>
            </a:pPr>
            <a:r>
              <a:rPr lang="en-US" sz="2062" b="true">
                <a:solidFill>
                  <a:srgbClr val="F4CAB8"/>
                </a:solidFill>
                <a:latin typeface="Montserrat Medium"/>
                <a:ea typeface="Montserrat Medium"/>
                <a:cs typeface="Montserrat Medium"/>
                <a:sym typeface="Montserrat Medium"/>
              </a:rPr>
              <a:t>Our system is designed with a modular approach, ensuring robust, maintainable, and scalable operations. Each component performs specific functions, contributing to overall system integrity and efficiency.</a:t>
            </a:r>
          </a:p>
        </p:txBody>
      </p:sp>
      <p:grpSp>
        <p:nvGrpSpPr>
          <p:cNvPr name="Group 8" id="8"/>
          <p:cNvGrpSpPr/>
          <p:nvPr/>
        </p:nvGrpSpPr>
        <p:grpSpPr>
          <a:xfrm rot="0">
            <a:off x="936575" y="3514874"/>
            <a:ext cx="3852862" cy="2381250"/>
            <a:chOff x="0" y="0"/>
            <a:chExt cx="5137150" cy="3175000"/>
          </a:xfrm>
        </p:grpSpPr>
        <p:sp>
          <p:nvSpPr>
            <p:cNvPr name="Freeform 9" id="9" descr="preencoded.png"/>
            <p:cNvSpPr/>
            <p:nvPr/>
          </p:nvSpPr>
          <p:spPr>
            <a:xfrm flipH="false" flipV="false" rot="0">
              <a:off x="0" y="0"/>
              <a:ext cx="5137150" cy="3175000"/>
            </a:xfrm>
            <a:custGeom>
              <a:avLst/>
              <a:gdLst/>
              <a:ahLst/>
              <a:cxnLst/>
              <a:rect r="r" b="b" t="t" l="l"/>
              <a:pathLst>
                <a:path h="3175000" w="5137150">
                  <a:moveTo>
                    <a:pt x="0" y="0"/>
                  </a:moveTo>
                  <a:lnTo>
                    <a:pt x="5137150" y="0"/>
                  </a:lnTo>
                  <a:lnTo>
                    <a:pt x="5137150" y="3175000"/>
                  </a:lnTo>
                  <a:lnTo>
                    <a:pt x="0" y="3175000"/>
                  </a:lnTo>
                  <a:lnTo>
                    <a:pt x="0" y="0"/>
                  </a:lnTo>
                  <a:close/>
                </a:path>
              </a:pathLst>
            </a:custGeom>
            <a:blipFill>
              <a:blip r:embed="rId2"/>
              <a:stretch>
                <a:fillRect l="-61" t="0" r="-61" b="0"/>
              </a:stretch>
            </a:blipFill>
          </p:spPr>
        </p:sp>
      </p:grpSp>
      <p:sp>
        <p:nvSpPr>
          <p:cNvPr name="TextBox 10" id="10"/>
          <p:cNvSpPr txBox="true"/>
          <p:nvPr/>
        </p:nvSpPr>
        <p:spPr>
          <a:xfrm rot="0">
            <a:off x="936575" y="6116091"/>
            <a:ext cx="3774430" cy="493663"/>
          </a:xfrm>
          <a:prstGeom prst="rect">
            <a:avLst/>
          </a:prstGeom>
        </p:spPr>
        <p:txBody>
          <a:bodyPr anchor="t" rtlCol="false" tIns="0" lIns="0" bIns="0" rIns="0">
            <a:spAutoFit/>
          </a:bodyPr>
          <a:lstStyle/>
          <a:p>
            <a:pPr algn="l">
              <a:lnSpc>
                <a:spcPts val="3500"/>
              </a:lnSpc>
            </a:pPr>
            <a:r>
              <a:rPr lang="en-US" sz="2750" b="true">
                <a:solidFill>
                  <a:srgbClr val="F4CAB8"/>
                </a:solidFill>
                <a:latin typeface="Arimo Bold"/>
                <a:ea typeface="Arimo Bold"/>
                <a:cs typeface="Arimo Bold"/>
                <a:sym typeface="Arimo Bold"/>
              </a:rPr>
              <a:t>Manufacturer Module</a:t>
            </a:r>
          </a:p>
        </p:txBody>
      </p:sp>
      <p:sp>
        <p:nvSpPr>
          <p:cNvPr name="TextBox 11" id="11"/>
          <p:cNvSpPr txBox="true"/>
          <p:nvPr/>
        </p:nvSpPr>
        <p:spPr>
          <a:xfrm rot="0">
            <a:off x="936575" y="6684466"/>
            <a:ext cx="3852862" cy="1797844"/>
          </a:xfrm>
          <a:prstGeom prst="rect">
            <a:avLst/>
          </a:prstGeom>
        </p:spPr>
        <p:txBody>
          <a:bodyPr anchor="t" rtlCol="false" tIns="0" lIns="0" bIns="0" rIns="0">
            <a:spAutoFit/>
          </a:bodyPr>
          <a:lstStyle/>
          <a:p>
            <a:pPr algn="l">
              <a:lnSpc>
                <a:spcPts val="3312"/>
              </a:lnSpc>
            </a:pPr>
            <a:r>
              <a:rPr lang="en-US" sz="2062" b="true">
                <a:solidFill>
                  <a:srgbClr val="F4CAB8"/>
                </a:solidFill>
                <a:latin typeface="Montserrat Medium"/>
                <a:ea typeface="Montserrat Medium"/>
                <a:cs typeface="Montserrat Medium"/>
                <a:sym typeface="Montserrat Medium"/>
              </a:rPr>
              <a:t>Manages product origin, manufacturing details, and initial registration onto the blockchain.</a:t>
            </a:r>
          </a:p>
        </p:txBody>
      </p:sp>
      <p:grpSp>
        <p:nvGrpSpPr>
          <p:cNvPr name="Group 12" id="12"/>
          <p:cNvGrpSpPr/>
          <p:nvPr/>
        </p:nvGrpSpPr>
        <p:grpSpPr>
          <a:xfrm rot="0">
            <a:off x="5123855" y="3514874"/>
            <a:ext cx="3852862" cy="2381250"/>
            <a:chOff x="0" y="0"/>
            <a:chExt cx="5137150" cy="3175000"/>
          </a:xfrm>
        </p:grpSpPr>
        <p:sp>
          <p:nvSpPr>
            <p:cNvPr name="Freeform 13" id="13" descr="preencoded.png"/>
            <p:cNvSpPr/>
            <p:nvPr/>
          </p:nvSpPr>
          <p:spPr>
            <a:xfrm flipH="false" flipV="false" rot="0">
              <a:off x="0" y="0"/>
              <a:ext cx="5137150" cy="3175000"/>
            </a:xfrm>
            <a:custGeom>
              <a:avLst/>
              <a:gdLst/>
              <a:ahLst/>
              <a:cxnLst/>
              <a:rect r="r" b="b" t="t" l="l"/>
              <a:pathLst>
                <a:path h="3175000" w="5137150">
                  <a:moveTo>
                    <a:pt x="0" y="0"/>
                  </a:moveTo>
                  <a:lnTo>
                    <a:pt x="5137150" y="0"/>
                  </a:lnTo>
                  <a:lnTo>
                    <a:pt x="5137150" y="3175000"/>
                  </a:lnTo>
                  <a:lnTo>
                    <a:pt x="0" y="3175000"/>
                  </a:lnTo>
                  <a:lnTo>
                    <a:pt x="0" y="0"/>
                  </a:lnTo>
                  <a:close/>
                </a:path>
              </a:pathLst>
            </a:custGeom>
            <a:blipFill>
              <a:blip r:embed="rId3"/>
              <a:stretch>
                <a:fillRect l="-61" t="0" r="-61" b="0"/>
              </a:stretch>
            </a:blipFill>
          </p:spPr>
        </p:sp>
      </p:grpSp>
      <p:sp>
        <p:nvSpPr>
          <p:cNvPr name="TextBox 14" id="14"/>
          <p:cNvSpPr txBox="true"/>
          <p:nvPr/>
        </p:nvSpPr>
        <p:spPr>
          <a:xfrm rot="0">
            <a:off x="5123855" y="6116091"/>
            <a:ext cx="3568304" cy="493663"/>
          </a:xfrm>
          <a:prstGeom prst="rect">
            <a:avLst/>
          </a:prstGeom>
        </p:spPr>
        <p:txBody>
          <a:bodyPr anchor="t" rtlCol="false" tIns="0" lIns="0" bIns="0" rIns="0">
            <a:spAutoFit/>
          </a:bodyPr>
          <a:lstStyle/>
          <a:p>
            <a:pPr algn="l">
              <a:lnSpc>
                <a:spcPts val="3500"/>
              </a:lnSpc>
            </a:pPr>
            <a:r>
              <a:rPr lang="en-US" sz="2750" b="true">
                <a:solidFill>
                  <a:srgbClr val="F4CAB8"/>
                </a:solidFill>
                <a:latin typeface="Arimo Bold"/>
                <a:ea typeface="Arimo Bold"/>
                <a:cs typeface="Arimo Bold"/>
                <a:sym typeface="Arimo Bold"/>
              </a:rPr>
              <a:t>Seller Module</a:t>
            </a:r>
          </a:p>
        </p:txBody>
      </p:sp>
      <p:sp>
        <p:nvSpPr>
          <p:cNvPr name="TextBox 15" id="15"/>
          <p:cNvSpPr txBox="true"/>
          <p:nvPr/>
        </p:nvSpPr>
        <p:spPr>
          <a:xfrm rot="0">
            <a:off x="5123855" y="6684466"/>
            <a:ext cx="3852862" cy="1797844"/>
          </a:xfrm>
          <a:prstGeom prst="rect">
            <a:avLst/>
          </a:prstGeom>
        </p:spPr>
        <p:txBody>
          <a:bodyPr anchor="t" rtlCol="false" tIns="0" lIns="0" bIns="0" rIns="0">
            <a:spAutoFit/>
          </a:bodyPr>
          <a:lstStyle/>
          <a:p>
            <a:pPr algn="l">
              <a:lnSpc>
                <a:spcPts val="3312"/>
              </a:lnSpc>
            </a:pPr>
            <a:r>
              <a:rPr lang="en-US" sz="2062" b="true">
                <a:solidFill>
                  <a:srgbClr val="F4CAB8"/>
                </a:solidFill>
                <a:latin typeface="Montserrat Medium"/>
                <a:ea typeface="Montserrat Medium"/>
                <a:cs typeface="Montserrat Medium"/>
                <a:sym typeface="Montserrat Medium"/>
              </a:rPr>
              <a:t>Handles product listing, sales transactions, and updates product status on the blockchain.</a:t>
            </a:r>
          </a:p>
        </p:txBody>
      </p:sp>
      <p:grpSp>
        <p:nvGrpSpPr>
          <p:cNvPr name="Group 16" id="16"/>
          <p:cNvGrpSpPr/>
          <p:nvPr/>
        </p:nvGrpSpPr>
        <p:grpSpPr>
          <a:xfrm rot="0">
            <a:off x="9311134" y="3514874"/>
            <a:ext cx="3852862" cy="2381250"/>
            <a:chOff x="0" y="0"/>
            <a:chExt cx="5137150" cy="3175000"/>
          </a:xfrm>
        </p:grpSpPr>
        <p:sp>
          <p:nvSpPr>
            <p:cNvPr name="Freeform 17" id="17" descr="preencoded.png"/>
            <p:cNvSpPr/>
            <p:nvPr/>
          </p:nvSpPr>
          <p:spPr>
            <a:xfrm flipH="false" flipV="false" rot="0">
              <a:off x="0" y="0"/>
              <a:ext cx="5137150" cy="3175000"/>
            </a:xfrm>
            <a:custGeom>
              <a:avLst/>
              <a:gdLst/>
              <a:ahLst/>
              <a:cxnLst/>
              <a:rect r="r" b="b" t="t" l="l"/>
              <a:pathLst>
                <a:path h="3175000" w="5137150">
                  <a:moveTo>
                    <a:pt x="0" y="0"/>
                  </a:moveTo>
                  <a:lnTo>
                    <a:pt x="5137150" y="0"/>
                  </a:lnTo>
                  <a:lnTo>
                    <a:pt x="5137150" y="3175000"/>
                  </a:lnTo>
                  <a:lnTo>
                    <a:pt x="0" y="3175000"/>
                  </a:lnTo>
                  <a:lnTo>
                    <a:pt x="0" y="0"/>
                  </a:lnTo>
                  <a:close/>
                </a:path>
              </a:pathLst>
            </a:custGeom>
            <a:blipFill>
              <a:blip r:embed="rId4"/>
              <a:stretch>
                <a:fillRect l="-61" t="0" r="-61" b="0"/>
              </a:stretch>
            </a:blipFill>
          </p:spPr>
        </p:sp>
      </p:grpSp>
      <p:sp>
        <p:nvSpPr>
          <p:cNvPr name="TextBox 18" id="18"/>
          <p:cNvSpPr txBox="true"/>
          <p:nvPr/>
        </p:nvSpPr>
        <p:spPr>
          <a:xfrm rot="0">
            <a:off x="9311134" y="6116091"/>
            <a:ext cx="3568304" cy="493663"/>
          </a:xfrm>
          <a:prstGeom prst="rect">
            <a:avLst/>
          </a:prstGeom>
        </p:spPr>
        <p:txBody>
          <a:bodyPr anchor="t" rtlCol="false" tIns="0" lIns="0" bIns="0" rIns="0">
            <a:spAutoFit/>
          </a:bodyPr>
          <a:lstStyle/>
          <a:p>
            <a:pPr algn="l">
              <a:lnSpc>
                <a:spcPts val="3500"/>
              </a:lnSpc>
            </a:pPr>
            <a:r>
              <a:rPr lang="en-US" sz="2750" b="true">
                <a:solidFill>
                  <a:srgbClr val="F4CAB8"/>
                </a:solidFill>
                <a:latin typeface="Arimo Bold"/>
                <a:ea typeface="Arimo Bold"/>
                <a:cs typeface="Arimo Bold"/>
                <a:sym typeface="Arimo Bold"/>
              </a:rPr>
              <a:t>Consumer Module</a:t>
            </a:r>
          </a:p>
        </p:txBody>
      </p:sp>
      <p:sp>
        <p:nvSpPr>
          <p:cNvPr name="TextBox 19" id="19"/>
          <p:cNvSpPr txBox="true"/>
          <p:nvPr/>
        </p:nvSpPr>
        <p:spPr>
          <a:xfrm rot="0">
            <a:off x="9311134" y="6684466"/>
            <a:ext cx="3852862" cy="1797844"/>
          </a:xfrm>
          <a:prstGeom prst="rect">
            <a:avLst/>
          </a:prstGeom>
        </p:spPr>
        <p:txBody>
          <a:bodyPr anchor="t" rtlCol="false" tIns="0" lIns="0" bIns="0" rIns="0">
            <a:spAutoFit/>
          </a:bodyPr>
          <a:lstStyle/>
          <a:p>
            <a:pPr algn="l">
              <a:lnSpc>
                <a:spcPts val="3312"/>
              </a:lnSpc>
            </a:pPr>
            <a:r>
              <a:rPr lang="en-US" sz="2062" b="true">
                <a:solidFill>
                  <a:srgbClr val="F4CAB8"/>
                </a:solidFill>
                <a:latin typeface="Montserrat Medium"/>
                <a:ea typeface="Montserrat Medium"/>
                <a:cs typeface="Montserrat Medium"/>
                <a:sym typeface="Montserrat Medium"/>
              </a:rPr>
              <a:t>Allows users to verify product authenticity, track its journey, and provide feedback.</a:t>
            </a:r>
          </a:p>
        </p:txBody>
      </p:sp>
      <p:grpSp>
        <p:nvGrpSpPr>
          <p:cNvPr name="Group 20" id="20"/>
          <p:cNvGrpSpPr/>
          <p:nvPr/>
        </p:nvGrpSpPr>
        <p:grpSpPr>
          <a:xfrm rot="0">
            <a:off x="13498414" y="3514874"/>
            <a:ext cx="3853011" cy="2381250"/>
            <a:chOff x="0" y="0"/>
            <a:chExt cx="5137348" cy="3175000"/>
          </a:xfrm>
        </p:grpSpPr>
        <p:sp>
          <p:nvSpPr>
            <p:cNvPr name="Freeform 21" id="21" descr="preencoded.png"/>
            <p:cNvSpPr/>
            <p:nvPr/>
          </p:nvSpPr>
          <p:spPr>
            <a:xfrm flipH="false" flipV="false" rot="0">
              <a:off x="0" y="0"/>
              <a:ext cx="5137404" cy="3175000"/>
            </a:xfrm>
            <a:custGeom>
              <a:avLst/>
              <a:gdLst/>
              <a:ahLst/>
              <a:cxnLst/>
              <a:rect r="r" b="b" t="t" l="l"/>
              <a:pathLst>
                <a:path h="3175000" w="5137404">
                  <a:moveTo>
                    <a:pt x="0" y="0"/>
                  </a:moveTo>
                  <a:lnTo>
                    <a:pt x="5137404" y="0"/>
                  </a:lnTo>
                  <a:lnTo>
                    <a:pt x="5137404" y="3175000"/>
                  </a:lnTo>
                  <a:lnTo>
                    <a:pt x="0" y="3175000"/>
                  </a:lnTo>
                  <a:lnTo>
                    <a:pt x="0" y="0"/>
                  </a:lnTo>
                  <a:close/>
                </a:path>
              </a:pathLst>
            </a:custGeom>
            <a:blipFill>
              <a:blip r:embed="rId5"/>
              <a:stretch>
                <a:fillRect l="-59" t="0" r="-58" b="0"/>
              </a:stretch>
            </a:blipFill>
          </p:spPr>
        </p:sp>
      </p:grpSp>
      <p:sp>
        <p:nvSpPr>
          <p:cNvPr name="TextBox 22" id="22"/>
          <p:cNvSpPr txBox="true"/>
          <p:nvPr/>
        </p:nvSpPr>
        <p:spPr>
          <a:xfrm rot="0">
            <a:off x="13498414" y="6116091"/>
            <a:ext cx="3853011" cy="939701"/>
          </a:xfrm>
          <a:prstGeom prst="rect">
            <a:avLst/>
          </a:prstGeom>
        </p:spPr>
        <p:txBody>
          <a:bodyPr anchor="t" rtlCol="false" tIns="0" lIns="0" bIns="0" rIns="0">
            <a:spAutoFit/>
          </a:bodyPr>
          <a:lstStyle/>
          <a:p>
            <a:pPr algn="l">
              <a:lnSpc>
                <a:spcPts val="3500"/>
              </a:lnSpc>
            </a:pPr>
            <a:r>
              <a:rPr lang="en-US" sz="2750" b="true">
                <a:solidFill>
                  <a:srgbClr val="F4CAB8"/>
                </a:solidFill>
                <a:latin typeface="Arimo Bold"/>
                <a:ea typeface="Arimo Bold"/>
                <a:cs typeface="Arimo Bold"/>
                <a:sym typeface="Arimo Bold"/>
              </a:rPr>
              <a:t>Blockchain Verification Module</a:t>
            </a:r>
          </a:p>
        </p:txBody>
      </p:sp>
      <p:sp>
        <p:nvSpPr>
          <p:cNvPr name="TextBox 23" id="23"/>
          <p:cNvSpPr txBox="true"/>
          <p:nvPr/>
        </p:nvSpPr>
        <p:spPr>
          <a:xfrm rot="0">
            <a:off x="13498414" y="7130504"/>
            <a:ext cx="3853011" cy="2225874"/>
          </a:xfrm>
          <a:prstGeom prst="rect">
            <a:avLst/>
          </a:prstGeom>
        </p:spPr>
        <p:txBody>
          <a:bodyPr anchor="t" rtlCol="false" tIns="0" lIns="0" bIns="0" rIns="0">
            <a:spAutoFit/>
          </a:bodyPr>
          <a:lstStyle/>
          <a:p>
            <a:pPr algn="l">
              <a:lnSpc>
                <a:spcPts val="3312"/>
              </a:lnSpc>
            </a:pPr>
            <a:r>
              <a:rPr lang="en-US" sz="2062" b="true">
                <a:solidFill>
                  <a:srgbClr val="F4CAB8"/>
                </a:solidFill>
                <a:latin typeface="Montserrat Medium"/>
                <a:ea typeface="Montserrat Medium"/>
                <a:cs typeface="Montserrat Medium"/>
                <a:sym typeface="Montserrat Medium"/>
              </a:rPr>
              <a:t>Ensures data integrity, immutability, and transparency across all transactions within the system.</a:t>
            </a:r>
          </a:p>
        </p:txBody>
      </p:sp>
    </p:spTree>
  </p:cSld>
  <p:clrMapOvr>
    <a:masterClrMapping/>
  </p:clrMapOvr>
  <p:transition spd="fast">
    <p:fade/>
  </p:transition>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421424"/>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5C2438"/>
            </a:solidFill>
            <a:ln w="12700">
              <a:solidFill>
                <a:srgbClr val="000000"/>
              </a:solidFill>
            </a:ln>
          </p:spPr>
        </p:sp>
      </p:grpSp>
      <p:grpSp>
        <p:nvGrpSpPr>
          <p:cNvPr name="Group 6" id="6"/>
          <p:cNvGrpSpPr/>
          <p:nvPr/>
        </p:nvGrpSpPr>
        <p:grpSpPr>
          <a:xfrm rot="0">
            <a:off x="936575" y="1066651"/>
            <a:ext cx="14107566" cy="6860232"/>
            <a:chOff x="0" y="0"/>
            <a:chExt cx="18810088" cy="9146977"/>
          </a:xfrm>
        </p:grpSpPr>
        <p:sp>
          <p:nvSpPr>
            <p:cNvPr name="Freeform 7" id="7" descr="preencoded.png"/>
            <p:cNvSpPr/>
            <p:nvPr/>
          </p:nvSpPr>
          <p:spPr>
            <a:xfrm flipH="false" flipV="false" rot="0">
              <a:off x="0" y="0"/>
              <a:ext cx="18810097" cy="9146921"/>
            </a:xfrm>
            <a:custGeom>
              <a:avLst/>
              <a:gdLst/>
              <a:ahLst/>
              <a:cxnLst/>
              <a:rect r="r" b="b" t="t" l="l"/>
              <a:pathLst>
                <a:path h="9146921" w="18810097">
                  <a:moveTo>
                    <a:pt x="0" y="0"/>
                  </a:moveTo>
                  <a:lnTo>
                    <a:pt x="18810097" y="0"/>
                  </a:lnTo>
                  <a:lnTo>
                    <a:pt x="18810097" y="9146921"/>
                  </a:lnTo>
                  <a:lnTo>
                    <a:pt x="0" y="9146921"/>
                  </a:lnTo>
                  <a:lnTo>
                    <a:pt x="0" y="0"/>
                  </a:lnTo>
                  <a:close/>
                </a:path>
              </a:pathLst>
            </a:custGeom>
            <a:blipFill>
              <a:blip r:embed="rId2"/>
              <a:stretch>
                <a:fillRect l="-12" t="0" r="-12" b="0"/>
              </a:stretch>
            </a:blipFill>
          </p:spPr>
        </p:sp>
      </p:grpSp>
    </p:spTree>
  </p:cSld>
  <p:clrMapOvr>
    <a:masterClrMapping/>
  </p:clrMapOvr>
  <p:transition spd="fast">
    <p:fade/>
  </p:transition>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421424"/>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5C2438"/>
            </a:solidFill>
            <a:ln w="12700">
              <a:solidFill>
                <a:srgbClr val="000000"/>
              </a:solidFill>
            </a:ln>
          </p:spPr>
        </p:sp>
      </p:grpSp>
      <p:grpSp>
        <p:nvGrpSpPr>
          <p:cNvPr name="Group 6" id="6"/>
          <p:cNvGrpSpPr/>
          <p:nvPr/>
        </p:nvGrpSpPr>
        <p:grpSpPr>
          <a:xfrm rot="0">
            <a:off x="16049019" y="9686925"/>
            <a:ext cx="2153256" cy="514350"/>
            <a:chOff x="0" y="0"/>
            <a:chExt cx="2871008" cy="685800"/>
          </a:xfrm>
        </p:grpSpPr>
        <p:sp>
          <p:nvSpPr>
            <p:cNvPr name="Freeform 7" id="7" descr="preencoded.png">
              <a:hlinkClick r:id="rId2"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3"/>
              <a:stretch>
                <a:fillRect l="0" t="0" r="-1" b="0"/>
              </a:stretch>
            </a:blipFill>
          </p:spPr>
        </p:sp>
      </p:grpSp>
      <p:grpSp>
        <p:nvGrpSpPr>
          <p:cNvPr name="Group 8" id="8"/>
          <p:cNvGrpSpPr/>
          <p:nvPr/>
        </p:nvGrpSpPr>
        <p:grpSpPr>
          <a:xfrm rot="0">
            <a:off x="11430000" y="0"/>
            <a:ext cx="6858000" cy="10287000"/>
            <a:chOff x="0" y="0"/>
            <a:chExt cx="9144000" cy="13716000"/>
          </a:xfrm>
        </p:grpSpPr>
        <p:sp>
          <p:nvSpPr>
            <p:cNvPr name="Freeform 9" id="9"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4"/>
              <a:stretch>
                <a:fillRect l="0" t="0" r="0" b="0"/>
              </a:stretch>
            </a:blipFill>
          </p:spPr>
        </p:sp>
      </p:grpSp>
      <p:sp>
        <p:nvSpPr>
          <p:cNvPr name="TextBox 10" id="10"/>
          <p:cNvSpPr txBox="true"/>
          <p:nvPr/>
        </p:nvSpPr>
        <p:spPr>
          <a:xfrm rot="0">
            <a:off x="936575" y="2914055"/>
            <a:ext cx="9556849" cy="1850529"/>
          </a:xfrm>
          <a:prstGeom prst="rect">
            <a:avLst/>
          </a:prstGeom>
        </p:spPr>
        <p:txBody>
          <a:bodyPr anchor="t" rtlCol="false" tIns="0" lIns="0" bIns="0" rIns="0">
            <a:spAutoFit/>
          </a:bodyPr>
          <a:lstStyle/>
          <a:p>
            <a:pPr algn="l">
              <a:lnSpc>
                <a:spcPts val="7000"/>
              </a:lnSpc>
            </a:pPr>
            <a:r>
              <a:rPr lang="en-US" sz="5562" b="true">
                <a:solidFill>
                  <a:srgbClr val="FFB393"/>
                </a:solidFill>
                <a:latin typeface="Arimo Bold"/>
                <a:ea typeface="Arimo Bold"/>
                <a:cs typeface="Arimo Bold"/>
                <a:sym typeface="Arimo Bold"/>
              </a:rPr>
              <a:t>System Testing &amp; Quality Assurance</a:t>
            </a:r>
          </a:p>
        </p:txBody>
      </p:sp>
      <p:sp>
        <p:nvSpPr>
          <p:cNvPr name="TextBox 11" id="11"/>
          <p:cNvSpPr txBox="true"/>
          <p:nvPr/>
        </p:nvSpPr>
        <p:spPr>
          <a:xfrm rot="0">
            <a:off x="936575" y="5080247"/>
            <a:ext cx="9556849" cy="2225874"/>
          </a:xfrm>
          <a:prstGeom prst="rect">
            <a:avLst/>
          </a:prstGeom>
        </p:spPr>
        <p:txBody>
          <a:bodyPr anchor="t" rtlCol="false" tIns="0" lIns="0" bIns="0" rIns="0">
            <a:spAutoFit/>
          </a:bodyPr>
          <a:lstStyle/>
          <a:p>
            <a:pPr algn="l">
              <a:lnSpc>
                <a:spcPts val="3312"/>
              </a:lnSpc>
            </a:pPr>
            <a:r>
              <a:rPr lang="en-US" sz="2062" b="true">
                <a:solidFill>
                  <a:srgbClr val="F4CAB8"/>
                </a:solidFill>
                <a:latin typeface="Montserrat Medium"/>
                <a:ea typeface="Montserrat Medium"/>
                <a:cs typeface="Montserrat Medium"/>
                <a:sym typeface="Montserrat Medium"/>
              </a:rPr>
              <a:t>Testing is the systematic evaluation of a system, application, or component to identify discrepancies between expected and actual behavior. It ensures the software meets specified requirements, functions correctly, and delivers desired outcomes, guaranteeing robustness and reliability.</a:t>
            </a:r>
          </a:p>
        </p:txBody>
      </p:sp>
    </p:spTree>
  </p:cSld>
  <p:clrMapOvr>
    <a:masterClrMapping/>
  </p:clrMapOvr>
</p:sld>
</file>

<file path=ppt/slides/slide1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421424"/>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5C2438"/>
            </a:solidFill>
            <a:ln w="12700">
              <a:solidFill>
                <a:srgbClr val="000000"/>
              </a:solidFill>
            </a:ln>
          </p:spPr>
        </p:sp>
      </p:grpSp>
      <p:sp>
        <p:nvSpPr>
          <p:cNvPr name="TextBox 6" id="6"/>
          <p:cNvSpPr txBox="true"/>
          <p:nvPr/>
        </p:nvSpPr>
        <p:spPr>
          <a:xfrm rot="0">
            <a:off x="914549" y="1079004"/>
            <a:ext cx="6968877" cy="928241"/>
          </a:xfrm>
          <a:prstGeom prst="rect">
            <a:avLst/>
          </a:prstGeom>
        </p:spPr>
        <p:txBody>
          <a:bodyPr anchor="t" rtlCol="false" tIns="0" lIns="0" bIns="0" rIns="0">
            <a:spAutoFit/>
          </a:bodyPr>
          <a:lstStyle/>
          <a:p>
            <a:pPr algn="l">
              <a:lnSpc>
                <a:spcPts val="6812"/>
              </a:lnSpc>
            </a:pPr>
            <a:r>
              <a:rPr lang="en-US" sz="5437" b="true">
                <a:solidFill>
                  <a:srgbClr val="FFB393"/>
                </a:solidFill>
                <a:latin typeface="Arimo Bold"/>
                <a:ea typeface="Arimo Bold"/>
                <a:cs typeface="Arimo Bold"/>
                <a:sym typeface="Arimo Bold"/>
              </a:rPr>
              <a:t>System Test Cases</a:t>
            </a:r>
          </a:p>
        </p:txBody>
      </p:sp>
      <p:sp>
        <p:nvSpPr>
          <p:cNvPr name="TextBox 7" id="7"/>
          <p:cNvSpPr txBox="true"/>
          <p:nvPr/>
        </p:nvSpPr>
        <p:spPr>
          <a:xfrm rot="0">
            <a:off x="914549" y="2453580"/>
            <a:ext cx="16458902" cy="912316"/>
          </a:xfrm>
          <a:prstGeom prst="rect">
            <a:avLst/>
          </a:prstGeom>
        </p:spPr>
        <p:txBody>
          <a:bodyPr anchor="t" rtlCol="false" tIns="0" lIns="0" bIns="0" rIns="0">
            <a:spAutoFit/>
          </a:bodyPr>
          <a:lstStyle/>
          <a:p>
            <a:pPr algn="l">
              <a:lnSpc>
                <a:spcPts val="3250"/>
              </a:lnSpc>
            </a:pPr>
            <a:r>
              <a:rPr lang="en-US" sz="2000" b="true">
                <a:solidFill>
                  <a:srgbClr val="F4CAB8"/>
                </a:solidFill>
                <a:latin typeface="Montserrat Medium"/>
                <a:ea typeface="Montserrat Medium"/>
                <a:cs typeface="Montserrat Medium"/>
                <a:sym typeface="Montserrat Medium"/>
              </a:rPr>
              <a:t>To ensure the robustness and reliability of our system, we conducted a series of focused test cases for each core module. These tests confirm that each component performs as expected, validating the system's overall integrity and functionality.</a:t>
            </a:r>
          </a:p>
        </p:txBody>
      </p:sp>
      <p:grpSp>
        <p:nvGrpSpPr>
          <p:cNvPr name="Group 8" id="8"/>
          <p:cNvGrpSpPr/>
          <p:nvPr/>
        </p:nvGrpSpPr>
        <p:grpSpPr>
          <a:xfrm rot="0">
            <a:off x="909786" y="3655070"/>
            <a:ext cx="16468427" cy="4370486"/>
            <a:chOff x="0" y="0"/>
            <a:chExt cx="21957903" cy="5827315"/>
          </a:xfrm>
        </p:grpSpPr>
        <p:sp>
          <p:nvSpPr>
            <p:cNvPr name="Freeform 9" id="9"/>
            <p:cNvSpPr/>
            <p:nvPr/>
          </p:nvSpPr>
          <p:spPr>
            <a:xfrm flipH="false" flipV="false" rot="0">
              <a:off x="0" y="0"/>
              <a:ext cx="21957919" cy="5827395"/>
            </a:xfrm>
            <a:custGeom>
              <a:avLst/>
              <a:gdLst/>
              <a:ahLst/>
              <a:cxnLst/>
              <a:rect r="r" b="b" t="t" l="l"/>
              <a:pathLst>
                <a:path h="5827395" w="21957919">
                  <a:moveTo>
                    <a:pt x="0" y="58674"/>
                  </a:moveTo>
                  <a:cubicBezTo>
                    <a:pt x="0" y="26289"/>
                    <a:pt x="26289" y="0"/>
                    <a:pt x="58674" y="0"/>
                  </a:cubicBezTo>
                  <a:lnTo>
                    <a:pt x="21899245" y="0"/>
                  </a:lnTo>
                  <a:lnTo>
                    <a:pt x="21899245" y="6350"/>
                  </a:lnTo>
                  <a:lnTo>
                    <a:pt x="21899245" y="0"/>
                  </a:lnTo>
                  <a:cubicBezTo>
                    <a:pt x="21931630" y="0"/>
                    <a:pt x="21957919" y="26289"/>
                    <a:pt x="21957919" y="58674"/>
                  </a:cubicBezTo>
                  <a:lnTo>
                    <a:pt x="21951569" y="58674"/>
                  </a:lnTo>
                  <a:lnTo>
                    <a:pt x="21957919" y="58674"/>
                  </a:lnTo>
                  <a:lnTo>
                    <a:pt x="21957919" y="5768721"/>
                  </a:lnTo>
                  <a:lnTo>
                    <a:pt x="21951569" y="5768721"/>
                  </a:lnTo>
                  <a:lnTo>
                    <a:pt x="21957919" y="5768721"/>
                  </a:lnTo>
                  <a:cubicBezTo>
                    <a:pt x="21957919" y="5801106"/>
                    <a:pt x="21931630" y="5827395"/>
                    <a:pt x="21899245" y="5827395"/>
                  </a:cubicBezTo>
                  <a:lnTo>
                    <a:pt x="21899245" y="5821045"/>
                  </a:lnTo>
                  <a:lnTo>
                    <a:pt x="21899245" y="5827395"/>
                  </a:lnTo>
                  <a:lnTo>
                    <a:pt x="58674" y="5827395"/>
                  </a:lnTo>
                  <a:lnTo>
                    <a:pt x="58674" y="5821045"/>
                  </a:lnTo>
                  <a:lnTo>
                    <a:pt x="58674" y="5827395"/>
                  </a:lnTo>
                  <a:cubicBezTo>
                    <a:pt x="26289" y="5827395"/>
                    <a:pt x="0" y="5801106"/>
                    <a:pt x="0" y="5768721"/>
                  </a:cubicBezTo>
                  <a:lnTo>
                    <a:pt x="0" y="58674"/>
                  </a:lnTo>
                  <a:lnTo>
                    <a:pt x="6350" y="58674"/>
                  </a:lnTo>
                  <a:lnTo>
                    <a:pt x="0" y="58674"/>
                  </a:lnTo>
                  <a:moveTo>
                    <a:pt x="12700" y="58674"/>
                  </a:moveTo>
                  <a:lnTo>
                    <a:pt x="12700" y="5768721"/>
                  </a:lnTo>
                  <a:lnTo>
                    <a:pt x="6350" y="5768721"/>
                  </a:lnTo>
                  <a:lnTo>
                    <a:pt x="12700" y="5768721"/>
                  </a:lnTo>
                  <a:cubicBezTo>
                    <a:pt x="12700" y="5794121"/>
                    <a:pt x="33274" y="5814695"/>
                    <a:pt x="58674" y="5814695"/>
                  </a:cubicBezTo>
                  <a:lnTo>
                    <a:pt x="21899245" y="5814695"/>
                  </a:lnTo>
                  <a:cubicBezTo>
                    <a:pt x="21924645" y="5814695"/>
                    <a:pt x="21945219" y="5794121"/>
                    <a:pt x="21945219" y="5768721"/>
                  </a:cubicBezTo>
                  <a:lnTo>
                    <a:pt x="21945219" y="58674"/>
                  </a:lnTo>
                  <a:cubicBezTo>
                    <a:pt x="21945219" y="33274"/>
                    <a:pt x="21924645" y="12700"/>
                    <a:pt x="21899245" y="12700"/>
                  </a:cubicBezTo>
                  <a:lnTo>
                    <a:pt x="58674" y="12700"/>
                  </a:lnTo>
                  <a:lnTo>
                    <a:pt x="58674" y="6350"/>
                  </a:lnTo>
                  <a:lnTo>
                    <a:pt x="58674" y="12700"/>
                  </a:lnTo>
                  <a:cubicBezTo>
                    <a:pt x="33274" y="12700"/>
                    <a:pt x="12700" y="33274"/>
                    <a:pt x="12700" y="58674"/>
                  </a:cubicBezTo>
                  <a:close/>
                </a:path>
              </a:pathLst>
            </a:custGeom>
            <a:solidFill>
              <a:srgbClr val="FFFFFF">
                <a:alpha val="5490"/>
              </a:srgbClr>
            </a:solidFill>
            <a:ln w="12700">
              <a:solidFill>
                <a:srgbClr val="000000"/>
              </a:solidFill>
            </a:ln>
          </p:spPr>
        </p:sp>
      </p:grpSp>
      <p:grpSp>
        <p:nvGrpSpPr>
          <p:cNvPr name="Group 10" id="10"/>
          <p:cNvGrpSpPr/>
          <p:nvPr/>
        </p:nvGrpSpPr>
        <p:grpSpPr>
          <a:xfrm rot="0">
            <a:off x="924074" y="3669357"/>
            <a:ext cx="16439852" cy="1168599"/>
            <a:chOff x="0" y="0"/>
            <a:chExt cx="21919803" cy="1558132"/>
          </a:xfrm>
        </p:grpSpPr>
        <p:sp>
          <p:nvSpPr>
            <p:cNvPr name="Freeform 11" id="11"/>
            <p:cNvSpPr/>
            <p:nvPr/>
          </p:nvSpPr>
          <p:spPr>
            <a:xfrm flipH="false" flipV="false" rot="0">
              <a:off x="0" y="0"/>
              <a:ext cx="21919819" cy="1558163"/>
            </a:xfrm>
            <a:custGeom>
              <a:avLst/>
              <a:gdLst/>
              <a:ahLst/>
              <a:cxnLst/>
              <a:rect r="r" b="b" t="t" l="l"/>
              <a:pathLst>
                <a:path h="1558163" w="21919819">
                  <a:moveTo>
                    <a:pt x="0" y="0"/>
                  </a:moveTo>
                  <a:lnTo>
                    <a:pt x="21919819" y="0"/>
                  </a:lnTo>
                  <a:lnTo>
                    <a:pt x="21919819" y="1558163"/>
                  </a:lnTo>
                  <a:lnTo>
                    <a:pt x="0" y="1558163"/>
                  </a:lnTo>
                  <a:close/>
                </a:path>
              </a:pathLst>
            </a:custGeom>
            <a:solidFill>
              <a:srgbClr val="FFFFFF">
                <a:alpha val="0"/>
              </a:srgbClr>
            </a:solidFill>
            <a:ln w="12700">
              <a:solidFill>
                <a:srgbClr val="000000"/>
              </a:solidFill>
            </a:ln>
          </p:spPr>
        </p:sp>
      </p:grpSp>
      <p:sp>
        <p:nvSpPr>
          <p:cNvPr name="TextBox 12" id="12"/>
          <p:cNvSpPr txBox="true"/>
          <p:nvPr/>
        </p:nvSpPr>
        <p:spPr>
          <a:xfrm rot="0">
            <a:off x="1185714" y="3759399"/>
            <a:ext cx="787896" cy="494259"/>
          </a:xfrm>
          <a:prstGeom prst="rect">
            <a:avLst/>
          </a:prstGeom>
        </p:spPr>
        <p:txBody>
          <a:bodyPr anchor="t" rtlCol="false" tIns="0" lIns="0" bIns="0" rIns="0">
            <a:spAutoFit/>
          </a:bodyPr>
          <a:lstStyle/>
          <a:p>
            <a:pPr algn="l">
              <a:lnSpc>
                <a:spcPts val="3250"/>
              </a:lnSpc>
            </a:pPr>
            <a:r>
              <a:rPr lang="en-US" sz="2000" b="true">
                <a:solidFill>
                  <a:srgbClr val="F4CAB8"/>
                </a:solidFill>
                <a:latin typeface="Montserrat Medium"/>
                <a:ea typeface="Montserrat Medium"/>
                <a:cs typeface="Montserrat Medium"/>
                <a:sym typeface="Montserrat Medium"/>
              </a:rPr>
              <a:t>1</a:t>
            </a:r>
          </a:p>
        </p:txBody>
      </p:sp>
      <p:sp>
        <p:nvSpPr>
          <p:cNvPr name="TextBox 13" id="13"/>
          <p:cNvSpPr txBox="true"/>
          <p:nvPr/>
        </p:nvSpPr>
        <p:spPr>
          <a:xfrm rot="0">
            <a:off x="2505521" y="3759399"/>
            <a:ext cx="2262782" cy="912316"/>
          </a:xfrm>
          <a:prstGeom prst="rect">
            <a:avLst/>
          </a:prstGeom>
        </p:spPr>
        <p:txBody>
          <a:bodyPr anchor="t" rtlCol="false" tIns="0" lIns="0" bIns="0" rIns="0">
            <a:spAutoFit/>
          </a:bodyPr>
          <a:lstStyle/>
          <a:p>
            <a:pPr algn="l">
              <a:lnSpc>
                <a:spcPts val="3250"/>
              </a:lnSpc>
            </a:pPr>
            <a:r>
              <a:rPr lang="en-US" sz="2000" b="true">
                <a:solidFill>
                  <a:srgbClr val="F4CAB8"/>
                </a:solidFill>
                <a:latin typeface="Montserrat Medium"/>
                <a:ea typeface="Montserrat Medium"/>
                <a:cs typeface="Montserrat Medium"/>
                <a:sym typeface="Montserrat Medium"/>
              </a:rPr>
              <a:t>Manufacturer Module</a:t>
            </a:r>
          </a:p>
        </p:txBody>
      </p:sp>
      <p:sp>
        <p:nvSpPr>
          <p:cNvPr name="TextBox 14" id="14"/>
          <p:cNvSpPr txBox="true"/>
          <p:nvPr/>
        </p:nvSpPr>
        <p:spPr>
          <a:xfrm rot="0">
            <a:off x="5300216" y="3759399"/>
            <a:ext cx="3577978" cy="912316"/>
          </a:xfrm>
          <a:prstGeom prst="rect">
            <a:avLst/>
          </a:prstGeom>
        </p:spPr>
        <p:txBody>
          <a:bodyPr anchor="t" rtlCol="false" tIns="0" lIns="0" bIns="0" rIns="0">
            <a:spAutoFit/>
          </a:bodyPr>
          <a:lstStyle/>
          <a:p>
            <a:pPr algn="l">
              <a:lnSpc>
                <a:spcPts val="3250"/>
              </a:lnSpc>
            </a:pPr>
            <a:r>
              <a:rPr lang="en-US" sz="2000" b="true">
                <a:solidFill>
                  <a:srgbClr val="F4CAB8"/>
                </a:solidFill>
                <a:latin typeface="Montserrat Medium"/>
                <a:ea typeface="Montserrat Medium"/>
                <a:cs typeface="Montserrat Medium"/>
                <a:sym typeface="Montserrat Medium"/>
              </a:rPr>
              <a:t>Takes data from the manufacturer</a:t>
            </a:r>
          </a:p>
        </p:txBody>
      </p:sp>
      <p:sp>
        <p:nvSpPr>
          <p:cNvPr name="TextBox 15" id="15"/>
          <p:cNvSpPr txBox="true"/>
          <p:nvPr/>
        </p:nvSpPr>
        <p:spPr>
          <a:xfrm rot="0">
            <a:off x="9410105" y="3759399"/>
            <a:ext cx="3577978" cy="912316"/>
          </a:xfrm>
          <a:prstGeom prst="rect">
            <a:avLst/>
          </a:prstGeom>
        </p:spPr>
        <p:txBody>
          <a:bodyPr anchor="t" rtlCol="false" tIns="0" lIns="0" bIns="0" rIns="0">
            <a:spAutoFit/>
          </a:bodyPr>
          <a:lstStyle/>
          <a:p>
            <a:pPr algn="l">
              <a:lnSpc>
                <a:spcPts val="3250"/>
              </a:lnSpc>
            </a:pPr>
            <a:r>
              <a:rPr lang="en-US" sz="2000" b="true">
                <a:solidFill>
                  <a:srgbClr val="F4CAB8"/>
                </a:solidFill>
                <a:latin typeface="Montserrat Medium"/>
                <a:ea typeface="Montserrat Medium"/>
                <a:cs typeface="Montserrat Medium"/>
                <a:sym typeface="Montserrat Medium"/>
              </a:rPr>
              <a:t>Generates code for initial product registration</a:t>
            </a:r>
          </a:p>
        </p:txBody>
      </p:sp>
      <p:sp>
        <p:nvSpPr>
          <p:cNvPr name="TextBox 16" id="16"/>
          <p:cNvSpPr txBox="true"/>
          <p:nvPr/>
        </p:nvSpPr>
        <p:spPr>
          <a:xfrm rot="0">
            <a:off x="13519994" y="3759399"/>
            <a:ext cx="3582740" cy="912316"/>
          </a:xfrm>
          <a:prstGeom prst="rect">
            <a:avLst/>
          </a:prstGeom>
        </p:spPr>
        <p:txBody>
          <a:bodyPr anchor="t" rtlCol="false" tIns="0" lIns="0" bIns="0" rIns="0">
            <a:spAutoFit/>
          </a:bodyPr>
          <a:lstStyle/>
          <a:p>
            <a:pPr algn="l">
              <a:lnSpc>
                <a:spcPts val="3250"/>
              </a:lnSpc>
            </a:pPr>
            <a:r>
              <a:rPr lang="en-US" sz="2000" b="true">
                <a:solidFill>
                  <a:srgbClr val="F4CAB8"/>
                </a:solidFill>
                <a:latin typeface="Montserrat Medium"/>
                <a:ea typeface="Montserrat Medium"/>
                <a:cs typeface="Montserrat Medium"/>
                <a:sym typeface="Montserrat Medium"/>
              </a:rPr>
              <a:t>Information is successfully passed to the distributor</a:t>
            </a:r>
          </a:p>
        </p:txBody>
      </p:sp>
      <p:grpSp>
        <p:nvGrpSpPr>
          <p:cNvPr name="Group 17" id="17"/>
          <p:cNvGrpSpPr/>
          <p:nvPr/>
        </p:nvGrpSpPr>
        <p:grpSpPr>
          <a:xfrm rot="0">
            <a:off x="924074" y="4837956"/>
            <a:ext cx="16439852" cy="1586656"/>
            <a:chOff x="0" y="0"/>
            <a:chExt cx="21919803" cy="2115542"/>
          </a:xfrm>
        </p:grpSpPr>
        <p:sp>
          <p:nvSpPr>
            <p:cNvPr name="Freeform 18" id="18"/>
            <p:cNvSpPr/>
            <p:nvPr/>
          </p:nvSpPr>
          <p:spPr>
            <a:xfrm flipH="false" flipV="false" rot="0">
              <a:off x="0" y="0"/>
              <a:ext cx="21919819" cy="2115566"/>
            </a:xfrm>
            <a:custGeom>
              <a:avLst/>
              <a:gdLst/>
              <a:ahLst/>
              <a:cxnLst/>
              <a:rect r="r" b="b" t="t" l="l"/>
              <a:pathLst>
                <a:path h="2115566" w="21919819">
                  <a:moveTo>
                    <a:pt x="0" y="0"/>
                  </a:moveTo>
                  <a:lnTo>
                    <a:pt x="21919819" y="0"/>
                  </a:lnTo>
                  <a:lnTo>
                    <a:pt x="21919819" y="2115566"/>
                  </a:lnTo>
                  <a:lnTo>
                    <a:pt x="0" y="2115566"/>
                  </a:lnTo>
                  <a:close/>
                </a:path>
              </a:pathLst>
            </a:custGeom>
            <a:solidFill>
              <a:srgbClr val="000000">
                <a:alpha val="0"/>
              </a:srgbClr>
            </a:solidFill>
            <a:ln w="12700">
              <a:solidFill>
                <a:srgbClr val="000000"/>
              </a:solidFill>
            </a:ln>
          </p:spPr>
        </p:sp>
      </p:grpSp>
      <p:sp>
        <p:nvSpPr>
          <p:cNvPr name="TextBox 19" id="19"/>
          <p:cNvSpPr txBox="true"/>
          <p:nvPr/>
        </p:nvSpPr>
        <p:spPr>
          <a:xfrm rot="0">
            <a:off x="1185714" y="4927997"/>
            <a:ext cx="787896" cy="494259"/>
          </a:xfrm>
          <a:prstGeom prst="rect">
            <a:avLst/>
          </a:prstGeom>
        </p:spPr>
        <p:txBody>
          <a:bodyPr anchor="t" rtlCol="false" tIns="0" lIns="0" bIns="0" rIns="0">
            <a:spAutoFit/>
          </a:bodyPr>
          <a:lstStyle/>
          <a:p>
            <a:pPr algn="l">
              <a:lnSpc>
                <a:spcPts val="3250"/>
              </a:lnSpc>
            </a:pPr>
            <a:r>
              <a:rPr lang="en-US" sz="2000" b="true">
                <a:solidFill>
                  <a:srgbClr val="F4CAB8"/>
                </a:solidFill>
                <a:latin typeface="Montserrat Medium"/>
                <a:ea typeface="Montserrat Medium"/>
                <a:cs typeface="Montserrat Medium"/>
                <a:sym typeface="Montserrat Medium"/>
              </a:rPr>
              <a:t>2</a:t>
            </a:r>
          </a:p>
        </p:txBody>
      </p:sp>
      <p:sp>
        <p:nvSpPr>
          <p:cNvPr name="TextBox 20" id="20"/>
          <p:cNvSpPr txBox="true"/>
          <p:nvPr/>
        </p:nvSpPr>
        <p:spPr>
          <a:xfrm rot="0">
            <a:off x="2505521" y="4927997"/>
            <a:ext cx="2262782" cy="494259"/>
          </a:xfrm>
          <a:prstGeom prst="rect">
            <a:avLst/>
          </a:prstGeom>
        </p:spPr>
        <p:txBody>
          <a:bodyPr anchor="t" rtlCol="false" tIns="0" lIns="0" bIns="0" rIns="0">
            <a:spAutoFit/>
          </a:bodyPr>
          <a:lstStyle/>
          <a:p>
            <a:pPr algn="l">
              <a:lnSpc>
                <a:spcPts val="3250"/>
              </a:lnSpc>
            </a:pPr>
            <a:r>
              <a:rPr lang="en-US" sz="2000" b="true">
                <a:solidFill>
                  <a:srgbClr val="F4CAB8"/>
                </a:solidFill>
                <a:latin typeface="Montserrat Medium"/>
                <a:ea typeface="Montserrat Medium"/>
                <a:cs typeface="Montserrat Medium"/>
                <a:sym typeface="Montserrat Medium"/>
              </a:rPr>
              <a:t>Seller Module</a:t>
            </a:r>
          </a:p>
        </p:txBody>
      </p:sp>
      <p:sp>
        <p:nvSpPr>
          <p:cNvPr name="TextBox 21" id="21"/>
          <p:cNvSpPr txBox="true"/>
          <p:nvPr/>
        </p:nvSpPr>
        <p:spPr>
          <a:xfrm rot="0">
            <a:off x="5300216" y="4927997"/>
            <a:ext cx="3577978" cy="912316"/>
          </a:xfrm>
          <a:prstGeom prst="rect">
            <a:avLst/>
          </a:prstGeom>
        </p:spPr>
        <p:txBody>
          <a:bodyPr anchor="t" rtlCol="false" tIns="0" lIns="0" bIns="0" rIns="0">
            <a:spAutoFit/>
          </a:bodyPr>
          <a:lstStyle/>
          <a:p>
            <a:pPr algn="l">
              <a:lnSpc>
                <a:spcPts val="3250"/>
              </a:lnSpc>
            </a:pPr>
            <a:r>
              <a:rPr lang="en-US" sz="2000" b="true">
                <a:solidFill>
                  <a:srgbClr val="F4CAB8"/>
                </a:solidFill>
                <a:latin typeface="Montserrat Medium"/>
                <a:ea typeface="Montserrat Medium"/>
                <a:cs typeface="Montserrat Medium"/>
                <a:sym typeface="Montserrat Medium"/>
              </a:rPr>
              <a:t>Receives data from the manufacturer</a:t>
            </a:r>
          </a:p>
        </p:txBody>
      </p:sp>
      <p:sp>
        <p:nvSpPr>
          <p:cNvPr name="TextBox 22" id="22"/>
          <p:cNvSpPr txBox="true"/>
          <p:nvPr/>
        </p:nvSpPr>
        <p:spPr>
          <a:xfrm rot="0">
            <a:off x="9410105" y="4927997"/>
            <a:ext cx="3577978" cy="912316"/>
          </a:xfrm>
          <a:prstGeom prst="rect">
            <a:avLst/>
          </a:prstGeom>
        </p:spPr>
        <p:txBody>
          <a:bodyPr anchor="t" rtlCol="false" tIns="0" lIns="0" bIns="0" rIns="0">
            <a:spAutoFit/>
          </a:bodyPr>
          <a:lstStyle/>
          <a:p>
            <a:pPr algn="l">
              <a:lnSpc>
                <a:spcPts val="3250"/>
              </a:lnSpc>
            </a:pPr>
            <a:r>
              <a:rPr lang="en-US" sz="2000" b="true">
                <a:solidFill>
                  <a:srgbClr val="F4CAB8"/>
                </a:solidFill>
                <a:latin typeface="Montserrat Medium"/>
                <a:ea typeface="Montserrat Medium"/>
                <a:cs typeface="Montserrat Medium"/>
                <a:sym typeface="Montserrat Medium"/>
              </a:rPr>
              <a:t>Accesses and provides product information</a:t>
            </a:r>
          </a:p>
        </p:txBody>
      </p:sp>
      <p:sp>
        <p:nvSpPr>
          <p:cNvPr name="TextBox 23" id="23"/>
          <p:cNvSpPr txBox="true"/>
          <p:nvPr/>
        </p:nvSpPr>
        <p:spPr>
          <a:xfrm rot="0">
            <a:off x="13519994" y="4927997"/>
            <a:ext cx="3582740" cy="1330375"/>
          </a:xfrm>
          <a:prstGeom prst="rect">
            <a:avLst/>
          </a:prstGeom>
        </p:spPr>
        <p:txBody>
          <a:bodyPr anchor="t" rtlCol="false" tIns="0" lIns="0" bIns="0" rIns="0">
            <a:spAutoFit/>
          </a:bodyPr>
          <a:lstStyle/>
          <a:p>
            <a:pPr algn="l">
              <a:lnSpc>
                <a:spcPts val="3250"/>
              </a:lnSpc>
            </a:pPr>
            <a:r>
              <a:rPr lang="en-US" sz="2000" b="true">
                <a:solidFill>
                  <a:srgbClr val="F4CAB8"/>
                </a:solidFill>
                <a:latin typeface="Montserrat Medium"/>
                <a:ea typeface="Montserrat Medium"/>
                <a:cs typeface="Montserrat Medium"/>
                <a:sym typeface="Montserrat Medium"/>
              </a:rPr>
              <a:t>Input is processed, and information is passed to the next module</a:t>
            </a:r>
          </a:p>
        </p:txBody>
      </p:sp>
      <p:grpSp>
        <p:nvGrpSpPr>
          <p:cNvPr name="Group 24" id="24"/>
          <p:cNvGrpSpPr/>
          <p:nvPr/>
        </p:nvGrpSpPr>
        <p:grpSpPr>
          <a:xfrm rot="0">
            <a:off x="924074" y="6424612"/>
            <a:ext cx="16439852" cy="1586656"/>
            <a:chOff x="0" y="0"/>
            <a:chExt cx="21919803" cy="2115542"/>
          </a:xfrm>
        </p:grpSpPr>
        <p:sp>
          <p:nvSpPr>
            <p:cNvPr name="Freeform 25" id="25"/>
            <p:cNvSpPr/>
            <p:nvPr/>
          </p:nvSpPr>
          <p:spPr>
            <a:xfrm flipH="false" flipV="false" rot="0">
              <a:off x="0" y="0"/>
              <a:ext cx="21919819" cy="2115566"/>
            </a:xfrm>
            <a:custGeom>
              <a:avLst/>
              <a:gdLst/>
              <a:ahLst/>
              <a:cxnLst/>
              <a:rect r="r" b="b" t="t" l="l"/>
              <a:pathLst>
                <a:path h="2115566" w="21919819">
                  <a:moveTo>
                    <a:pt x="0" y="0"/>
                  </a:moveTo>
                  <a:lnTo>
                    <a:pt x="21919819" y="0"/>
                  </a:lnTo>
                  <a:lnTo>
                    <a:pt x="21919819" y="2115566"/>
                  </a:lnTo>
                  <a:lnTo>
                    <a:pt x="0" y="2115566"/>
                  </a:lnTo>
                  <a:close/>
                </a:path>
              </a:pathLst>
            </a:custGeom>
            <a:solidFill>
              <a:srgbClr val="FFFFFF">
                <a:alpha val="0"/>
              </a:srgbClr>
            </a:solidFill>
            <a:ln w="12700">
              <a:solidFill>
                <a:srgbClr val="000000"/>
              </a:solidFill>
            </a:ln>
          </p:spPr>
        </p:sp>
      </p:grpSp>
      <p:sp>
        <p:nvSpPr>
          <p:cNvPr name="TextBox 26" id="26"/>
          <p:cNvSpPr txBox="true"/>
          <p:nvPr/>
        </p:nvSpPr>
        <p:spPr>
          <a:xfrm rot="0">
            <a:off x="1185714" y="6514654"/>
            <a:ext cx="787896" cy="494259"/>
          </a:xfrm>
          <a:prstGeom prst="rect">
            <a:avLst/>
          </a:prstGeom>
        </p:spPr>
        <p:txBody>
          <a:bodyPr anchor="t" rtlCol="false" tIns="0" lIns="0" bIns="0" rIns="0">
            <a:spAutoFit/>
          </a:bodyPr>
          <a:lstStyle/>
          <a:p>
            <a:pPr algn="l">
              <a:lnSpc>
                <a:spcPts val="3250"/>
              </a:lnSpc>
            </a:pPr>
            <a:r>
              <a:rPr lang="en-US" sz="2000" b="true">
                <a:solidFill>
                  <a:srgbClr val="F4CAB8"/>
                </a:solidFill>
                <a:latin typeface="Montserrat Medium"/>
                <a:ea typeface="Montserrat Medium"/>
                <a:cs typeface="Montserrat Medium"/>
                <a:sym typeface="Montserrat Medium"/>
              </a:rPr>
              <a:t>3</a:t>
            </a:r>
          </a:p>
        </p:txBody>
      </p:sp>
      <p:sp>
        <p:nvSpPr>
          <p:cNvPr name="TextBox 27" id="27"/>
          <p:cNvSpPr txBox="true"/>
          <p:nvPr/>
        </p:nvSpPr>
        <p:spPr>
          <a:xfrm rot="0">
            <a:off x="2505521" y="6514654"/>
            <a:ext cx="2262782" cy="912316"/>
          </a:xfrm>
          <a:prstGeom prst="rect">
            <a:avLst/>
          </a:prstGeom>
        </p:spPr>
        <p:txBody>
          <a:bodyPr anchor="t" rtlCol="false" tIns="0" lIns="0" bIns="0" rIns="0">
            <a:spAutoFit/>
          </a:bodyPr>
          <a:lstStyle/>
          <a:p>
            <a:pPr algn="l">
              <a:lnSpc>
                <a:spcPts val="3250"/>
              </a:lnSpc>
            </a:pPr>
            <a:r>
              <a:rPr lang="en-US" sz="2000" b="true">
                <a:solidFill>
                  <a:srgbClr val="F4CAB8"/>
                </a:solidFill>
                <a:latin typeface="Montserrat Medium"/>
                <a:ea typeface="Montserrat Medium"/>
                <a:cs typeface="Montserrat Medium"/>
                <a:sym typeface="Montserrat Medium"/>
              </a:rPr>
              <a:t>Consumer Module</a:t>
            </a:r>
          </a:p>
        </p:txBody>
      </p:sp>
      <p:sp>
        <p:nvSpPr>
          <p:cNvPr name="TextBox 28" id="28"/>
          <p:cNvSpPr txBox="true"/>
          <p:nvPr/>
        </p:nvSpPr>
        <p:spPr>
          <a:xfrm rot="0">
            <a:off x="5300216" y="6514654"/>
            <a:ext cx="3577978" cy="912316"/>
          </a:xfrm>
          <a:prstGeom prst="rect">
            <a:avLst/>
          </a:prstGeom>
        </p:spPr>
        <p:txBody>
          <a:bodyPr anchor="t" rtlCol="false" tIns="0" lIns="0" bIns="0" rIns="0">
            <a:spAutoFit/>
          </a:bodyPr>
          <a:lstStyle/>
          <a:p>
            <a:pPr algn="l">
              <a:lnSpc>
                <a:spcPts val="3250"/>
              </a:lnSpc>
            </a:pPr>
            <a:r>
              <a:rPr lang="en-US" sz="2000" b="true">
                <a:solidFill>
                  <a:srgbClr val="F4CAB8"/>
                </a:solidFill>
                <a:latin typeface="Montserrat Medium"/>
                <a:ea typeface="Montserrat Medium"/>
                <a:cs typeface="Montserrat Medium"/>
                <a:sym typeface="Montserrat Medium"/>
              </a:rPr>
              <a:t>Receives output from the retailer and family</a:t>
            </a:r>
          </a:p>
        </p:txBody>
      </p:sp>
      <p:sp>
        <p:nvSpPr>
          <p:cNvPr name="TextBox 29" id="29"/>
          <p:cNvSpPr txBox="true"/>
          <p:nvPr/>
        </p:nvSpPr>
        <p:spPr>
          <a:xfrm rot="0">
            <a:off x="9410105" y="6514654"/>
            <a:ext cx="3577978" cy="912316"/>
          </a:xfrm>
          <a:prstGeom prst="rect">
            <a:avLst/>
          </a:prstGeom>
        </p:spPr>
        <p:txBody>
          <a:bodyPr anchor="t" rtlCol="false" tIns="0" lIns="0" bIns="0" rIns="0">
            <a:spAutoFit/>
          </a:bodyPr>
          <a:lstStyle/>
          <a:p>
            <a:pPr algn="l">
              <a:lnSpc>
                <a:spcPts val="3250"/>
              </a:lnSpc>
            </a:pPr>
            <a:r>
              <a:rPr lang="en-US" sz="2000" b="true">
                <a:solidFill>
                  <a:srgbClr val="F4CAB8"/>
                </a:solidFill>
                <a:latin typeface="Montserrat Medium"/>
                <a:ea typeface="Montserrat Medium"/>
                <a:cs typeface="Montserrat Medium"/>
                <a:sym typeface="Montserrat Medium"/>
              </a:rPr>
              <a:t>QR code generation and full information display</a:t>
            </a:r>
          </a:p>
        </p:txBody>
      </p:sp>
      <p:sp>
        <p:nvSpPr>
          <p:cNvPr name="TextBox 30" id="30"/>
          <p:cNvSpPr txBox="true"/>
          <p:nvPr/>
        </p:nvSpPr>
        <p:spPr>
          <a:xfrm rot="0">
            <a:off x="13519994" y="6514654"/>
            <a:ext cx="3582740" cy="1330375"/>
          </a:xfrm>
          <a:prstGeom prst="rect">
            <a:avLst/>
          </a:prstGeom>
        </p:spPr>
        <p:txBody>
          <a:bodyPr anchor="t" rtlCol="false" tIns="0" lIns="0" bIns="0" rIns="0">
            <a:spAutoFit/>
          </a:bodyPr>
          <a:lstStyle/>
          <a:p>
            <a:pPr algn="l">
              <a:lnSpc>
                <a:spcPts val="3250"/>
              </a:lnSpc>
            </a:pPr>
            <a:r>
              <a:rPr lang="en-US" sz="2000" b="true">
                <a:solidFill>
                  <a:srgbClr val="F4CAB8"/>
                </a:solidFill>
                <a:latin typeface="Montserrat Medium"/>
                <a:ea typeface="Montserrat Medium"/>
                <a:cs typeface="Montserrat Medium"/>
                <a:sym typeface="Montserrat Medium"/>
              </a:rPr>
              <a:t>QR code is generated, and consumer receives product history</a:t>
            </a:r>
          </a:p>
        </p:txBody>
      </p:sp>
      <p:sp>
        <p:nvSpPr>
          <p:cNvPr name="TextBox 31" id="31"/>
          <p:cNvSpPr txBox="true"/>
          <p:nvPr/>
        </p:nvSpPr>
        <p:spPr>
          <a:xfrm rot="0">
            <a:off x="914549" y="8238530"/>
            <a:ext cx="16458902" cy="912316"/>
          </a:xfrm>
          <a:prstGeom prst="rect">
            <a:avLst/>
          </a:prstGeom>
        </p:spPr>
        <p:txBody>
          <a:bodyPr anchor="t" rtlCol="false" tIns="0" lIns="0" bIns="0" rIns="0">
            <a:spAutoFit/>
          </a:bodyPr>
          <a:lstStyle/>
          <a:p>
            <a:pPr algn="l">
              <a:lnSpc>
                <a:spcPts val="3250"/>
              </a:lnSpc>
            </a:pPr>
            <a:r>
              <a:rPr lang="en-US" sz="2000" b="true">
                <a:solidFill>
                  <a:srgbClr val="F4CAB8"/>
                </a:solidFill>
                <a:latin typeface="Montserrat Medium"/>
                <a:ea typeface="Montserrat Medium"/>
                <a:cs typeface="Montserrat Medium"/>
                <a:sym typeface="Montserrat Medium"/>
              </a:rPr>
              <a:t>All test cases were successful, confirming the seamless integration and proper functioning of the Manufacturer, Seller, and Consumer modules. This rigorous testing ensures data accuracy and user confidence across the platform.</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421424"/>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5C2438"/>
            </a:solidFill>
            <a:ln w="12700">
              <a:solidFill>
                <a:srgbClr val="000000"/>
              </a:solidFill>
            </a:ln>
          </p:spPr>
        </p:sp>
      </p:grpSp>
      <p:grpSp>
        <p:nvGrpSpPr>
          <p:cNvPr name="Group 6" id="6"/>
          <p:cNvGrpSpPr/>
          <p:nvPr/>
        </p:nvGrpSpPr>
        <p:grpSpPr>
          <a:xfrm rot="0">
            <a:off x="2443162" y="1335130"/>
            <a:ext cx="14530387" cy="8555041"/>
            <a:chOff x="0" y="0"/>
            <a:chExt cx="19373850" cy="11406722"/>
          </a:xfrm>
        </p:grpSpPr>
        <p:sp>
          <p:nvSpPr>
            <p:cNvPr name="Freeform 7" id="7"/>
            <p:cNvSpPr/>
            <p:nvPr/>
          </p:nvSpPr>
          <p:spPr>
            <a:xfrm flipH="false" flipV="false" rot="0">
              <a:off x="0" y="0"/>
              <a:ext cx="19373850" cy="11406759"/>
            </a:xfrm>
            <a:custGeom>
              <a:avLst/>
              <a:gdLst/>
              <a:ahLst/>
              <a:cxnLst/>
              <a:rect r="r" b="b" t="t" l="l"/>
              <a:pathLst>
                <a:path h="11406759" w="19373850">
                  <a:moveTo>
                    <a:pt x="0" y="0"/>
                  </a:moveTo>
                  <a:lnTo>
                    <a:pt x="19373850" y="0"/>
                  </a:lnTo>
                  <a:lnTo>
                    <a:pt x="19373850" y="11406759"/>
                  </a:lnTo>
                  <a:lnTo>
                    <a:pt x="0" y="11406759"/>
                  </a:lnTo>
                  <a:lnTo>
                    <a:pt x="0" y="0"/>
                  </a:lnTo>
                  <a:close/>
                </a:path>
              </a:pathLst>
            </a:custGeom>
            <a:blipFill>
              <a:blip r:embed="rId2"/>
              <a:stretch>
                <a:fillRect l="-2335" t="0" r="-2335" b="0"/>
              </a:stretch>
            </a:blipFill>
          </p:spPr>
        </p:sp>
      </p:grpSp>
      <p:grpSp>
        <p:nvGrpSpPr>
          <p:cNvPr name="Group 8" id="8"/>
          <p:cNvGrpSpPr/>
          <p:nvPr/>
        </p:nvGrpSpPr>
        <p:grpSpPr>
          <a:xfrm rot="0">
            <a:off x="-119386" y="0"/>
            <a:ext cx="7468247" cy="1333615"/>
            <a:chOff x="0" y="0"/>
            <a:chExt cx="9957663" cy="1778153"/>
          </a:xfrm>
        </p:grpSpPr>
        <p:sp>
          <p:nvSpPr>
            <p:cNvPr name="Freeform 9" id="9"/>
            <p:cNvSpPr/>
            <p:nvPr/>
          </p:nvSpPr>
          <p:spPr>
            <a:xfrm flipH="false" flipV="false" rot="0">
              <a:off x="0" y="0"/>
              <a:ext cx="9957689" cy="1778127"/>
            </a:xfrm>
            <a:custGeom>
              <a:avLst/>
              <a:gdLst/>
              <a:ahLst/>
              <a:cxnLst/>
              <a:rect r="r" b="b" t="t" l="l"/>
              <a:pathLst>
                <a:path h="1778127" w="9957689">
                  <a:moveTo>
                    <a:pt x="0" y="0"/>
                  </a:moveTo>
                  <a:lnTo>
                    <a:pt x="9957689" y="0"/>
                  </a:lnTo>
                  <a:lnTo>
                    <a:pt x="9957689" y="1778127"/>
                  </a:lnTo>
                  <a:lnTo>
                    <a:pt x="0" y="1778127"/>
                  </a:lnTo>
                  <a:lnTo>
                    <a:pt x="0" y="0"/>
                  </a:lnTo>
                  <a:close/>
                </a:path>
              </a:pathLst>
            </a:custGeom>
            <a:blipFill>
              <a:blip r:embed="rId3"/>
              <a:stretch>
                <a:fillRect l="0" t="0" r="0" b="-1"/>
              </a:stretch>
            </a:blipFill>
          </p:spPr>
        </p:sp>
      </p:grpSp>
    </p:spTree>
  </p:cSld>
  <p:clrMapOvr>
    <a:masterClrMapping/>
  </p:clrMapOvr>
  <p:transition spd="fast">
    <p:fade/>
  </p:transition>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421424"/>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5C2438"/>
            </a:solidFill>
            <a:ln w="12700">
              <a:solidFill>
                <a:srgbClr val="000000"/>
              </a:solidFill>
            </a:ln>
          </p:spPr>
        </p:sp>
      </p:grpSp>
      <p:grpSp>
        <p:nvGrpSpPr>
          <p:cNvPr name="Group 6" id="6"/>
          <p:cNvGrpSpPr/>
          <p:nvPr/>
        </p:nvGrpSpPr>
        <p:grpSpPr>
          <a:xfrm rot="0">
            <a:off x="771525" y="628204"/>
            <a:ext cx="16816387" cy="9459217"/>
            <a:chOff x="0" y="0"/>
            <a:chExt cx="22421850" cy="12612290"/>
          </a:xfrm>
        </p:grpSpPr>
        <p:sp>
          <p:nvSpPr>
            <p:cNvPr name="Freeform 7" id="7"/>
            <p:cNvSpPr/>
            <p:nvPr/>
          </p:nvSpPr>
          <p:spPr>
            <a:xfrm flipH="false" flipV="false" rot="0">
              <a:off x="0" y="0"/>
              <a:ext cx="22421850" cy="12612243"/>
            </a:xfrm>
            <a:custGeom>
              <a:avLst/>
              <a:gdLst/>
              <a:ahLst/>
              <a:cxnLst/>
              <a:rect r="r" b="b" t="t" l="l"/>
              <a:pathLst>
                <a:path h="12612243" w="22421850">
                  <a:moveTo>
                    <a:pt x="0" y="0"/>
                  </a:moveTo>
                  <a:lnTo>
                    <a:pt x="22421850" y="0"/>
                  </a:lnTo>
                  <a:lnTo>
                    <a:pt x="22421850" y="12612243"/>
                  </a:lnTo>
                  <a:lnTo>
                    <a:pt x="0" y="12612243"/>
                  </a:lnTo>
                  <a:lnTo>
                    <a:pt x="0" y="0"/>
                  </a:lnTo>
                  <a:close/>
                </a:path>
              </a:pathLst>
            </a:custGeom>
            <a:blipFill>
              <a:blip r:embed="rId2"/>
              <a:stretch>
                <a:fillRect l="0" t="0" r="0" b="0"/>
              </a:stretch>
            </a:blipFill>
          </p:spPr>
        </p:sp>
      </p:grpSp>
    </p:spTree>
  </p:cSld>
  <p:clrMapOvr>
    <a:masterClrMapping/>
  </p:clrMapOvr>
  <p:transition spd="fast">
    <p:fade/>
  </p:transition>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421424"/>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5C2438"/>
            </a:solidFill>
            <a:ln w="12700">
              <a:solidFill>
                <a:srgbClr val="000000"/>
              </a:solidFill>
            </a:ln>
          </p:spPr>
        </p:sp>
      </p:grpSp>
      <p:grpSp>
        <p:nvGrpSpPr>
          <p:cNvPr name="Group 6" id="6"/>
          <p:cNvGrpSpPr/>
          <p:nvPr/>
        </p:nvGrpSpPr>
        <p:grpSpPr>
          <a:xfrm rot="0">
            <a:off x="942975" y="730448"/>
            <a:ext cx="16087725" cy="9049346"/>
            <a:chOff x="0" y="0"/>
            <a:chExt cx="21450300" cy="12065795"/>
          </a:xfrm>
        </p:grpSpPr>
        <p:sp>
          <p:nvSpPr>
            <p:cNvPr name="Freeform 7" id="7"/>
            <p:cNvSpPr/>
            <p:nvPr/>
          </p:nvSpPr>
          <p:spPr>
            <a:xfrm flipH="false" flipV="false" rot="0">
              <a:off x="0" y="0"/>
              <a:ext cx="21450300" cy="12065762"/>
            </a:xfrm>
            <a:custGeom>
              <a:avLst/>
              <a:gdLst/>
              <a:ahLst/>
              <a:cxnLst/>
              <a:rect r="r" b="b" t="t" l="l"/>
              <a:pathLst>
                <a:path h="12065762" w="21450300">
                  <a:moveTo>
                    <a:pt x="0" y="0"/>
                  </a:moveTo>
                  <a:lnTo>
                    <a:pt x="21450300" y="0"/>
                  </a:lnTo>
                  <a:lnTo>
                    <a:pt x="21450300" y="12065762"/>
                  </a:lnTo>
                  <a:lnTo>
                    <a:pt x="0" y="12065762"/>
                  </a:lnTo>
                  <a:lnTo>
                    <a:pt x="0" y="0"/>
                  </a:lnTo>
                  <a:close/>
                </a:path>
              </a:pathLst>
            </a:custGeom>
            <a:blipFill>
              <a:blip r:embed="rId2"/>
              <a:stretch>
                <a:fillRect l="0" t="0" r="0" b="0"/>
              </a:stretch>
            </a:blipFill>
          </p:spPr>
        </p:sp>
      </p:grpSp>
    </p:spTree>
  </p:cSld>
  <p:clrMapOvr>
    <a:masterClrMapping/>
  </p:clrMapOvr>
</p:sld>
</file>

<file path=ppt/slides/slide2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421424"/>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5C2438"/>
            </a:solidFill>
            <a:ln w="12700">
              <a:solidFill>
                <a:srgbClr val="000000"/>
              </a:solidFill>
            </a:ln>
          </p:spPr>
        </p:sp>
      </p:grpSp>
      <p:sp>
        <p:nvSpPr>
          <p:cNvPr name="TextBox 6" id="6"/>
          <p:cNvSpPr txBox="true"/>
          <p:nvPr/>
        </p:nvSpPr>
        <p:spPr>
          <a:xfrm rot="0">
            <a:off x="936575" y="1534566"/>
            <a:ext cx="7136755" cy="958603"/>
          </a:xfrm>
          <a:prstGeom prst="rect">
            <a:avLst/>
          </a:prstGeom>
        </p:spPr>
        <p:txBody>
          <a:bodyPr anchor="t" rtlCol="false" tIns="0" lIns="0" bIns="0" rIns="0">
            <a:spAutoFit/>
          </a:bodyPr>
          <a:lstStyle/>
          <a:p>
            <a:pPr algn="l">
              <a:lnSpc>
                <a:spcPts val="7000"/>
              </a:lnSpc>
            </a:pPr>
            <a:r>
              <a:rPr lang="en-US" sz="5562" b="true">
                <a:solidFill>
                  <a:srgbClr val="FFB393"/>
                </a:solidFill>
                <a:latin typeface="Arimo Bold"/>
                <a:ea typeface="Arimo Bold"/>
                <a:cs typeface="Arimo Bold"/>
                <a:sym typeface="Arimo Bold"/>
              </a:rPr>
              <a:t>CONCLUSION</a:t>
            </a:r>
          </a:p>
        </p:txBody>
      </p:sp>
      <p:sp>
        <p:nvSpPr>
          <p:cNvPr name="TextBox 7" id="7"/>
          <p:cNvSpPr txBox="true"/>
          <p:nvPr/>
        </p:nvSpPr>
        <p:spPr>
          <a:xfrm rot="0">
            <a:off x="936575" y="2942630"/>
            <a:ext cx="16414849" cy="941785"/>
          </a:xfrm>
          <a:prstGeom prst="rect">
            <a:avLst/>
          </a:prstGeom>
        </p:spPr>
        <p:txBody>
          <a:bodyPr anchor="t" rtlCol="false" tIns="0" lIns="0" bIns="0" rIns="0">
            <a:spAutoFit/>
          </a:bodyPr>
          <a:lstStyle/>
          <a:p>
            <a:pPr algn="l">
              <a:lnSpc>
                <a:spcPts val="3312"/>
              </a:lnSpc>
            </a:pPr>
            <a:r>
              <a:rPr lang="en-US" sz="2062" b="true">
                <a:solidFill>
                  <a:srgbClr val="F4CAB8"/>
                </a:solidFill>
                <a:latin typeface="Montserrat Medium"/>
                <a:ea typeface="Montserrat Medium"/>
                <a:cs typeface="Montserrat Medium"/>
                <a:sym typeface="Montserrat Medium"/>
              </a:rPr>
              <a:t>Our blockchain-based system revolutionizes product traceability and authenticity, offering significant benefits to both businesses and consumers.</a:t>
            </a:r>
          </a:p>
        </p:txBody>
      </p:sp>
      <p:grpSp>
        <p:nvGrpSpPr>
          <p:cNvPr name="Group 8" id="8"/>
          <p:cNvGrpSpPr/>
          <p:nvPr/>
        </p:nvGrpSpPr>
        <p:grpSpPr>
          <a:xfrm rot="0">
            <a:off x="936575" y="4185494"/>
            <a:ext cx="602159" cy="602159"/>
            <a:chOff x="0" y="0"/>
            <a:chExt cx="802878" cy="802878"/>
          </a:xfrm>
        </p:grpSpPr>
        <p:sp>
          <p:nvSpPr>
            <p:cNvPr name="Freeform 9" id="9"/>
            <p:cNvSpPr/>
            <p:nvPr/>
          </p:nvSpPr>
          <p:spPr>
            <a:xfrm flipH="false" flipV="false" rot="0">
              <a:off x="0" y="0"/>
              <a:ext cx="802767" cy="802767"/>
            </a:xfrm>
            <a:custGeom>
              <a:avLst/>
              <a:gdLst/>
              <a:ahLst/>
              <a:cxnLst/>
              <a:rect r="r" b="b" t="t" l="l"/>
              <a:pathLst>
                <a:path h="802767" w="802767">
                  <a:moveTo>
                    <a:pt x="0" y="53467"/>
                  </a:moveTo>
                  <a:cubicBezTo>
                    <a:pt x="0" y="24003"/>
                    <a:pt x="24003" y="0"/>
                    <a:pt x="53467" y="0"/>
                  </a:cubicBezTo>
                  <a:lnTo>
                    <a:pt x="749300" y="0"/>
                  </a:lnTo>
                  <a:cubicBezTo>
                    <a:pt x="778891" y="0"/>
                    <a:pt x="802767" y="24003"/>
                    <a:pt x="802767" y="53467"/>
                  </a:cubicBezTo>
                  <a:lnTo>
                    <a:pt x="802767" y="749300"/>
                  </a:lnTo>
                  <a:cubicBezTo>
                    <a:pt x="802767" y="778891"/>
                    <a:pt x="778764" y="802767"/>
                    <a:pt x="749300" y="802767"/>
                  </a:cubicBezTo>
                  <a:lnTo>
                    <a:pt x="53467" y="802767"/>
                  </a:lnTo>
                  <a:cubicBezTo>
                    <a:pt x="24003" y="802894"/>
                    <a:pt x="0" y="778891"/>
                    <a:pt x="0" y="749300"/>
                  </a:cubicBezTo>
                  <a:close/>
                </a:path>
              </a:pathLst>
            </a:custGeom>
            <a:solidFill>
              <a:srgbClr val="4D1529"/>
            </a:solidFill>
            <a:ln w="12700">
              <a:solidFill>
                <a:srgbClr val="000000"/>
              </a:solidFill>
            </a:ln>
          </p:spPr>
        </p:sp>
      </p:grpSp>
      <p:sp>
        <p:nvSpPr>
          <p:cNvPr name="TextBox 10" id="10"/>
          <p:cNvSpPr txBox="true"/>
          <p:nvPr/>
        </p:nvSpPr>
        <p:spPr>
          <a:xfrm rot="0">
            <a:off x="1806327" y="4229844"/>
            <a:ext cx="5283399" cy="493662"/>
          </a:xfrm>
          <a:prstGeom prst="rect">
            <a:avLst/>
          </a:prstGeom>
        </p:spPr>
        <p:txBody>
          <a:bodyPr anchor="t" rtlCol="false" tIns="0" lIns="0" bIns="0" rIns="0">
            <a:spAutoFit/>
          </a:bodyPr>
          <a:lstStyle/>
          <a:p>
            <a:pPr algn="l">
              <a:lnSpc>
                <a:spcPts val="3500"/>
              </a:lnSpc>
            </a:pPr>
            <a:r>
              <a:rPr lang="en-US" sz="2750" b="true">
                <a:solidFill>
                  <a:srgbClr val="F4CAB8"/>
                </a:solidFill>
                <a:latin typeface="Arimo Bold"/>
                <a:ea typeface="Arimo Bold"/>
                <a:cs typeface="Arimo Bold"/>
                <a:sym typeface="Arimo Bold"/>
              </a:rPr>
              <a:t>Unrivaled Product Traceability</a:t>
            </a:r>
          </a:p>
        </p:txBody>
      </p:sp>
      <p:sp>
        <p:nvSpPr>
          <p:cNvPr name="TextBox 11" id="11"/>
          <p:cNvSpPr txBox="true"/>
          <p:nvPr/>
        </p:nvSpPr>
        <p:spPr>
          <a:xfrm rot="0">
            <a:off x="1806327" y="4798219"/>
            <a:ext cx="7170390" cy="1369814"/>
          </a:xfrm>
          <a:prstGeom prst="rect">
            <a:avLst/>
          </a:prstGeom>
        </p:spPr>
        <p:txBody>
          <a:bodyPr anchor="t" rtlCol="false" tIns="0" lIns="0" bIns="0" rIns="0">
            <a:spAutoFit/>
          </a:bodyPr>
          <a:lstStyle/>
          <a:p>
            <a:pPr algn="l">
              <a:lnSpc>
                <a:spcPts val="3312"/>
              </a:lnSpc>
            </a:pPr>
            <a:r>
              <a:rPr lang="en-US" sz="2062" b="true">
                <a:solidFill>
                  <a:srgbClr val="F4CAB8"/>
                </a:solidFill>
                <a:latin typeface="Montserrat Medium"/>
                <a:ea typeface="Montserrat Medium"/>
                <a:cs typeface="Montserrat Medium"/>
                <a:sym typeface="Montserrat Medium"/>
              </a:rPr>
              <a:t>Blockchain assigns immutable digital identities to products, ensuring complete transparency from origin to consumer.</a:t>
            </a:r>
          </a:p>
        </p:txBody>
      </p:sp>
      <p:grpSp>
        <p:nvGrpSpPr>
          <p:cNvPr name="Group 12" id="12"/>
          <p:cNvGrpSpPr/>
          <p:nvPr/>
        </p:nvGrpSpPr>
        <p:grpSpPr>
          <a:xfrm rot="0">
            <a:off x="9311134" y="4185494"/>
            <a:ext cx="602159" cy="602159"/>
            <a:chOff x="0" y="0"/>
            <a:chExt cx="802878" cy="802878"/>
          </a:xfrm>
        </p:grpSpPr>
        <p:sp>
          <p:nvSpPr>
            <p:cNvPr name="Freeform 13" id="13"/>
            <p:cNvSpPr/>
            <p:nvPr/>
          </p:nvSpPr>
          <p:spPr>
            <a:xfrm flipH="false" flipV="false" rot="0">
              <a:off x="0" y="0"/>
              <a:ext cx="802767" cy="802767"/>
            </a:xfrm>
            <a:custGeom>
              <a:avLst/>
              <a:gdLst/>
              <a:ahLst/>
              <a:cxnLst/>
              <a:rect r="r" b="b" t="t" l="l"/>
              <a:pathLst>
                <a:path h="802767" w="802767">
                  <a:moveTo>
                    <a:pt x="0" y="53467"/>
                  </a:moveTo>
                  <a:cubicBezTo>
                    <a:pt x="0" y="24003"/>
                    <a:pt x="24003" y="0"/>
                    <a:pt x="53467" y="0"/>
                  </a:cubicBezTo>
                  <a:lnTo>
                    <a:pt x="749300" y="0"/>
                  </a:lnTo>
                  <a:cubicBezTo>
                    <a:pt x="778891" y="0"/>
                    <a:pt x="802767" y="24003"/>
                    <a:pt x="802767" y="53467"/>
                  </a:cubicBezTo>
                  <a:lnTo>
                    <a:pt x="802767" y="749300"/>
                  </a:lnTo>
                  <a:cubicBezTo>
                    <a:pt x="802767" y="778891"/>
                    <a:pt x="778764" y="802767"/>
                    <a:pt x="749300" y="802767"/>
                  </a:cubicBezTo>
                  <a:lnTo>
                    <a:pt x="53467" y="802767"/>
                  </a:lnTo>
                  <a:cubicBezTo>
                    <a:pt x="24003" y="802894"/>
                    <a:pt x="0" y="778891"/>
                    <a:pt x="0" y="749300"/>
                  </a:cubicBezTo>
                  <a:close/>
                </a:path>
              </a:pathLst>
            </a:custGeom>
            <a:solidFill>
              <a:srgbClr val="4D1529"/>
            </a:solidFill>
            <a:ln w="12700">
              <a:solidFill>
                <a:srgbClr val="000000"/>
              </a:solidFill>
            </a:ln>
          </p:spPr>
        </p:sp>
      </p:grpSp>
      <p:sp>
        <p:nvSpPr>
          <p:cNvPr name="TextBox 14" id="14"/>
          <p:cNvSpPr txBox="true"/>
          <p:nvPr/>
        </p:nvSpPr>
        <p:spPr>
          <a:xfrm rot="0">
            <a:off x="10180885" y="4229844"/>
            <a:ext cx="6160591" cy="493662"/>
          </a:xfrm>
          <a:prstGeom prst="rect">
            <a:avLst/>
          </a:prstGeom>
        </p:spPr>
        <p:txBody>
          <a:bodyPr anchor="t" rtlCol="false" tIns="0" lIns="0" bIns="0" rIns="0">
            <a:spAutoFit/>
          </a:bodyPr>
          <a:lstStyle/>
          <a:p>
            <a:pPr algn="l">
              <a:lnSpc>
                <a:spcPts val="3500"/>
              </a:lnSpc>
            </a:pPr>
            <a:r>
              <a:rPr lang="en-US" sz="2750" b="true">
                <a:solidFill>
                  <a:srgbClr val="F4CAB8"/>
                </a:solidFill>
                <a:latin typeface="Arimo Bold"/>
                <a:ea typeface="Arimo Bold"/>
                <a:cs typeface="Arimo Bold"/>
                <a:sym typeface="Arimo Bold"/>
              </a:rPr>
              <a:t>Empowering Consumer Verification</a:t>
            </a:r>
          </a:p>
        </p:txBody>
      </p:sp>
      <p:sp>
        <p:nvSpPr>
          <p:cNvPr name="TextBox 15" id="15"/>
          <p:cNvSpPr txBox="true"/>
          <p:nvPr/>
        </p:nvSpPr>
        <p:spPr>
          <a:xfrm rot="0">
            <a:off x="10180885" y="4798219"/>
            <a:ext cx="7170539" cy="1369814"/>
          </a:xfrm>
          <a:prstGeom prst="rect">
            <a:avLst/>
          </a:prstGeom>
        </p:spPr>
        <p:txBody>
          <a:bodyPr anchor="t" rtlCol="false" tIns="0" lIns="0" bIns="0" rIns="0">
            <a:spAutoFit/>
          </a:bodyPr>
          <a:lstStyle/>
          <a:p>
            <a:pPr algn="l">
              <a:lnSpc>
                <a:spcPts val="3312"/>
              </a:lnSpc>
            </a:pPr>
            <a:r>
              <a:rPr lang="en-US" sz="2062" b="true">
                <a:solidFill>
                  <a:srgbClr val="F4CAB8"/>
                </a:solidFill>
                <a:latin typeface="Montserrat Medium"/>
                <a:ea typeface="Montserrat Medium"/>
                <a:cs typeface="Montserrat Medium"/>
                <a:sym typeface="Montserrat Medium"/>
              </a:rPr>
              <a:t>Consumers can easily verify product authenticity, drastically reducing the threat of counterfeit goods and boosting confidence.</a:t>
            </a:r>
          </a:p>
        </p:txBody>
      </p:sp>
      <p:grpSp>
        <p:nvGrpSpPr>
          <p:cNvPr name="Group 16" id="16"/>
          <p:cNvGrpSpPr/>
          <p:nvPr/>
        </p:nvGrpSpPr>
        <p:grpSpPr>
          <a:xfrm rot="0">
            <a:off x="936575" y="6703219"/>
            <a:ext cx="602159" cy="602159"/>
            <a:chOff x="0" y="0"/>
            <a:chExt cx="802878" cy="802878"/>
          </a:xfrm>
        </p:grpSpPr>
        <p:sp>
          <p:nvSpPr>
            <p:cNvPr name="Freeform 17" id="17"/>
            <p:cNvSpPr/>
            <p:nvPr/>
          </p:nvSpPr>
          <p:spPr>
            <a:xfrm flipH="false" flipV="false" rot="0">
              <a:off x="0" y="0"/>
              <a:ext cx="802767" cy="802767"/>
            </a:xfrm>
            <a:custGeom>
              <a:avLst/>
              <a:gdLst/>
              <a:ahLst/>
              <a:cxnLst/>
              <a:rect r="r" b="b" t="t" l="l"/>
              <a:pathLst>
                <a:path h="802767" w="802767">
                  <a:moveTo>
                    <a:pt x="0" y="53467"/>
                  </a:moveTo>
                  <a:cubicBezTo>
                    <a:pt x="0" y="24003"/>
                    <a:pt x="24003" y="0"/>
                    <a:pt x="53467" y="0"/>
                  </a:cubicBezTo>
                  <a:lnTo>
                    <a:pt x="749300" y="0"/>
                  </a:lnTo>
                  <a:cubicBezTo>
                    <a:pt x="778891" y="0"/>
                    <a:pt x="802767" y="24003"/>
                    <a:pt x="802767" y="53467"/>
                  </a:cubicBezTo>
                  <a:lnTo>
                    <a:pt x="802767" y="749300"/>
                  </a:lnTo>
                  <a:cubicBezTo>
                    <a:pt x="802767" y="778891"/>
                    <a:pt x="778764" y="802767"/>
                    <a:pt x="749300" y="802767"/>
                  </a:cubicBezTo>
                  <a:lnTo>
                    <a:pt x="53467" y="802767"/>
                  </a:lnTo>
                  <a:cubicBezTo>
                    <a:pt x="24003" y="802894"/>
                    <a:pt x="0" y="778891"/>
                    <a:pt x="0" y="749300"/>
                  </a:cubicBezTo>
                  <a:close/>
                </a:path>
              </a:pathLst>
            </a:custGeom>
            <a:solidFill>
              <a:srgbClr val="4D1529"/>
            </a:solidFill>
            <a:ln w="12700">
              <a:solidFill>
                <a:srgbClr val="000000"/>
              </a:solidFill>
            </a:ln>
          </p:spPr>
        </p:sp>
      </p:grpSp>
      <p:sp>
        <p:nvSpPr>
          <p:cNvPr name="TextBox 18" id="18"/>
          <p:cNvSpPr txBox="true"/>
          <p:nvPr/>
        </p:nvSpPr>
        <p:spPr>
          <a:xfrm rot="0">
            <a:off x="1806327" y="6747570"/>
            <a:ext cx="6087815" cy="493663"/>
          </a:xfrm>
          <a:prstGeom prst="rect">
            <a:avLst/>
          </a:prstGeom>
        </p:spPr>
        <p:txBody>
          <a:bodyPr anchor="t" rtlCol="false" tIns="0" lIns="0" bIns="0" rIns="0">
            <a:spAutoFit/>
          </a:bodyPr>
          <a:lstStyle/>
          <a:p>
            <a:pPr algn="l">
              <a:lnSpc>
                <a:spcPts val="3500"/>
              </a:lnSpc>
            </a:pPr>
            <a:r>
              <a:rPr lang="en-US" sz="2750" b="true">
                <a:solidFill>
                  <a:srgbClr val="F4CAB8"/>
                </a:solidFill>
                <a:latin typeface="Arimo Bold"/>
                <a:ea typeface="Arimo Bold"/>
                <a:cs typeface="Arimo Bold"/>
                <a:sym typeface="Arimo Bold"/>
              </a:rPr>
              <a:t>Secure &amp; Private Data Management</a:t>
            </a:r>
          </a:p>
        </p:txBody>
      </p:sp>
      <p:sp>
        <p:nvSpPr>
          <p:cNvPr name="TextBox 19" id="19"/>
          <p:cNvSpPr txBox="true"/>
          <p:nvPr/>
        </p:nvSpPr>
        <p:spPr>
          <a:xfrm rot="0">
            <a:off x="1806327" y="7315944"/>
            <a:ext cx="7170390" cy="1369814"/>
          </a:xfrm>
          <a:prstGeom prst="rect">
            <a:avLst/>
          </a:prstGeom>
        </p:spPr>
        <p:txBody>
          <a:bodyPr anchor="t" rtlCol="false" tIns="0" lIns="0" bIns="0" rIns="0">
            <a:spAutoFit/>
          </a:bodyPr>
          <a:lstStyle/>
          <a:p>
            <a:pPr algn="l">
              <a:lnSpc>
                <a:spcPts val="3312"/>
              </a:lnSpc>
            </a:pPr>
            <a:r>
              <a:rPr lang="en-US" sz="2062" b="true">
                <a:solidFill>
                  <a:srgbClr val="F4CAB8"/>
                </a:solidFill>
                <a:latin typeface="Montserrat Medium"/>
                <a:ea typeface="Montserrat Medium"/>
                <a:cs typeface="Montserrat Medium"/>
                <a:sym typeface="Montserrat Medium"/>
              </a:rPr>
              <a:t>Manufacturers and suppliers benefit from secure and private storage of product details, enhancing data integrity.</a:t>
            </a:r>
          </a:p>
        </p:txBody>
      </p:sp>
      <p:grpSp>
        <p:nvGrpSpPr>
          <p:cNvPr name="Group 20" id="20"/>
          <p:cNvGrpSpPr/>
          <p:nvPr/>
        </p:nvGrpSpPr>
        <p:grpSpPr>
          <a:xfrm rot="0">
            <a:off x="9311134" y="6703219"/>
            <a:ext cx="602159" cy="602159"/>
            <a:chOff x="0" y="0"/>
            <a:chExt cx="802878" cy="802878"/>
          </a:xfrm>
        </p:grpSpPr>
        <p:sp>
          <p:nvSpPr>
            <p:cNvPr name="Freeform 21" id="21"/>
            <p:cNvSpPr/>
            <p:nvPr/>
          </p:nvSpPr>
          <p:spPr>
            <a:xfrm flipH="false" flipV="false" rot="0">
              <a:off x="0" y="0"/>
              <a:ext cx="802767" cy="802767"/>
            </a:xfrm>
            <a:custGeom>
              <a:avLst/>
              <a:gdLst/>
              <a:ahLst/>
              <a:cxnLst/>
              <a:rect r="r" b="b" t="t" l="l"/>
              <a:pathLst>
                <a:path h="802767" w="802767">
                  <a:moveTo>
                    <a:pt x="0" y="53467"/>
                  </a:moveTo>
                  <a:cubicBezTo>
                    <a:pt x="0" y="24003"/>
                    <a:pt x="24003" y="0"/>
                    <a:pt x="53467" y="0"/>
                  </a:cubicBezTo>
                  <a:lnTo>
                    <a:pt x="749300" y="0"/>
                  </a:lnTo>
                  <a:cubicBezTo>
                    <a:pt x="778891" y="0"/>
                    <a:pt x="802767" y="24003"/>
                    <a:pt x="802767" y="53467"/>
                  </a:cubicBezTo>
                  <a:lnTo>
                    <a:pt x="802767" y="749300"/>
                  </a:lnTo>
                  <a:cubicBezTo>
                    <a:pt x="802767" y="778891"/>
                    <a:pt x="778764" y="802767"/>
                    <a:pt x="749300" y="802767"/>
                  </a:cubicBezTo>
                  <a:lnTo>
                    <a:pt x="53467" y="802767"/>
                  </a:lnTo>
                  <a:cubicBezTo>
                    <a:pt x="24003" y="802894"/>
                    <a:pt x="0" y="778891"/>
                    <a:pt x="0" y="749300"/>
                  </a:cubicBezTo>
                  <a:close/>
                </a:path>
              </a:pathLst>
            </a:custGeom>
            <a:solidFill>
              <a:srgbClr val="4D1529"/>
            </a:solidFill>
            <a:ln w="12700">
              <a:solidFill>
                <a:srgbClr val="000000"/>
              </a:solidFill>
            </a:ln>
          </p:spPr>
        </p:sp>
      </p:grpSp>
      <p:sp>
        <p:nvSpPr>
          <p:cNvPr name="TextBox 22" id="22"/>
          <p:cNvSpPr txBox="true"/>
          <p:nvPr/>
        </p:nvSpPr>
        <p:spPr>
          <a:xfrm rot="0">
            <a:off x="10180885" y="6747570"/>
            <a:ext cx="4947048" cy="493663"/>
          </a:xfrm>
          <a:prstGeom prst="rect">
            <a:avLst/>
          </a:prstGeom>
        </p:spPr>
        <p:txBody>
          <a:bodyPr anchor="t" rtlCol="false" tIns="0" lIns="0" bIns="0" rIns="0">
            <a:spAutoFit/>
          </a:bodyPr>
          <a:lstStyle/>
          <a:p>
            <a:pPr algn="l">
              <a:lnSpc>
                <a:spcPts val="3500"/>
              </a:lnSpc>
            </a:pPr>
            <a:r>
              <a:rPr lang="en-US" sz="2750" b="true">
                <a:solidFill>
                  <a:srgbClr val="F4CAB8"/>
                </a:solidFill>
                <a:latin typeface="Arimo Bold"/>
                <a:ea typeface="Arimo Bold"/>
                <a:cs typeface="Arimo Bold"/>
                <a:sym typeface="Arimo Bold"/>
              </a:rPr>
              <a:t>Broadened Fraud Prevention</a:t>
            </a:r>
          </a:p>
        </p:txBody>
      </p:sp>
      <p:sp>
        <p:nvSpPr>
          <p:cNvPr name="TextBox 23" id="23"/>
          <p:cNvSpPr txBox="true"/>
          <p:nvPr/>
        </p:nvSpPr>
        <p:spPr>
          <a:xfrm rot="0">
            <a:off x="10180885" y="7315944"/>
            <a:ext cx="7170539" cy="1369814"/>
          </a:xfrm>
          <a:prstGeom prst="rect">
            <a:avLst/>
          </a:prstGeom>
        </p:spPr>
        <p:txBody>
          <a:bodyPr anchor="t" rtlCol="false" tIns="0" lIns="0" bIns="0" rIns="0">
            <a:spAutoFit/>
          </a:bodyPr>
          <a:lstStyle/>
          <a:p>
            <a:pPr algn="l">
              <a:lnSpc>
                <a:spcPts val="3312"/>
              </a:lnSpc>
            </a:pPr>
            <a:r>
              <a:rPr lang="en-US" sz="2062" b="true">
                <a:solidFill>
                  <a:srgbClr val="F4CAB8"/>
                </a:solidFill>
                <a:latin typeface="Montserrat Medium"/>
                <a:ea typeface="Montserrat Medium"/>
                <a:cs typeface="Montserrat Medium"/>
                <a:sym typeface="Montserrat Medium"/>
              </a:rPr>
              <a:t>This technology holds immense potential for expansion into healthcare, voting, banking, and online commerce to prevent fraud.</a:t>
            </a:r>
          </a:p>
        </p:txBody>
      </p:sp>
    </p:spTree>
  </p:cSld>
  <p:clrMapOvr>
    <a:masterClrMapping/>
  </p:clrMapOvr>
  <p:transition spd="fast">
    <p:fade/>
  </p:transition>
</p:sld>
</file>

<file path=ppt/slides/slide2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DAG6y4X7Hrw</dc:identifier>
  <dcterms:modified xsi:type="dcterms:W3CDTF">2011-08-01T06:04:30Z</dcterms:modified>
  <cp:revision>1</cp:revision>
</cp:coreProperties>
</file>